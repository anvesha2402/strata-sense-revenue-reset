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FY26 AE touches</c:v>
                </c:pt>
              </c:strCache>
            </c:strRef>
          </c:tx>
          <c:spPr>
            <a:solidFill>
              <a:srgbClr val="A3A29C"/>
            </a:solidFill>
            <a:effectLst/>
          </c:spPr>
          <c:invertIfNegative val="0"/>
          <c:dLbls>
            <c:numFmt formatCode="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Strategic (400)</c:v>
                  </c:pt>
                  <c:pt idx="1">
                    <c:v>Scaled (1,100)</c:v>
                  </c:pt>
                  <c:pt idx="2">
                    <c:v>Low-touch (1,600)</c:v>
                  </c:pt>
                </c:lvl>
              </c:multiLvlStrCache>
            </c:multiLvlStrRef>
          </c:cat>
          <c:val>
            <c:numRef>
              <c:f>Sheet1!$B$2:$B$4</c:f>
              <c:numCache>
                <c:formatCode>General</c:formatCode>
                <c:ptCount val="3"/>
                <c:pt idx="0">
                  <c:v>0.085</c:v>
                </c:pt>
                <c:pt idx="1">
                  <c:v>0.29</c:v>
                </c:pt>
                <c:pt idx="2">
                  <c:v>0.625</c:v>
                </c:pt>
              </c:numCache>
            </c:numRef>
          </c:val>
        </c:ser>
        <c:ser>
          <c:idx val="1"/>
          <c:order val="1"/>
          <c:tx>
            <c:strRef>
              <c:f>Sheet1!$C$1</c:f>
              <c:strCache>
                <c:ptCount val="1"/>
                <c:pt idx="0">
                  <c:v>Share of FY24–26 won ARR</c:v>
                </c:pt>
              </c:strCache>
            </c:strRef>
          </c:tx>
          <c:spPr>
            <a:solidFill>
              <a:srgbClr val="2A78D6"/>
            </a:solidFill>
            <a:effectLst/>
          </c:spPr>
          <c:invertIfNegative val="0"/>
          <c:dLbls>
            <c:numFmt formatCode="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Strategic (400)</c:v>
                  </c:pt>
                  <c:pt idx="1">
                    <c:v>Scaled (1,100)</c:v>
                  </c:pt>
                  <c:pt idx="2">
                    <c:v>Low-touch (1,600)</c:v>
                  </c:pt>
                </c:lvl>
              </c:multiLvlStrCache>
            </c:multiLvlStrRef>
          </c:cat>
          <c:val>
            <c:numRef>
              <c:f>Sheet1!$C$2:$C$4</c:f>
              <c:numCache>
                <c:formatCode>General</c:formatCode>
                <c:ptCount val="3"/>
                <c:pt idx="0">
                  <c:v>0.511</c:v>
                </c:pt>
                <c:pt idx="1">
                  <c:v>0.365</c:v>
                </c:pt>
                <c:pt idx="2">
                  <c:v>0.124</c:v>
                </c:pt>
              </c:numCache>
            </c:numRef>
          </c:val>
        </c:ser>
        <c:dLbls>
          <c:numFmt formatCode="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2514E"/>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2514E"/>
                </a:solidFill>
                <a:latin typeface="Arial"/>
              </a:defRPr>
            </a:pPr>
            <a:r>
              <a:rPr sz="1100" b="0" i="0" u="none" strike="noStrike">
                <a:solidFill>
                  <a:srgbClr val="52514E"/>
                </a:solidFill>
                <a:latin typeface="Arial"/>
              </a:rPr>
              <a:t>Win rate on qualified deals</a:t>
            </a:r>
          </a:p>
        </c:rich>
      </c:tx>
      <c:layout/>
      <c:overlay val="0"/>
    </c:title>
    <c:autoTitleDeleted val="0"/>
    <c:plotArea>
      <c:layout/>
      <c:barChart>
        <c:barDir val="col"/>
        <c:grouping val="clustered"/>
        <c:varyColors val="0"/>
        <c:ser>
          <c:idx val="0"/>
          <c:order val="0"/>
          <c:tx>
            <c:strRef>
              <c:f>Sheet1!$B$1</c:f>
              <c:strCache>
                <c:ptCount val="1"/>
                <c:pt idx="0">
                  <c:v>FY24–26 (all)</c:v>
                </c:pt>
              </c:strCache>
            </c:strRef>
          </c:tx>
          <c:spPr>
            <a:solidFill>
              <a:srgbClr val="1F3A5F"/>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Strategic</c:v>
                  </c:pt>
                  <c:pt idx="1">
                    <c:v>Scaled</c:v>
                  </c:pt>
                  <c:pt idx="2">
                    <c:v>Low-touch</c:v>
                  </c:pt>
                </c:lvl>
              </c:multiLvlStrCache>
            </c:multiLvlStrRef>
          </c:cat>
          <c:val>
            <c:numRef>
              <c:f>Sheet1!$B$2:$B$4</c:f>
              <c:numCache>
                <c:formatCode>General</c:formatCode>
                <c:ptCount val="3"/>
                <c:pt idx="0">
                  <c:v>0.34</c:v>
                </c:pt>
                <c:pt idx="1">
                  <c:v>0.206</c:v>
                </c:pt>
                <c:pt idx="2">
                  <c:v>0.122</c:v>
                </c:pt>
              </c:numCache>
            </c:numRef>
          </c:val>
        </c:ser>
        <c:ser>
          <c:idx val="1"/>
          <c:order val="1"/>
          <c:tx>
            <c:strRef>
              <c:f>Sheet1!$C$1</c:f>
              <c:strCache>
                <c:ptCount val="1"/>
                <c:pt idx="0">
                  <c:v>FY26 only (out of time)</c:v>
                </c:pt>
              </c:strCache>
            </c:strRef>
          </c:tx>
          <c:spPr>
            <a:solidFill>
              <a:srgbClr val="2A78D6"/>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Strategic</c:v>
                  </c:pt>
                  <c:pt idx="1">
                    <c:v>Scaled</c:v>
                  </c:pt>
                  <c:pt idx="2">
                    <c:v>Low-touch</c:v>
                  </c:pt>
                </c:lvl>
              </c:multiLvlStrCache>
            </c:multiLvlStrRef>
          </c:cat>
          <c:val>
            <c:numRef>
              <c:f>Sheet1!$C$2:$C$4</c:f>
              <c:numCache>
                <c:formatCode>General</c:formatCode>
                <c:ptCount val="3"/>
                <c:pt idx="0">
                  <c:v>0.259</c:v>
                </c:pt>
                <c:pt idx="1">
                  <c:v>0.196</c:v>
                </c:pt>
                <c:pt idx="2">
                  <c:v>0.113</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Baseline (64 AEs)</c:v>
                  </c:pt>
                  <c:pt idx="1">
                    <c:v>+ Re-tiering</c:v>
                  </c:pt>
                  <c:pt idx="2">
                    <c:v>+ Multi-threading</c:v>
                  </c:pt>
                  <c:pt idx="3">
                    <c:v>+ SEA partners</c:v>
                  </c:pt>
                  <c:pt idx="4">
                    <c:v>FY27 capacity</c:v>
                  </c:pt>
                  <c:pt idx="5">
                    <c:v>Need (15% growth)</c:v>
                  </c:pt>
                </c:lvl>
              </c:multiLvlStrCache>
            </c:multiLvlStrRef>
          </c:cat>
          <c:val>
            <c:numRef>
              <c:f>Sheet1!$B$2:$B$7</c:f>
              <c:numCache>
                <c:formatCode>General</c:formatCode>
                <c:ptCount val="6"/>
                <c:pt idx="0">
                  <c:v>0</c:v>
                </c:pt>
                <c:pt idx="1">
                  <c:v>40.9</c:v>
                </c:pt>
                <c:pt idx="2">
                  <c:v>43.6</c:v>
                </c:pt>
                <c:pt idx="3">
                  <c:v>45.4</c:v>
                </c:pt>
                <c:pt idx="4">
                  <c:v>0</c:v>
                </c:pt>
                <c:pt idx="5">
                  <c:v>0</c:v>
                </c:pt>
              </c:numCache>
            </c:numRef>
          </c:val>
        </c:ser>
        <c:ser>
          <c:idx val="1"/>
          <c:order val="1"/>
          <c:tx>
            <c:strRef>
              <c:f>Sheet1!$C$1</c:f>
              <c:strCache>
                <c:ptCount val="1"/>
                <c:pt idx="0">
                  <c:v>value</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Baseline (64 AEs)</c:v>
                  </c:pt>
                  <c:pt idx="1">
                    <c:v>+ Re-tiering</c:v>
                  </c:pt>
                  <c:pt idx="2">
                    <c:v>+ Multi-threading</c:v>
                  </c:pt>
                  <c:pt idx="3">
                    <c:v>+ SEA partners</c:v>
                  </c:pt>
                  <c:pt idx="4">
                    <c:v>FY27 capacity</c:v>
                  </c:pt>
                  <c:pt idx="5">
                    <c:v>Need (15% growth)</c:v>
                  </c:pt>
                </c:lvl>
              </c:multiLvlStrCache>
            </c:multiLvlStrRef>
          </c:cat>
          <c:val>
            <c:numRef>
              <c:f>Sheet1!$C$2:$C$7</c:f>
              <c:numCache>
                <c:formatCode>General</c:formatCode>
                <c:ptCount val="6"/>
                <c:pt idx="0">
                  <c:v>40.9</c:v>
                </c:pt>
                <c:pt idx="1">
                  <c:v>2.7</c:v>
                </c:pt>
                <c:pt idx="2">
                  <c:v>1.8</c:v>
                </c:pt>
                <c:pt idx="3">
                  <c:v>4</c:v>
                </c:pt>
                <c:pt idx="4">
                  <c:v>49.4</c:v>
                </c:pt>
                <c:pt idx="5">
                  <c:v>46.5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2514E"/>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FY26 actual</c:v>
                </c:pt>
              </c:strCache>
            </c:strRef>
          </c:tx>
          <c:spPr>
            <a:solidFill>
              <a:srgbClr val="A3A29C"/>
            </a:solidFill>
            <a:effectLst/>
          </c:spPr>
          <c:invertIfNegative val="0"/>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Trade events</c:v>
                  </c:pt>
                  <c:pt idx="1">
                    <c:v>ABM (strategic)</c:v>
                  </c:pt>
                  <c:pt idx="2">
                    <c:v>Digital &amp; content</c:v>
                  </c:pt>
                  <c:pt idx="3">
                    <c:v>Outbound data &amp; tools</c:v>
                  </c:pt>
                  <c:pt idx="4">
                    <c:v>Customer &amp; referral</c:v>
                  </c:pt>
                  <c:pt idx="5">
                    <c:v>SEA partner MDF</c:v>
                  </c:pt>
                  <c:pt idx="6">
                    <c:v>Analyst &amp; PR</c:v>
                  </c:pt>
                  <c:pt idx="7">
                    <c:v>Other</c:v>
                  </c:pt>
                </c:lvl>
              </c:multiLvlStrCache>
            </c:multiLvlStrRef>
          </c:cat>
          <c:val>
            <c:numRef>
              <c:f>Sheet1!$B$2:$B$9</c:f>
              <c:numCache>
                <c:formatCode>General</c:formatCode>
                <c:ptCount val="8"/>
                <c:pt idx="0">
                  <c:v>9.6</c:v>
                </c:pt>
                <c:pt idx="1">
                  <c:v>0</c:v>
                </c:pt>
                <c:pt idx="2">
                  <c:v>5.3</c:v>
                </c:pt>
                <c:pt idx="3">
                  <c:v>3.1</c:v>
                </c:pt>
                <c:pt idx="4">
                  <c:v>1.2</c:v>
                </c:pt>
                <c:pt idx="5">
                  <c:v>0</c:v>
                </c:pt>
                <c:pt idx="6">
                  <c:v>1.9</c:v>
                </c:pt>
                <c:pt idx="7">
                  <c:v>2.9</c:v>
                </c:pt>
              </c:numCache>
            </c:numRef>
          </c:val>
        </c:ser>
        <c:ser>
          <c:idx val="1"/>
          <c:order val="1"/>
          <c:tx>
            <c:strRef>
              <c:f>Sheet1!$C$1</c:f>
              <c:strCache>
                <c:ptCount val="1"/>
                <c:pt idx="0">
                  <c:v>FY27 proposed</c:v>
                </c:pt>
              </c:strCache>
            </c:strRef>
          </c:tx>
          <c:spPr>
            <a:solidFill>
              <a:srgbClr val="2A78D6"/>
            </a:solidFill>
            <a:effectLst/>
          </c:spPr>
          <c:invertIfNegative val="0"/>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Trade events</c:v>
                  </c:pt>
                  <c:pt idx="1">
                    <c:v>ABM (strategic)</c:v>
                  </c:pt>
                  <c:pt idx="2">
                    <c:v>Digital &amp; content</c:v>
                  </c:pt>
                  <c:pt idx="3">
                    <c:v>Outbound data &amp; tools</c:v>
                  </c:pt>
                  <c:pt idx="4">
                    <c:v>Customer &amp; referral</c:v>
                  </c:pt>
                  <c:pt idx="5">
                    <c:v>SEA partner MDF</c:v>
                  </c:pt>
                  <c:pt idx="6">
                    <c:v>Analyst &amp; PR</c:v>
                  </c:pt>
                  <c:pt idx="7">
                    <c:v>Other</c:v>
                  </c:pt>
                </c:lvl>
              </c:multiLvlStrCache>
            </c:multiLvlStrRef>
          </c:cat>
          <c:val>
            <c:numRef>
              <c:f>Sheet1!$C$2:$C$9</c:f>
              <c:numCache>
                <c:formatCode>General</c:formatCode>
                <c:ptCount val="8"/>
                <c:pt idx="0">
                  <c:v>4.5</c:v>
                </c:pt>
                <c:pt idx="1">
                  <c:v>4</c:v>
                </c:pt>
                <c:pt idx="2">
                  <c:v>4.5</c:v>
                </c:pt>
                <c:pt idx="3">
                  <c:v>3.1</c:v>
                </c:pt>
                <c:pt idx="4">
                  <c:v>2.5</c:v>
                </c:pt>
                <c:pt idx="5">
                  <c:v>1.5</c:v>
                </c:pt>
                <c:pt idx="6">
                  <c:v>1.2</c:v>
                </c:pt>
                <c:pt idx="7">
                  <c:v>2.7</c:v>
                </c:pt>
              </c:numCache>
            </c:numRef>
          </c:val>
        </c:ser>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2514E"/>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found that effort goes to the wrong accounts: low-fit accounts get most AE time and win about 10%. D2 fixes where we play. Headline: tier the 3,100 accounts, put named AEs on 400 strategic accounts, run 1,100 as scaled territory, and move 1,600 to SDR, inside sales, marketing and SEA partners. With the same 64 AEs this covers the FY27 new-logo need with a thin margin, and only if multi-threading improves.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tiers applied backwards to past deals. The strategic tier held 21% of past qualified deals but 51% of won ARR. Today it gets 8.5% of AE touches. The low-touch tier gets 62.5% of touches and produced 12% of won ARR. This is the H1 finding in one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ingredients the brief asks for: fit, likely need, whitespace and Helix exposure. Fit and whitespace are in the score. Helix exposure is a cap because the evidence says those deals rarely win today. Need is an overlay only: the condition-monitoring field is missing for all customers, so including it would leak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asked for a test showing the score predicts past wins. FY26 is out of time: the model never saw it. Win rate falls steadily from strategic to low-touch, and deal size too, so value per qualified opportunity differs eight-fold.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Thresholds: top 400 by expected value are strategic, next 1,100 scaled, remaining 1,600 low-touch. Helix-incumbent accounts are capped at 40 in the strategic tier because the FY26 win rate there was 7%. 99 accounts still sit with departed AEs and are reassigned in the new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to prove 64 to 76 AEs can cover the plan. At 14 strategic accounts and 50 scaled accounts per AE we need 51 AEs with named accounts, plus a 4-person inside pool and 9 ramping reps: exactly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equals FY26 productivity applied to the FY27 tenure mix: 40.9 crore, about the same as FY26 actual of 41. Re-tiering adds 2.7 because AEs stop spending time on low-touch accounts. Multi-threading adds 1.8 using half of the observed win-rate gap. SEA partners add 4.0, up from 2.6. If NRR stays at 99%, the need rises by about 3.4 crore and the margin disappears: retention is part of the new-logo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needs fewer qualified opportunities than FY26 (307 vs 432) because the mix shifts to higher-value accounts: about 100 strategic, 130 scaled and under 60 low-touch, versus 203 low-touch in FY26. That is the stop-doing in numbers. Events cost 37 lakh per qualified opportunity and event deals won 9% in FY26, so event volume is cut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CMO scepticism about attribution: this plan does not need perfect attribution. It moves money toward sources where FY26 cost per qualified opportunity and win rate are both better, and it measures ABM by strategic-tier pipeline created, not by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a target number of contacts per strategic opportunity and how it will be measured. Four contacts, including the economic buyer, finance or procurement, and IT security, because FY26 committees include those roles on 71% of deals.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committee maps have blank names: the CRM holds almost no contacts. That is the single-threading problem made visible, and filling those names is the first 30-day task in every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the panel: we stop AE prospecting in 1,600 accounts, halve trade-event spend, stop flat renewals, stop head-on Helix pitches, move SEA to partners and do not hire ahead of ramp. Each stop is backed by a number from D1 or D2.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100" b="1" spc="200" kern="0" dirty="0">
                <a:solidFill>
                  <a:srgbClr val="F4B393"/>
                </a:solidFill>
                <a:latin typeface="Calibri" pitchFamily="34" charset="0"/>
                <a:ea typeface="Calibri" pitchFamily="34" charset="-122"/>
                <a:cs typeface="Calibri" pitchFamily="34" charset="-120"/>
              </a:rPr>
              <a:t>D2 · ENTERPRISE ACCOUNT PLANNING AND LEAD GENERATION</a:t>
            </a:r>
            <a:endParaRPr lang="en-US" sz="1100" dirty="0"/>
          </a:p>
        </p:txBody>
      </p:sp>
      <p:sp>
        <p:nvSpPr>
          <p:cNvPr id="3" name="Text 1"/>
          <p:cNvSpPr txBox="1"/>
          <p:nvPr/>
        </p:nvSpPr>
        <p:spPr>
          <a:xfrm>
            <a:off x="548640" y="1005840"/>
            <a:ext cx="7863840" cy="13716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Put 64 AEs on the 400 accounts that pay back, and stop working the 1,600 that don’t</a:t>
            </a:r>
            <a:endParaRPr lang="en-US" sz="3000" dirty="0"/>
          </a:p>
        </p:txBody>
      </p:sp>
      <p:sp>
        <p:nvSpPr>
          <p:cNvPr id="4" name="Text 2"/>
          <p:cNvSpPr txBox="1"/>
          <p:nvPr/>
        </p:nvSpPr>
        <p:spPr>
          <a:xfrm>
            <a:off x="548640" y="2926080"/>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400 / 1,100 / 1,600</a:t>
            </a:r>
            <a:endParaRPr lang="en-US" sz="2200" dirty="0"/>
          </a:p>
        </p:txBody>
      </p:sp>
      <p:sp>
        <p:nvSpPr>
          <p:cNvPr id="5" name="Text 3"/>
          <p:cNvSpPr txBox="1"/>
          <p:nvPr/>
        </p:nvSpPr>
        <p:spPr>
          <a:xfrm>
            <a:off x="548640" y="3383280"/>
            <a:ext cx="2468880" cy="45720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strategic / scaled / low-touch accounts</a:t>
            </a:r>
            <a:endParaRPr lang="en-US" sz="1100" dirty="0"/>
          </a:p>
        </p:txBody>
      </p:sp>
      <p:sp>
        <p:nvSpPr>
          <p:cNvPr id="6" name="Text 4"/>
          <p:cNvSpPr txBox="1"/>
          <p:nvPr/>
        </p:nvSpPr>
        <p:spPr>
          <a:xfrm>
            <a:off x="3291840" y="2926080"/>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34% vs 12%</a:t>
            </a:r>
            <a:endParaRPr lang="en-US" sz="2200" dirty="0"/>
          </a:p>
        </p:txBody>
      </p:sp>
      <p:sp>
        <p:nvSpPr>
          <p:cNvPr id="7" name="Text 5"/>
          <p:cNvSpPr txBox="1"/>
          <p:nvPr/>
        </p:nvSpPr>
        <p:spPr>
          <a:xfrm>
            <a:off x="3291840" y="3383280"/>
            <a:ext cx="2468880" cy="45720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past win rate, strategic vs low-touch tier</a:t>
            </a:r>
            <a:endParaRPr lang="en-US" sz="1100" dirty="0"/>
          </a:p>
        </p:txBody>
      </p:sp>
      <p:sp>
        <p:nvSpPr>
          <p:cNvPr id="8" name="Text 6"/>
          <p:cNvSpPr txBox="1"/>
          <p:nvPr/>
        </p:nvSpPr>
        <p:spPr>
          <a:xfrm>
            <a:off x="6035040" y="2926080"/>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₹49.4 cr</a:t>
            </a:r>
            <a:endParaRPr lang="en-US" sz="2200" dirty="0"/>
          </a:p>
        </p:txBody>
      </p:sp>
      <p:sp>
        <p:nvSpPr>
          <p:cNvPr id="9" name="Text 7"/>
          <p:cNvSpPr txBox="1"/>
          <p:nvPr/>
        </p:nvSpPr>
        <p:spPr>
          <a:xfrm>
            <a:off x="6035040" y="3383280"/>
            <a:ext cx="2468880" cy="45720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FY27 new-logo capacity vs ₹46.5 cr needed</a:t>
            </a:r>
            <a:endParaRPr lang="en-US" sz="1100" dirty="0"/>
          </a:p>
        </p:txBody>
      </p:sp>
      <p:sp>
        <p:nvSpPr>
          <p:cNvPr id="10" name="Text 8"/>
          <p:cNvSpPr txBox="1"/>
          <p:nvPr/>
        </p:nvSpPr>
        <p:spPr>
          <a:xfrm>
            <a:off x="548640" y="4480560"/>
            <a:ext cx="8046720"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Revenue Strategy Lead · Office of the CRO · Week 3, FY27 · Strata Sense Technologies is fictional; data synthetic</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THE PROBLEM (FROM D1)</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AE time goes where the revenue isn’t: low-touch accounts take 63% of touches but yield 12% of won ARR</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graphicFrame>
        <p:nvGraphicFramePr>
          <p:cNvPr id="5" name="Chart 0" descr=""/>
          <p:cNvGraphicFramePr/>
          <p:nvPr/>
        </p:nvGraphicFramePr>
        <p:xfrm>
          <a:off x="457200" y="123444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943600" y="1371600"/>
            <a:ext cx="2743200" cy="502920"/>
          </a:xfrm>
          <a:prstGeom prst="rect">
            <a:avLst/>
          </a:prstGeom>
          <a:noFill/>
          <a:ln/>
        </p:spPr>
        <p:txBody>
          <a:bodyPr wrap="square" lIns="0" tIns="0" rIns="0" bIns="0" rtlCol="0" anchor="ctr"/>
          <a:lstStyle/>
          <a:p>
            <a:pPr indent="0" marL="0">
              <a:buNone/>
            </a:pPr>
            <a:r>
              <a:rPr lang="en-US" sz="2800" b="1" dirty="0">
                <a:solidFill>
                  <a:srgbClr val="1F3A5F"/>
                </a:solidFill>
                <a:latin typeface="Cambria" pitchFamily="34" charset="0"/>
                <a:ea typeface="Cambria" pitchFamily="34" charset="-122"/>
                <a:cs typeface="Cambria" pitchFamily="34" charset="-120"/>
              </a:rPr>
              <a:t>8.5%</a:t>
            </a:r>
            <a:endParaRPr lang="en-US" sz="2800" dirty="0"/>
          </a:p>
        </p:txBody>
      </p:sp>
      <p:sp>
        <p:nvSpPr>
          <p:cNvPr id="7" name="Text 4"/>
          <p:cNvSpPr txBox="1"/>
          <p:nvPr/>
        </p:nvSpPr>
        <p:spPr>
          <a:xfrm>
            <a:off x="5943600" y="1874520"/>
            <a:ext cx="2743200" cy="45720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of AE touches went to the strategic tier, which produced half of past won ARR</a:t>
            </a:r>
            <a:endParaRPr lang="en-US" sz="1100" dirty="0"/>
          </a:p>
        </p:txBody>
      </p:sp>
      <p:sp>
        <p:nvSpPr>
          <p:cNvPr id="8" name="Text 5"/>
          <p:cNvSpPr txBox="1"/>
          <p:nvPr/>
        </p:nvSpPr>
        <p:spPr>
          <a:xfrm>
            <a:off x="5943600" y="2468880"/>
            <a:ext cx="2743200" cy="502920"/>
          </a:xfrm>
          <a:prstGeom prst="rect">
            <a:avLst/>
          </a:prstGeom>
          <a:noFill/>
          <a:ln/>
        </p:spPr>
        <p:txBody>
          <a:bodyPr wrap="square" lIns="0" tIns="0" rIns="0" bIns="0" rtlCol="0" anchor="ctr"/>
          <a:lstStyle/>
          <a:p>
            <a:pPr indent="0" marL="0">
              <a:buNone/>
            </a:pPr>
            <a:r>
              <a:rPr lang="en-US" sz="2800" b="1" dirty="0">
                <a:solidFill>
                  <a:srgbClr val="EB6834"/>
                </a:solidFill>
                <a:latin typeface="Cambria" pitchFamily="34" charset="0"/>
                <a:ea typeface="Cambria" pitchFamily="34" charset="-122"/>
                <a:cs typeface="Cambria" pitchFamily="34" charset="-120"/>
              </a:rPr>
              <a:t>61%</a:t>
            </a:r>
            <a:endParaRPr lang="en-US" sz="2800" dirty="0"/>
          </a:p>
        </p:txBody>
      </p:sp>
      <p:sp>
        <p:nvSpPr>
          <p:cNvPr id="9" name="Text 6"/>
          <p:cNvSpPr txBox="1"/>
          <p:nvPr/>
        </p:nvSpPr>
        <p:spPr>
          <a:xfrm>
            <a:off x="5943600" y="2971800"/>
            <a:ext cx="2743200" cy="45720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of touches went to low-fit accounts, which win about 10% (D1)</a:t>
            </a:r>
            <a:endParaRPr lang="en-US" sz="1100" dirty="0"/>
          </a:p>
        </p:txBody>
      </p:sp>
      <p:sp>
        <p:nvSpPr>
          <p:cNvPr id="10" name="Text 7"/>
          <p:cNvSpPr txBox="1"/>
          <p:nvPr/>
        </p:nvSpPr>
        <p:spPr>
          <a:xfrm>
            <a:off x="5943600" y="3566160"/>
            <a:ext cx="2743200" cy="502920"/>
          </a:xfrm>
          <a:prstGeom prst="rect">
            <a:avLst/>
          </a:prstGeom>
          <a:noFill/>
          <a:ln/>
        </p:spPr>
        <p:txBody>
          <a:bodyPr wrap="square" lIns="0" tIns="0" rIns="0" bIns="0" rtlCol="0" anchor="ctr"/>
          <a:lstStyle/>
          <a:p>
            <a:pPr indent="0" marL="0">
              <a:buNone/>
            </a:pPr>
            <a:r>
              <a:rPr lang="en-US" sz="2800" b="1" dirty="0">
                <a:solidFill>
                  <a:srgbClr val="1F3A5F"/>
                </a:solidFill>
                <a:latin typeface="Cambria" pitchFamily="34" charset="0"/>
                <a:ea typeface="Cambria" pitchFamily="34" charset="-122"/>
                <a:cs typeface="Cambria" pitchFamily="34" charset="-120"/>
              </a:rPr>
              <a:t>23.7%</a:t>
            </a:r>
            <a:endParaRPr lang="en-US" sz="2800" dirty="0"/>
          </a:p>
        </p:txBody>
      </p:sp>
      <p:sp>
        <p:nvSpPr>
          <p:cNvPr id="11" name="Text 8"/>
          <p:cNvSpPr txBox="1"/>
          <p:nvPr/>
        </p:nvSpPr>
        <p:spPr>
          <a:xfrm>
            <a:off x="5943600" y="4069080"/>
            <a:ext cx="2743200" cy="45720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of target accounts have more than one contact engaged</a:t>
            </a:r>
            <a:endParaRPr lang="en-US" sz="1100" dirty="0"/>
          </a:p>
        </p:txBody>
      </p:sp>
      <p:sp>
        <p:nvSpPr>
          <p:cNvPr id="12" name="Text 9"/>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DR2 target_accounts (touches FY26); DR1 clean qualified deals FY24–26 scored with the D2 tiers.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IDEAL CUSTOMER PROFILE AND SCORING MODEL</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One score: probability of winning × likely first-year value, built only from firmographics</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sp>
        <p:nvSpPr>
          <p:cNvPr id="5" name="Shape 3"/>
          <p:cNvSpPr/>
          <p:nvPr/>
        </p:nvSpPr>
        <p:spPr>
          <a:xfrm>
            <a:off x="457200" y="1307592"/>
            <a:ext cx="384048" cy="384048"/>
          </a:xfrm>
          <a:prstGeom prst="ellipse">
            <a:avLst/>
          </a:prstGeom>
          <a:solidFill>
            <a:srgbClr val="2A78D6"/>
          </a:solidFill>
          <a:ln w="12700">
            <a:solidFill>
              <a:srgbClr val="2A78D6"/>
            </a:solidFill>
            <a:prstDash val="solid"/>
          </a:ln>
        </p:spPr>
      </p:sp>
      <p:sp>
        <p:nvSpPr>
          <p:cNvPr id="6" name="Text 4"/>
          <p:cNvSpPr txBox="1"/>
          <p:nvPr/>
        </p:nvSpPr>
        <p:spPr>
          <a:xfrm>
            <a:off x="457200" y="13075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005840" y="1234440"/>
            <a:ext cx="420624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Fit: P(win | qualified)</a:t>
            </a:r>
            <a:endParaRPr lang="en-US" sz="1300" dirty="0"/>
          </a:p>
        </p:txBody>
      </p:sp>
      <p:sp>
        <p:nvSpPr>
          <p:cNvPr id="8" name="Text 6"/>
          <p:cNvSpPr txBox="1"/>
          <p:nvPr/>
        </p:nvSpPr>
        <p:spPr>
          <a:xfrm>
            <a:off x="1005840" y="1508760"/>
            <a:ext cx="4206240" cy="45720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Logit on segment, revenue band, installed assets, Helix incumbent, region. Trained FY24–25; out-of-time AUC 0.65 on FY26.</a:t>
            </a:r>
            <a:endParaRPr lang="en-US" sz="1050" dirty="0"/>
          </a:p>
        </p:txBody>
      </p:sp>
      <p:sp>
        <p:nvSpPr>
          <p:cNvPr id="9" name="Shape 7"/>
          <p:cNvSpPr/>
          <p:nvPr/>
        </p:nvSpPr>
        <p:spPr>
          <a:xfrm>
            <a:off x="457200" y="2057400"/>
            <a:ext cx="384048" cy="384048"/>
          </a:xfrm>
          <a:prstGeom prst="ellipse">
            <a:avLst/>
          </a:prstGeom>
          <a:solidFill>
            <a:srgbClr val="1BAF7A"/>
          </a:solidFill>
          <a:ln w="12700">
            <a:solidFill>
              <a:srgbClr val="1BAF7A"/>
            </a:solidFill>
            <a:prstDash val="solid"/>
          </a:ln>
        </p:spPr>
      </p:sp>
      <p:sp>
        <p:nvSpPr>
          <p:cNvPr id="10" name="Text 8"/>
          <p:cNvSpPr txBox="1"/>
          <p:nvPr/>
        </p:nvSpPr>
        <p:spPr>
          <a:xfrm>
            <a:off x="457200"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05840" y="1984248"/>
            <a:ext cx="420624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Whitespace: expected 1st-yr ARR</a:t>
            </a:r>
            <a:endParaRPr lang="en-US" sz="1300" dirty="0"/>
          </a:p>
        </p:txBody>
      </p:sp>
      <p:sp>
        <p:nvSpPr>
          <p:cNvPr id="12" name="Text 10"/>
          <p:cNvSpPr txBox="1"/>
          <p:nvPr/>
        </p:nvSpPr>
        <p:spPr>
          <a:xfrm>
            <a:off x="1005840" y="2258568"/>
            <a:ext cx="4206240" cy="45720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Log-linear model on won deals: installed assets drive deal size (R² 0.51). Strategic median ≈ ₹1 cr.</a:t>
            </a:r>
            <a:endParaRPr lang="en-US" sz="1050" dirty="0"/>
          </a:p>
        </p:txBody>
      </p:sp>
      <p:sp>
        <p:nvSpPr>
          <p:cNvPr id="13" name="Shape 11"/>
          <p:cNvSpPr/>
          <p:nvPr/>
        </p:nvSpPr>
        <p:spPr>
          <a:xfrm>
            <a:off x="457200" y="2807208"/>
            <a:ext cx="384048" cy="384048"/>
          </a:xfrm>
          <a:prstGeom prst="ellipse">
            <a:avLst/>
          </a:prstGeom>
          <a:solidFill>
            <a:srgbClr val="EB6834"/>
          </a:solidFill>
          <a:ln w="12700">
            <a:solidFill>
              <a:srgbClr val="EB6834"/>
            </a:solidFill>
            <a:prstDash val="solid"/>
          </a:ln>
        </p:spPr>
      </p:sp>
      <p:sp>
        <p:nvSpPr>
          <p:cNvPr id="14" name="Text 12"/>
          <p:cNvSpPr txBox="1"/>
          <p:nvPr/>
        </p:nvSpPr>
        <p:spPr>
          <a:xfrm>
            <a:off x="457200" y="28072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05840" y="2734056"/>
            <a:ext cx="420624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Helix exposure</a:t>
            </a:r>
            <a:endParaRPr lang="en-US" sz="1300" dirty="0"/>
          </a:p>
        </p:txBody>
      </p:sp>
      <p:sp>
        <p:nvSpPr>
          <p:cNvPr id="16" name="Text 14"/>
          <p:cNvSpPr txBox="1"/>
          <p:nvPr/>
        </p:nvSpPr>
        <p:spPr>
          <a:xfrm>
            <a:off x="1005840" y="3008376"/>
            <a:ext cx="4206240" cy="45720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Helix-incumbent win rate fell 20% → 7%. Cap at 40 named accounts; 85 held until a pricing decision.</a:t>
            </a:r>
            <a:endParaRPr lang="en-US" sz="1050" dirty="0"/>
          </a:p>
        </p:txBody>
      </p:sp>
      <p:sp>
        <p:nvSpPr>
          <p:cNvPr id="17" name="Shape 15"/>
          <p:cNvSpPr/>
          <p:nvPr/>
        </p:nvSpPr>
        <p:spPr>
          <a:xfrm>
            <a:off x="457200" y="3557016"/>
            <a:ext cx="384048" cy="384048"/>
          </a:xfrm>
          <a:prstGeom prst="ellipse">
            <a:avLst/>
          </a:prstGeom>
          <a:solidFill>
            <a:srgbClr val="A3A29C"/>
          </a:solidFill>
          <a:ln w="12700">
            <a:solidFill>
              <a:srgbClr val="A3A29C"/>
            </a:solidFill>
            <a:prstDash val="solid"/>
          </a:ln>
        </p:spPr>
      </p:sp>
      <p:sp>
        <p:nvSpPr>
          <p:cNvPr id="18" name="Text 16"/>
          <p:cNvSpPr txBox="1"/>
          <p:nvPr/>
        </p:nvSpPr>
        <p:spPr>
          <a:xfrm>
            <a:off x="457200" y="3557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7"/>
          <p:cNvSpPr txBox="1"/>
          <p:nvPr/>
        </p:nvSpPr>
        <p:spPr>
          <a:xfrm>
            <a:off x="1005840" y="3483864"/>
            <a:ext cx="420624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Likely need (overlay)</a:t>
            </a:r>
            <a:endParaRPr lang="en-US" sz="1300" dirty="0"/>
          </a:p>
        </p:txBody>
      </p:sp>
      <p:sp>
        <p:nvSpPr>
          <p:cNvPr id="20" name="Text 18"/>
          <p:cNvSpPr txBox="1"/>
          <p:nvPr/>
        </p:nvSpPr>
        <p:spPr>
          <a:xfrm>
            <a:off x="1005840" y="3758184"/>
            <a:ext cx="4206240" cy="45720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Existing monitoring: none/route-based = high need; wireless third-party = TrueSense risk. Not in the score (see below).</a:t>
            </a:r>
            <a:endParaRPr lang="en-US" sz="1050" dirty="0"/>
          </a:p>
        </p:txBody>
      </p:sp>
      <p:sp>
        <p:nvSpPr>
          <p:cNvPr id="21" name="Shape 19"/>
          <p:cNvSpPr/>
          <p:nvPr/>
        </p:nvSpPr>
        <p:spPr>
          <a:xfrm>
            <a:off x="5486400" y="1234440"/>
            <a:ext cx="3200400" cy="2926080"/>
          </a:xfrm>
          <a:prstGeom prst="roundRect">
            <a:avLst>
              <a:gd name="adj" fmla="val 2500"/>
            </a:avLst>
          </a:prstGeom>
          <a:solidFill>
            <a:srgbClr val="F7F6F2"/>
          </a:solidFill>
          <a:ln w="12700">
            <a:solidFill>
              <a:srgbClr val="D9D8D2"/>
            </a:solidFill>
            <a:prstDash val="solid"/>
          </a:ln>
        </p:spPr>
      </p:sp>
      <p:sp>
        <p:nvSpPr>
          <p:cNvPr id="22" name="Text 20"/>
          <p:cNvSpPr txBox="1"/>
          <p:nvPr/>
        </p:nvSpPr>
        <p:spPr>
          <a:xfrm>
            <a:off x="5669280" y="1371600"/>
            <a:ext cx="2834640" cy="2651760"/>
          </a:xfrm>
          <a:prstGeom prst="rect">
            <a:avLst/>
          </a:prstGeom>
          <a:noFill/>
          <a:ln/>
        </p:spPr>
        <p:txBody>
          <a:bodyPr wrap="square" lIns="0" tIns="0" rIns="0" bIns="0" rtlCol="0" anchor="t"/>
          <a:lstStyle/>
          <a:p>
            <a:pPr indent="0" marL="0">
              <a:buNone/>
            </a:pPr>
            <a:r>
              <a:rPr lang="en-US" sz="1300" b="1" dirty="0">
                <a:solidFill>
                  <a:srgbClr val="1F3A5F"/>
                </a:solidFill>
                <a:latin typeface="Calibri" pitchFamily="34" charset="0"/>
                <a:ea typeface="Calibri" pitchFamily="34" charset="-122"/>
                <a:cs typeface="Calibri" pitchFamily="34" charset="-120"/>
              </a:rPr>
              <a:t>Score = P(win) × expected ARR</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050" b="1" dirty="0">
                <a:solidFill>
                  <a:srgbClr val="1A1A1A"/>
                </a:solidFill>
                <a:latin typeface="Calibri" pitchFamily="34" charset="0"/>
                <a:ea typeface="Calibri" pitchFamily="34" charset="-122"/>
                <a:cs typeface="Calibri" pitchFamily="34" charset="-120"/>
              </a:rPr>
              <a:t>Why need is not in the score: </a:t>
            </a:r>
            <a:pPr indent="0" marL="0">
              <a:buNone/>
            </a:pPr>
            <a:r>
              <a:rPr lang="en-US" sz="1050" dirty="0">
                <a:solidFill>
                  <a:srgbClr val="52514E"/>
                </a:solidFill>
                <a:latin typeface="Calibri" pitchFamily="34" charset="0"/>
                <a:ea typeface="Calibri" pitchFamily="34" charset="-122"/>
                <a:cs typeface="Calibri" pitchFamily="34" charset="-120"/>
              </a:rPr>
              <a:t>the monitoring field is blank for every account that became a customer. Using it would make the back-test look perfect for the wrong reason (data leakage). It guides the play, not the rank.</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050" b="1" dirty="0">
                <a:solidFill>
                  <a:srgbClr val="1A1A1A"/>
                </a:solidFill>
                <a:latin typeface="Calibri" pitchFamily="34" charset="0"/>
                <a:ea typeface="Calibri" pitchFamily="34" charset="-122"/>
                <a:cs typeface="Calibri" pitchFamily="34" charset="-120"/>
              </a:rPr>
              <a:t>What the score cannot see: </a:t>
            </a:r>
            <a:pPr indent="0" marL="0">
              <a:buNone/>
            </a:pPr>
            <a:r>
              <a:rPr lang="en-US" sz="1050" dirty="0">
                <a:solidFill>
                  <a:srgbClr val="52514E"/>
                </a:solidFill>
                <a:latin typeface="Calibri" pitchFamily="34" charset="0"/>
                <a:ea typeface="Calibri" pitchFamily="34" charset="-122"/>
                <a:cs typeface="Calibri" pitchFamily="34" charset="-120"/>
              </a:rPr>
              <a:t>buying intent and relationships. Tiers are reviewed each quarter with AE input.</a:t>
            </a:r>
            <a:endParaRPr lang="en-US" sz="1300" dirty="0"/>
          </a:p>
        </p:txBody>
      </p:sp>
      <p:sp>
        <p:nvSpPr>
          <p:cNvPr id="23" name="Text 21"/>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DR1 clean deals, DR2 firmographics. Models in D2 workbook (README) and d2_score.py.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BACK-TEST</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The score predicts past wins: strategic-tier deals won 3x as often and were 3x larger than low-touch deals</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graphicFrame>
        <p:nvGraphicFramePr>
          <p:cNvPr id="5" name="Chart 0" descr=""/>
          <p:cNvGraphicFramePr/>
          <p:nvPr/>
        </p:nvGraphicFramePr>
        <p:xfrm>
          <a:off x="457200" y="1234440"/>
          <a:ext cx="49377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0" y="1371600"/>
          <a:ext cx="3017520" cy="914400"/>
        </p:xfrm>
        <a:graphic>
          <a:graphicData uri="http://schemas.openxmlformats.org/drawingml/2006/table">
            <a:tbl>
              <a:tblPr/>
              <a:tblGrid>
                <a:gridCol w="868680"/>
                <a:gridCol w="548640"/>
                <a:gridCol w="777240"/>
                <a:gridCol w="822960"/>
              </a:tblGrid>
              <a:tr h="23774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Tier</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Deals</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Avg won deal</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ARR per qual. opp</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Strategic</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256</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₹71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₹24.3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Scaled</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480</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₹45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₹9.3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Low-touch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482</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₹26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₹3.1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669280" y="2514600"/>
            <a:ext cx="3017520" cy="128016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A qualified opportunity in a strategic account is worth 8x one in a low-touch account. Out-of-time AUC 0.65: good enough to tier accounts, not to predict single deals.</a:t>
            </a:r>
            <a:endParaRPr lang="en-US" sz="1100" dirty="0"/>
          </a:p>
        </p:txBody>
      </p:sp>
      <p:sp>
        <p:nvSpPr>
          <p:cNvPr id="8" name="Text 4"/>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1,218 qualified closed deals FY24–26 (DR1 clean). Score trained on FY24–25 only; FY26 is the honest test.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TIERS AND PLAYS</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Tiering the 3,100 accounts: 400 named, 1,100 territory, 1,600 off the AE’s desk</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097280"/>
                <a:gridCol w="822960"/>
                <a:gridCol w="2286000"/>
                <a:gridCol w="4023360"/>
              </a:tblGrid>
              <a:tr h="23774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Tier</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Accounts</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Who covers</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Plays inside the tier</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Strategic</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400</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Named AE (14 each) + SE + ABM</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40 named Helix displacements; written account plans; ≥4 contacts</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2 Scaled</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1,100</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Territory AE (50 each) + SDR</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85 Helix accounts held for pricing decision; 348 with wireless sensors flagged TrueSense-risk (all tiers)</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3 Low-touch</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1,600</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SDR, inside sales, marketing, partners</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488 SEA accounts partner-led; 781 India low-fit accounts on a stop-list (nurture only)</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3063240"/>
            <a:ext cx="2651760" cy="502920"/>
          </a:xfrm>
          <a:prstGeom prst="rect">
            <a:avLst/>
          </a:prstGeom>
          <a:noFill/>
          <a:ln/>
        </p:spPr>
        <p:txBody>
          <a:bodyPr wrap="square" lIns="0" tIns="0" rIns="0" bIns="0" rtlCol="0" anchor="ctr"/>
          <a:lstStyle/>
          <a:p>
            <a:pPr indent="0" marL="0">
              <a:buNone/>
            </a:pPr>
            <a:r>
              <a:rPr lang="en-US" sz="2800" b="1" dirty="0">
                <a:solidFill>
                  <a:srgbClr val="1F3A5F"/>
                </a:solidFill>
                <a:latin typeface="Cambria" pitchFamily="34" charset="0"/>
                <a:ea typeface="Cambria" pitchFamily="34" charset="-122"/>
                <a:cs typeface="Cambria" pitchFamily="34" charset="-120"/>
              </a:rPr>
              <a:t>298 / 72 / 30</a:t>
            </a:r>
            <a:endParaRPr lang="en-US" sz="2800" dirty="0"/>
          </a:p>
        </p:txBody>
      </p:sp>
      <p:sp>
        <p:nvSpPr>
          <p:cNvPr id="7" name="Text 4"/>
          <p:cNvSpPr txBox="1"/>
          <p:nvPr/>
        </p:nvSpPr>
        <p:spPr>
          <a:xfrm>
            <a:off x="457200" y="3566160"/>
            <a:ext cx="2651760" cy="45720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strategic accounts: India / Middle East / SEA</a:t>
            </a:r>
            <a:endParaRPr lang="en-US" sz="1100" dirty="0"/>
          </a:p>
        </p:txBody>
      </p:sp>
      <p:sp>
        <p:nvSpPr>
          <p:cNvPr id="8" name="Text 5"/>
          <p:cNvSpPr txBox="1"/>
          <p:nvPr/>
        </p:nvSpPr>
        <p:spPr>
          <a:xfrm>
            <a:off x="3291840" y="3063240"/>
            <a:ext cx="2651760" cy="502920"/>
          </a:xfrm>
          <a:prstGeom prst="rect">
            <a:avLst/>
          </a:prstGeom>
          <a:noFill/>
          <a:ln/>
        </p:spPr>
        <p:txBody>
          <a:bodyPr wrap="square" lIns="0" tIns="0" rIns="0" bIns="0" rtlCol="0" anchor="ctr"/>
          <a:lstStyle/>
          <a:p>
            <a:pPr indent="0" marL="0">
              <a:buNone/>
            </a:pPr>
            <a:r>
              <a:rPr lang="en-US" sz="2800" b="1" dirty="0">
                <a:solidFill>
                  <a:srgbClr val="1F3A5F"/>
                </a:solidFill>
                <a:latin typeface="Cambria" pitchFamily="34" charset="0"/>
                <a:ea typeface="Cambria" pitchFamily="34" charset="-122"/>
                <a:cs typeface="Cambria" pitchFamily="34" charset="-120"/>
              </a:rPr>
              <a:t>₹96.5 cr</a:t>
            </a:r>
            <a:endParaRPr lang="en-US" sz="2800" dirty="0"/>
          </a:p>
        </p:txBody>
      </p:sp>
      <p:sp>
        <p:nvSpPr>
          <p:cNvPr id="9" name="Text 6"/>
          <p:cNvSpPr txBox="1"/>
          <p:nvPr/>
        </p:nvSpPr>
        <p:spPr>
          <a:xfrm>
            <a:off x="3291840" y="3566160"/>
            <a:ext cx="2651760" cy="45720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expected value in the strategic tier (EV = P(win) × ARR)</a:t>
            </a:r>
            <a:endParaRPr lang="en-US" sz="1100" dirty="0"/>
          </a:p>
        </p:txBody>
      </p:sp>
      <p:sp>
        <p:nvSpPr>
          <p:cNvPr id="10" name="Text 7"/>
          <p:cNvSpPr txBox="1"/>
          <p:nvPr/>
        </p:nvSpPr>
        <p:spPr>
          <a:xfrm>
            <a:off x="6126480" y="3063240"/>
            <a:ext cx="2651760" cy="502920"/>
          </a:xfrm>
          <a:prstGeom prst="rect">
            <a:avLst/>
          </a:prstGeom>
          <a:noFill/>
          <a:ln/>
        </p:spPr>
        <p:txBody>
          <a:bodyPr wrap="square" lIns="0" tIns="0" rIns="0" bIns="0" rtlCol="0" anchor="ctr"/>
          <a:lstStyle/>
          <a:p>
            <a:pPr indent="0" marL="0">
              <a:buNone/>
            </a:pPr>
            <a:r>
              <a:rPr lang="en-US" sz="2800" b="1" dirty="0">
                <a:solidFill>
                  <a:srgbClr val="EB6834"/>
                </a:solidFill>
                <a:latin typeface="Cambria" pitchFamily="34" charset="0"/>
                <a:ea typeface="Cambria" pitchFamily="34" charset="-122"/>
                <a:cs typeface="Cambria" pitchFamily="34" charset="-120"/>
              </a:rPr>
              <a:t>781</a:t>
            </a:r>
            <a:endParaRPr lang="en-US" sz="2800" dirty="0"/>
          </a:p>
        </p:txBody>
      </p:sp>
      <p:sp>
        <p:nvSpPr>
          <p:cNvPr id="11" name="Text 8"/>
          <p:cNvSpPr txBox="1"/>
          <p:nvPr/>
        </p:nvSpPr>
        <p:spPr>
          <a:xfrm>
            <a:off x="6126480" y="3566160"/>
            <a:ext cx="2651760" cy="45720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accounts AEs stop prospecting</a:t>
            </a:r>
            <a:endParaRPr lang="en-US" sz="1100" dirty="0"/>
          </a:p>
        </p:txBody>
      </p:sp>
      <p:sp>
        <p:nvSpPr>
          <p:cNvPr id="12" name="Text 9"/>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D2 workbook, Tiering sheet (all 3,100 accounts with score, tier, play and assigned AE).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COVERAGE MODEL</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Coverage: 64 AEs are enough if nobody carries low-touch accounts</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937760" cy="914400"/>
        </p:xfrm>
        <a:graphic>
          <a:graphicData uri="http://schemas.openxmlformats.org/drawingml/2006/table">
            <a:tbl>
              <a:tblPr/>
              <a:tblGrid>
                <a:gridCol w="2103120"/>
                <a:gridCol w="640080"/>
                <a:gridCol w="914400"/>
                <a:gridCol w="1280160"/>
              </a:tblGrid>
              <a:tr h="23774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AEs</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Accounts</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Accounts per AE</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3774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Strategic named AEs</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400</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Scaled territory AEs</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1,100</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Inside-sales pool (low-touch)</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1,600</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400 (no named owner)</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Ramping AEs (first 6 months)</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shadow strategic; scaled overflow</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algn="l" indent="0" marL="0">
                        <a:buNone/>
                      </a:pPr>
                      <a:r>
                        <a:rPr lang="en-US" sz="1100" b="1" dirty="0">
                          <a:solidFill>
                            <a:srgbClr val="1A1A1A"/>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latin typeface="Calibri" pitchFamily="34" charset="0"/>
                          <a:ea typeface="Calibri" pitchFamily="34" charset="-122"/>
                          <a:cs typeface="Calibri" pitchFamily="34" charset="-120"/>
                        </a:rPr>
                        <a:t>3,100</a:t>
                      </a: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endParaRPr lang="en-US" sz="11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69280" y="1280160"/>
            <a:ext cx="3017520" cy="3108960"/>
          </a:xfrm>
          <a:prstGeom prst="rect">
            <a:avLst/>
          </a:prstGeom>
          <a:noFill/>
          <a:ln/>
        </p:spPr>
        <p:txBody>
          <a:bodyPr wrap="square" lIns="0" tIns="0" rIns="0" bIns="0" rtlCol="0" anchor="t"/>
          <a:lstStyle/>
          <a:p>
            <a:pPr indent="0" marL="0">
              <a:spcAft>
                <a:spcPts val="600"/>
              </a:spcAft>
              <a:buNone/>
            </a:pPr>
            <a:r>
              <a:rPr lang="en-US" sz="1300" b="1" dirty="0">
                <a:solidFill>
                  <a:srgbClr val="1F3A5F"/>
                </a:solidFill>
                <a:latin typeface="Calibri" pitchFamily="34" charset="0"/>
                <a:ea typeface="Calibri" pitchFamily="34" charset="-122"/>
                <a:cs typeface="Calibri" pitchFamily="34" charset="-120"/>
              </a:rPr>
              <a:t>Rules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Strategic AEs carry no inbound from low-touch accounts.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SEA: partners lead; 2 of today’s SEA AEs become partner-facing co-sellers (channel roles sit in D6).</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Tier review each quarter; an account moves up only with a qualified opportunity or new intent signal.</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Accounts per AE (14 / 50) are assumptions to test in RevOps interviews.</a:t>
            </a:r>
            <a:endParaRPr lang="en-US" sz="1100" dirty="0"/>
          </a:p>
        </p:txBody>
      </p:sp>
      <p:sp>
        <p:nvSpPr>
          <p:cNvPr id="7" name="Text 4"/>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D2 workbook, Coverage sheet. Ramping AEs: DR3 roster (9 AEs hired in the last 6 months).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CAN THE PLAN BE DELIVERED?</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Capacity: ₹49.4 cr of new-logo capacity vs ₹46.5 cr needed; hiring 12 more AEs adds only ₹1.1 cr in FY27</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graphicFrame>
        <p:nvGraphicFramePr>
          <p:cNvPr id="5" name="Chart 0" descr=""/>
          <p:cNvGraphicFramePr/>
          <p:nvPr/>
        </p:nvGraphicFramePr>
        <p:xfrm>
          <a:off x="457200" y="1234440"/>
          <a:ext cx="548640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77240" y="1773105"/>
            <a:ext cx="731520" cy="228600"/>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₹40.9</a:t>
            </a:r>
            <a:endParaRPr lang="en-US" sz="1000" dirty="0"/>
          </a:p>
        </p:txBody>
      </p:sp>
      <p:sp>
        <p:nvSpPr>
          <p:cNvPr id="7" name="Text 4"/>
          <p:cNvSpPr txBox="1"/>
          <p:nvPr/>
        </p:nvSpPr>
        <p:spPr>
          <a:xfrm>
            <a:off x="1627632" y="1638439"/>
            <a:ext cx="731520" cy="228600"/>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+₹2.7</a:t>
            </a:r>
            <a:endParaRPr lang="en-US" sz="1000" dirty="0"/>
          </a:p>
        </p:txBody>
      </p:sp>
      <p:sp>
        <p:nvSpPr>
          <p:cNvPr id="8" name="Text 5"/>
          <p:cNvSpPr txBox="1"/>
          <p:nvPr/>
        </p:nvSpPr>
        <p:spPr>
          <a:xfrm>
            <a:off x="2478024" y="1548661"/>
            <a:ext cx="731520" cy="228600"/>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+₹1.8</a:t>
            </a:r>
            <a:endParaRPr lang="en-US" sz="1000" dirty="0"/>
          </a:p>
        </p:txBody>
      </p:sp>
      <p:sp>
        <p:nvSpPr>
          <p:cNvPr id="9" name="Text 6"/>
          <p:cNvSpPr txBox="1"/>
          <p:nvPr/>
        </p:nvSpPr>
        <p:spPr>
          <a:xfrm>
            <a:off x="3328416" y="1349156"/>
            <a:ext cx="731520" cy="228600"/>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+₹4.0</a:t>
            </a:r>
            <a:endParaRPr lang="en-US" sz="1000" dirty="0"/>
          </a:p>
        </p:txBody>
      </p:sp>
      <p:sp>
        <p:nvSpPr>
          <p:cNvPr id="10" name="Text 7"/>
          <p:cNvSpPr txBox="1"/>
          <p:nvPr/>
        </p:nvSpPr>
        <p:spPr>
          <a:xfrm>
            <a:off x="4178808" y="1349156"/>
            <a:ext cx="731520" cy="228600"/>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₹49.4</a:t>
            </a:r>
            <a:endParaRPr lang="en-US" sz="1000" dirty="0"/>
          </a:p>
        </p:txBody>
      </p:sp>
      <p:sp>
        <p:nvSpPr>
          <p:cNvPr id="11" name="Text 8"/>
          <p:cNvSpPr txBox="1"/>
          <p:nvPr/>
        </p:nvSpPr>
        <p:spPr>
          <a:xfrm>
            <a:off x="5029200" y="1493797"/>
            <a:ext cx="731520" cy="228600"/>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₹46.5</a:t>
            </a:r>
            <a:endParaRPr lang="en-US" sz="1000" dirty="0"/>
          </a:p>
        </p:txBody>
      </p:sp>
      <p:sp>
        <p:nvSpPr>
          <p:cNvPr id="12" name="Text 9"/>
          <p:cNvSpPr txBox="1"/>
          <p:nvPr/>
        </p:nvSpPr>
        <p:spPr>
          <a:xfrm>
            <a:off x="6126480" y="1280160"/>
            <a:ext cx="2560320" cy="3200400"/>
          </a:xfrm>
          <a:prstGeom prst="rect">
            <a:avLst/>
          </a:prstGeom>
          <a:noFill/>
          <a:ln/>
        </p:spPr>
        <p:txBody>
          <a:bodyPr wrap="square" lIns="0" tIns="0" rIns="0" bIns="0" rtlCol="0" anchor="t"/>
          <a:lstStyle/>
          <a:p>
            <a:pPr indent="0" marL="0">
              <a:buNone/>
            </a:pPr>
            <a:r>
              <a:rPr lang="en-US" sz="1100" b="1" dirty="0">
                <a:solidFill>
                  <a:srgbClr val="1A1A1A"/>
                </a:solidFill>
                <a:latin typeface="Calibri" pitchFamily="34" charset="0"/>
                <a:ea typeface="Calibri" pitchFamily="34" charset="-122"/>
                <a:cs typeface="Calibri" pitchFamily="34" charset="-120"/>
              </a:rPr>
              <a:t>Margin is thin: ₹2.9 cr (6%).</a:t>
            </a:r>
            <a:endParaRPr lang="en-US" sz="1100" dirty="0"/>
          </a:p>
          <a:p>
            <a:pPr indent="0" marL="0">
              <a:buNone/>
            </a:pPr>
            <a:r>
              <a:rPr lang="en-US" sz="1100" dirty="0">
                <a:solidFill>
                  <a:srgbClr val="1A1A1A"/>
                </a:solidFill>
                <a:latin typeface="Calibri" pitchFamily="34" charset="0"/>
                <a:ea typeface="Calibri" pitchFamily="34" charset="-122"/>
                <a:cs typeface="Calibri" pitchFamily="34" charset="-120"/>
              </a:rPr>
              <a:t>Only 40% of FY27 bookings come from pipeline created after re-tiering (8-month cycle). The full effect arrives in FY28: ₹52 cr direct at the same headcount.</a:t>
            </a:r>
            <a:endParaRPr lang="en-US" sz="1100" dirty="0"/>
          </a:p>
          <a:p>
            <a:pPr indent="0" marL="0">
              <a:buNone/>
            </a:pPr>
            <a:r>
              <a:rPr lang="en-US" sz="500" dirty="0">
                <a:solidFill>
                  <a:srgbClr val="1A1A1A"/>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1A1A1A"/>
                </a:solidFill>
                <a:latin typeface="Calibri" pitchFamily="34" charset="0"/>
                <a:ea typeface="Calibri" pitchFamily="34" charset="-122"/>
                <a:cs typeface="Calibri" pitchFamily="34" charset="-120"/>
              </a:rPr>
              <a:t>Hiring: </a:t>
            </a:r>
            <a:pPr indent="0" marL="0">
              <a:buNone/>
            </a:pPr>
            <a:r>
              <a:rPr lang="en-US" sz="1100" dirty="0">
                <a:solidFill>
                  <a:srgbClr val="1A1A1A"/>
                </a:solidFill>
                <a:latin typeface="Calibri" pitchFamily="34" charset="0"/>
                <a:ea typeface="Calibri" pitchFamily="34" charset="-122"/>
                <a:cs typeface="Calibri" pitchFamily="34" charset="-120"/>
              </a:rPr>
              <a:t>12 extra AEs cost ~₹6 cr a year but add ₹1.1 cr in FY27 because new AEs book nothing for 6 months. Decide in D7 whether to hire in H2 for FY28.</a:t>
            </a:r>
            <a:endParaRPr lang="en-US" sz="1100" dirty="0"/>
          </a:p>
        </p:txBody>
      </p:sp>
      <p:sp>
        <p:nvSpPr>
          <p:cNvPr id="13" name="Text 10"/>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Baseline: DR3 productivity by tenure × FY27 AE supply (29% attrition, backfilled). Need assumes FY27 NRR 100% (provisional; D7 reconciles).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LEAD-GENERATION PLAN</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Working backwards from ₹46.5 cr: 307 qualified opportunities and about 1,900 leads</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sp>
        <p:nvSpPr>
          <p:cNvPr id="5" name="Shape 3"/>
          <p:cNvSpPr/>
          <p:nvPr/>
        </p:nvSpPr>
        <p:spPr>
          <a:xfrm>
            <a:off x="457200" y="1234440"/>
            <a:ext cx="1554480" cy="868680"/>
          </a:xfrm>
          <a:prstGeom prst="roundRect">
            <a:avLst>
              <a:gd name="adj" fmla="val 6316"/>
            </a:avLst>
          </a:prstGeom>
          <a:solidFill>
            <a:srgbClr val="1F3A5F"/>
          </a:solidFill>
          <a:ln w="12700">
            <a:solidFill>
              <a:srgbClr val="D9D8D2"/>
            </a:solidFill>
            <a:prstDash val="solid"/>
          </a:ln>
        </p:spPr>
      </p:sp>
      <p:sp>
        <p:nvSpPr>
          <p:cNvPr id="6" name="Text 4"/>
          <p:cNvSpPr txBox="1"/>
          <p:nvPr/>
        </p:nvSpPr>
        <p:spPr>
          <a:xfrm>
            <a:off x="457200" y="1280160"/>
            <a:ext cx="1554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₹46.5 cr</a:t>
            </a:r>
            <a:endParaRPr lang="en-US" sz="1800" dirty="0"/>
          </a:p>
        </p:txBody>
      </p:sp>
      <p:sp>
        <p:nvSpPr>
          <p:cNvPr id="7" name="Text 5"/>
          <p:cNvSpPr txBox="1"/>
          <p:nvPr/>
        </p:nvSpPr>
        <p:spPr>
          <a:xfrm>
            <a:off x="502920" y="1691640"/>
            <a:ext cx="1463040" cy="365760"/>
          </a:xfrm>
          <a:prstGeom prst="rect">
            <a:avLst/>
          </a:prstGeom>
          <a:noFill/>
          <a:ln/>
        </p:spPr>
        <p:txBody>
          <a:bodyPr wrap="square" lIns="0" tIns="0" rIns="0" bIns="0"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new-logo ARR needed</a:t>
            </a:r>
            <a:endParaRPr lang="en-US" sz="950" dirty="0"/>
          </a:p>
        </p:txBody>
      </p:sp>
      <p:sp>
        <p:nvSpPr>
          <p:cNvPr id="8" name="Shape 6"/>
          <p:cNvSpPr/>
          <p:nvPr/>
        </p:nvSpPr>
        <p:spPr>
          <a:xfrm>
            <a:off x="2130552" y="1234440"/>
            <a:ext cx="1554480" cy="868680"/>
          </a:xfrm>
          <a:prstGeom prst="roundRect">
            <a:avLst>
              <a:gd name="adj" fmla="val 6316"/>
            </a:avLst>
          </a:prstGeom>
          <a:solidFill>
            <a:srgbClr val="F7F6F2"/>
          </a:solidFill>
          <a:ln w="12700">
            <a:solidFill>
              <a:srgbClr val="D9D8D2"/>
            </a:solidFill>
            <a:prstDash val="solid"/>
          </a:ln>
        </p:spPr>
      </p:sp>
      <p:sp>
        <p:nvSpPr>
          <p:cNvPr id="9" name="Text 7"/>
          <p:cNvSpPr txBox="1"/>
          <p:nvPr/>
        </p:nvSpPr>
        <p:spPr>
          <a:xfrm>
            <a:off x="2130552" y="1280160"/>
            <a:ext cx="1554480" cy="411480"/>
          </a:xfrm>
          <a:prstGeom prst="rect">
            <a:avLst/>
          </a:prstGeom>
          <a:noFill/>
          <a:ln/>
        </p:spPr>
        <p:txBody>
          <a:bodyPr wrap="square" lIns="0" tIns="0" rIns="0" bIns="0" rtlCol="0" anchor="ctr"/>
          <a:lstStyle/>
          <a:p>
            <a:pPr algn="ctr" indent="0" marL="0">
              <a:buNone/>
            </a:pPr>
            <a:r>
              <a:rPr lang="en-US" sz="1800" b="1" dirty="0">
                <a:solidFill>
                  <a:srgbClr val="1F3A5F"/>
                </a:solidFill>
                <a:latin typeface="Cambria" pitchFamily="34" charset="0"/>
                <a:ea typeface="Cambria" pitchFamily="34" charset="-122"/>
                <a:cs typeface="Cambria" pitchFamily="34" charset="-120"/>
              </a:rPr>
              <a:t>≈ 70</a:t>
            </a:r>
            <a:endParaRPr lang="en-US" sz="1800" dirty="0"/>
          </a:p>
        </p:txBody>
      </p:sp>
      <p:sp>
        <p:nvSpPr>
          <p:cNvPr id="10" name="Text 8"/>
          <p:cNvSpPr txBox="1"/>
          <p:nvPr/>
        </p:nvSpPr>
        <p:spPr>
          <a:xfrm>
            <a:off x="2176272" y="1691640"/>
            <a:ext cx="1463040" cy="365760"/>
          </a:xfrm>
          <a:prstGeom prst="rect">
            <a:avLst/>
          </a:prstGeom>
          <a:noFill/>
          <a:ln/>
        </p:spPr>
        <p:txBody>
          <a:bodyPr wrap="square" lIns="0" tIns="0" rIns="0" bIns="0" rtlCol="0" anchor="t"/>
          <a:lstStyle/>
          <a:p>
            <a:pPr algn="ctr" indent="0" marL="0">
              <a:buNone/>
            </a:pPr>
            <a:r>
              <a:rPr lang="en-US" sz="950" dirty="0">
                <a:solidFill>
                  <a:srgbClr val="52514E"/>
                </a:solidFill>
                <a:latin typeface="Calibri" pitchFamily="34" charset="0"/>
                <a:ea typeface="Calibri" pitchFamily="34" charset="-122"/>
                <a:cs typeface="Calibri" pitchFamily="34" charset="-120"/>
              </a:rPr>
              <a:t>won deals (63 direct, ~6 partner)</a:t>
            </a:r>
            <a:endParaRPr lang="en-US" sz="950" dirty="0"/>
          </a:p>
        </p:txBody>
      </p:sp>
      <p:sp>
        <p:nvSpPr>
          <p:cNvPr id="11" name="Shape 9"/>
          <p:cNvSpPr/>
          <p:nvPr/>
        </p:nvSpPr>
        <p:spPr>
          <a:xfrm>
            <a:off x="3803904" y="1234440"/>
            <a:ext cx="1554480" cy="868680"/>
          </a:xfrm>
          <a:prstGeom prst="roundRect">
            <a:avLst>
              <a:gd name="adj" fmla="val 6316"/>
            </a:avLst>
          </a:prstGeom>
          <a:solidFill>
            <a:srgbClr val="F7F6F2"/>
          </a:solidFill>
          <a:ln w="12700">
            <a:solidFill>
              <a:srgbClr val="D9D8D2"/>
            </a:solidFill>
            <a:prstDash val="solid"/>
          </a:ln>
        </p:spPr>
      </p:sp>
      <p:sp>
        <p:nvSpPr>
          <p:cNvPr id="12" name="Text 10"/>
          <p:cNvSpPr txBox="1"/>
          <p:nvPr/>
        </p:nvSpPr>
        <p:spPr>
          <a:xfrm>
            <a:off x="3803904" y="1280160"/>
            <a:ext cx="1554480" cy="411480"/>
          </a:xfrm>
          <a:prstGeom prst="rect">
            <a:avLst/>
          </a:prstGeom>
          <a:noFill/>
          <a:ln/>
        </p:spPr>
        <p:txBody>
          <a:bodyPr wrap="square" lIns="0" tIns="0" rIns="0" bIns="0" rtlCol="0" anchor="ctr"/>
          <a:lstStyle/>
          <a:p>
            <a:pPr algn="ctr" indent="0" marL="0">
              <a:buNone/>
            </a:pPr>
            <a:r>
              <a:rPr lang="en-US" sz="1800" b="1" dirty="0">
                <a:solidFill>
                  <a:srgbClr val="1F3A5F"/>
                </a:solidFill>
                <a:latin typeface="Cambria" pitchFamily="34" charset="0"/>
                <a:ea typeface="Cambria" pitchFamily="34" charset="-122"/>
                <a:cs typeface="Cambria" pitchFamily="34" charset="-120"/>
              </a:rPr>
              <a:t>307</a:t>
            </a:r>
            <a:endParaRPr lang="en-US" sz="1800" dirty="0"/>
          </a:p>
        </p:txBody>
      </p:sp>
      <p:sp>
        <p:nvSpPr>
          <p:cNvPr id="13" name="Text 11"/>
          <p:cNvSpPr txBox="1"/>
          <p:nvPr/>
        </p:nvSpPr>
        <p:spPr>
          <a:xfrm>
            <a:off x="3849624" y="1691640"/>
            <a:ext cx="1463040" cy="365760"/>
          </a:xfrm>
          <a:prstGeom prst="rect">
            <a:avLst/>
          </a:prstGeom>
          <a:noFill/>
          <a:ln/>
        </p:spPr>
        <p:txBody>
          <a:bodyPr wrap="square" lIns="0" tIns="0" rIns="0" bIns="0" rtlCol="0" anchor="t"/>
          <a:lstStyle/>
          <a:p>
            <a:pPr algn="ctr" indent="0" marL="0">
              <a:buNone/>
            </a:pPr>
            <a:r>
              <a:rPr lang="en-US" sz="950" dirty="0">
                <a:solidFill>
                  <a:srgbClr val="52514E"/>
                </a:solidFill>
                <a:latin typeface="Calibri" pitchFamily="34" charset="0"/>
                <a:ea typeface="Calibri" pitchFamily="34" charset="-122"/>
                <a:cs typeface="Calibri" pitchFamily="34" charset="-120"/>
              </a:rPr>
              <a:t>qualified opportunities</a:t>
            </a:r>
            <a:endParaRPr lang="en-US" sz="950" dirty="0"/>
          </a:p>
        </p:txBody>
      </p:sp>
      <p:sp>
        <p:nvSpPr>
          <p:cNvPr id="14" name="Shape 12"/>
          <p:cNvSpPr/>
          <p:nvPr/>
        </p:nvSpPr>
        <p:spPr>
          <a:xfrm>
            <a:off x="5477256" y="1234440"/>
            <a:ext cx="1554480" cy="868680"/>
          </a:xfrm>
          <a:prstGeom prst="roundRect">
            <a:avLst>
              <a:gd name="adj" fmla="val 6316"/>
            </a:avLst>
          </a:prstGeom>
          <a:solidFill>
            <a:srgbClr val="F7F6F2"/>
          </a:solidFill>
          <a:ln w="12700">
            <a:solidFill>
              <a:srgbClr val="D9D8D2"/>
            </a:solidFill>
            <a:prstDash val="solid"/>
          </a:ln>
        </p:spPr>
      </p:sp>
      <p:sp>
        <p:nvSpPr>
          <p:cNvPr id="15" name="Text 13"/>
          <p:cNvSpPr txBox="1"/>
          <p:nvPr/>
        </p:nvSpPr>
        <p:spPr>
          <a:xfrm>
            <a:off x="5477256" y="1280160"/>
            <a:ext cx="1554480" cy="411480"/>
          </a:xfrm>
          <a:prstGeom prst="rect">
            <a:avLst/>
          </a:prstGeom>
          <a:noFill/>
          <a:ln/>
        </p:spPr>
        <p:txBody>
          <a:bodyPr wrap="square" lIns="0" tIns="0" rIns="0" bIns="0" rtlCol="0" anchor="ctr"/>
          <a:lstStyle/>
          <a:p>
            <a:pPr algn="ctr" indent="0" marL="0">
              <a:buNone/>
            </a:pPr>
            <a:r>
              <a:rPr lang="en-US" sz="1800" b="1" dirty="0">
                <a:solidFill>
                  <a:srgbClr val="1F3A5F"/>
                </a:solidFill>
                <a:latin typeface="Cambria" pitchFamily="34" charset="0"/>
                <a:ea typeface="Cambria" pitchFamily="34" charset="-122"/>
                <a:cs typeface="Cambria" pitchFamily="34" charset="-120"/>
              </a:rPr>
              <a:t>458</a:t>
            </a:r>
            <a:endParaRPr lang="en-US" sz="1800" dirty="0"/>
          </a:p>
        </p:txBody>
      </p:sp>
      <p:sp>
        <p:nvSpPr>
          <p:cNvPr id="16" name="Text 14"/>
          <p:cNvSpPr txBox="1"/>
          <p:nvPr/>
        </p:nvSpPr>
        <p:spPr>
          <a:xfrm>
            <a:off x="5522976" y="1691640"/>
            <a:ext cx="1463040" cy="365760"/>
          </a:xfrm>
          <a:prstGeom prst="rect">
            <a:avLst/>
          </a:prstGeom>
          <a:noFill/>
          <a:ln/>
        </p:spPr>
        <p:txBody>
          <a:bodyPr wrap="square" lIns="0" tIns="0" rIns="0" bIns="0" rtlCol="0" anchor="t"/>
          <a:lstStyle/>
          <a:p>
            <a:pPr algn="ctr" indent="0" marL="0">
              <a:buNone/>
            </a:pPr>
            <a:r>
              <a:rPr lang="en-US" sz="950" dirty="0">
                <a:solidFill>
                  <a:srgbClr val="52514E"/>
                </a:solidFill>
                <a:latin typeface="Calibri" pitchFamily="34" charset="0"/>
                <a:ea typeface="Calibri" pitchFamily="34" charset="-122"/>
                <a:cs typeface="Calibri" pitchFamily="34" charset="-120"/>
              </a:rPr>
              <a:t>opportunities created</a:t>
            </a:r>
            <a:endParaRPr lang="en-US" sz="950" dirty="0"/>
          </a:p>
        </p:txBody>
      </p:sp>
      <p:sp>
        <p:nvSpPr>
          <p:cNvPr id="17" name="Shape 15"/>
          <p:cNvSpPr/>
          <p:nvPr/>
        </p:nvSpPr>
        <p:spPr>
          <a:xfrm>
            <a:off x="7150608" y="1234440"/>
            <a:ext cx="1554480" cy="868680"/>
          </a:xfrm>
          <a:prstGeom prst="roundRect">
            <a:avLst>
              <a:gd name="adj" fmla="val 6316"/>
            </a:avLst>
          </a:prstGeom>
          <a:solidFill>
            <a:srgbClr val="F7F6F2"/>
          </a:solidFill>
          <a:ln w="12700">
            <a:solidFill>
              <a:srgbClr val="D9D8D2"/>
            </a:solidFill>
            <a:prstDash val="solid"/>
          </a:ln>
        </p:spPr>
      </p:sp>
      <p:sp>
        <p:nvSpPr>
          <p:cNvPr id="18" name="Text 16"/>
          <p:cNvSpPr txBox="1"/>
          <p:nvPr/>
        </p:nvSpPr>
        <p:spPr>
          <a:xfrm>
            <a:off x="7150608" y="1280160"/>
            <a:ext cx="1554480" cy="411480"/>
          </a:xfrm>
          <a:prstGeom prst="rect">
            <a:avLst/>
          </a:prstGeom>
          <a:noFill/>
          <a:ln/>
        </p:spPr>
        <p:txBody>
          <a:bodyPr wrap="square" lIns="0" tIns="0" rIns="0" bIns="0" rtlCol="0" anchor="ctr"/>
          <a:lstStyle/>
          <a:p>
            <a:pPr algn="ctr" indent="0" marL="0">
              <a:buNone/>
            </a:pPr>
            <a:r>
              <a:rPr lang="en-US" sz="1800" b="1" dirty="0">
                <a:solidFill>
                  <a:srgbClr val="1F3A5F"/>
                </a:solidFill>
                <a:latin typeface="Cambria" pitchFamily="34" charset="0"/>
                <a:ea typeface="Cambria" pitchFamily="34" charset="-122"/>
                <a:cs typeface="Cambria" pitchFamily="34" charset="-120"/>
              </a:rPr>
              <a:t>≈ 1,935</a:t>
            </a:r>
            <a:endParaRPr lang="en-US" sz="1800" dirty="0"/>
          </a:p>
        </p:txBody>
      </p:sp>
      <p:sp>
        <p:nvSpPr>
          <p:cNvPr id="19" name="Text 17"/>
          <p:cNvSpPr txBox="1"/>
          <p:nvPr/>
        </p:nvSpPr>
        <p:spPr>
          <a:xfrm>
            <a:off x="7196328" y="1691640"/>
            <a:ext cx="1463040" cy="365760"/>
          </a:xfrm>
          <a:prstGeom prst="rect">
            <a:avLst/>
          </a:prstGeom>
          <a:noFill/>
          <a:ln/>
        </p:spPr>
        <p:txBody>
          <a:bodyPr wrap="square" lIns="0" tIns="0" rIns="0" bIns="0" rtlCol="0" anchor="t"/>
          <a:lstStyle/>
          <a:p>
            <a:pPr algn="ctr" indent="0" marL="0">
              <a:buNone/>
            </a:pPr>
            <a:r>
              <a:rPr lang="en-US" sz="950" dirty="0">
                <a:solidFill>
                  <a:srgbClr val="52514E"/>
                </a:solidFill>
                <a:latin typeface="Calibri" pitchFamily="34" charset="0"/>
                <a:ea typeface="Calibri" pitchFamily="34" charset="-122"/>
                <a:cs typeface="Calibri" pitchFamily="34" charset="-120"/>
              </a:rPr>
              <a:t>leads</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8229600" cy="914400"/>
        </p:xfrm>
        <a:graphic>
          <a:graphicData uri="http://schemas.openxmlformats.org/drawingml/2006/table">
            <a:tbl>
              <a:tblPr/>
              <a:tblGrid>
                <a:gridCol w="2194560"/>
                <a:gridCol w="1005840"/>
                <a:gridCol w="1005840"/>
                <a:gridCol w="1005840"/>
                <a:gridCol w="1371600"/>
                <a:gridCol w="1645920"/>
              </a:tblGrid>
              <a:tr h="23774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Qual. opps</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Opp → qual.</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Lead → opp</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Cost / qual. opp</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ABM (strategic)</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₹10.0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₹3.9 cr</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SDR / digital / outbound</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129</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₹7.2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₹9.3 cr</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Events</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₹36.9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₹3.6 cr</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Customer referral</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₹4.1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₹1.3 cr</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AE self-sourced</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AE time</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Partner-sourced (SEA)</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₹1.8 lakh</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₹0.3 cr</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bl>
          </a:graphicData>
        </a:graphic>
      </p:graphicFrame>
      <p:sp>
        <p:nvSpPr>
          <p:cNvPr id="21" name="Text 18"/>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Opp → qualified: DR1 FY26 by source. Lead → opp and ABM cost: assumptions (the CRM has no lead data). SDR cost includes SDR pay (₹3.08 cr). Funnel sheet in the D2 workbook.</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BUDGET REALLOCATION</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Same ₹24 cr programme budget, moved from trade events to ABM, referrals and SEA partners</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graphicFrame>
        <p:nvGraphicFramePr>
          <p:cNvPr id="5" name="Chart 0" descr=""/>
          <p:cNvGraphicFramePr/>
          <p:nvPr/>
        </p:nvGraphicFramePr>
        <p:xfrm>
          <a:off x="457200" y="1188720"/>
          <a:ext cx="5669280"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309360" y="1234440"/>
            <a:ext cx="2377440" cy="3291840"/>
          </a:xfrm>
          <a:prstGeom prst="rect">
            <a:avLst/>
          </a:prstGeom>
          <a:noFill/>
          <a:ln/>
        </p:spPr>
        <p:txBody>
          <a:bodyPr wrap="square" lIns="0" tIns="0" rIns="0" bIns="0" rtlCol="0" anchor="t"/>
          <a:lstStyle/>
          <a:p>
            <a:pPr indent="0" marL="0">
              <a:spcAft>
                <a:spcPts val="500"/>
              </a:spcAft>
              <a:buNone/>
            </a:pPr>
            <a:r>
              <a:rPr lang="en-US" sz="1300" b="1" dirty="0">
                <a:solidFill>
                  <a:srgbClr val="1F3A5F"/>
                </a:solidFill>
                <a:latin typeface="Calibri" pitchFamily="34" charset="0"/>
                <a:ea typeface="Calibri" pitchFamily="34" charset="-122"/>
                <a:cs typeface="Calibri" pitchFamily="34" charset="-120"/>
              </a:rPr>
              <a:t>Why</a:t>
            </a:r>
            <a:endParaRPr lang="en-US" sz="1050" dirty="0"/>
          </a:p>
          <a:p>
            <a:pPr marL="342900" indent="-342900">
              <a:spcAft>
                <a:spcPts val="500"/>
              </a:spcAft>
              <a:buSzPct val="100000"/>
              <a:buChar char="•"/>
            </a:pPr>
            <a:r>
              <a:rPr lang="en-US" sz="1050" dirty="0">
                <a:solidFill>
                  <a:srgbClr val="1A1A1A"/>
                </a:solidFill>
                <a:latin typeface="Calibri" pitchFamily="34" charset="0"/>
                <a:ea typeface="Calibri" pitchFamily="34" charset="-122"/>
                <a:cs typeface="Calibri" pitchFamily="34" charset="-120"/>
              </a:rPr>
              <a:t>Events: ₹37 lakh per qualified opp; 9% win rate.</a:t>
            </a:r>
            <a:endParaRPr lang="en-US" sz="1050" dirty="0"/>
          </a:p>
          <a:p>
            <a:pPr marL="342900" indent="-342900">
              <a:spcAft>
                <a:spcPts val="500"/>
              </a:spcAft>
              <a:buSzPct val="100000"/>
              <a:buChar char="•"/>
            </a:pPr>
            <a:r>
              <a:rPr lang="en-US" sz="1050" dirty="0">
                <a:solidFill>
                  <a:srgbClr val="1A1A1A"/>
                </a:solidFill>
                <a:latin typeface="Calibri" pitchFamily="34" charset="0"/>
                <a:ea typeface="Calibri" pitchFamily="34" charset="-122"/>
                <a:cs typeface="Calibri" pitchFamily="34" charset="-120"/>
              </a:rPr>
              <a:t>Referral deals win 24–38% and cost ₹4 lakh per opp.</a:t>
            </a:r>
            <a:endParaRPr lang="en-US" sz="1050" dirty="0"/>
          </a:p>
          <a:p>
            <a:pPr marL="342900" indent="-342900">
              <a:spcAft>
                <a:spcPts val="500"/>
              </a:spcAft>
              <a:buSzPct val="100000"/>
              <a:buChar char="•"/>
            </a:pPr>
            <a:r>
              <a:rPr lang="en-US" sz="1050" dirty="0">
                <a:solidFill>
                  <a:srgbClr val="1A1A1A"/>
                </a:solidFill>
                <a:latin typeface="Calibri" pitchFamily="34" charset="0"/>
                <a:ea typeface="Calibri" pitchFamily="34" charset="-122"/>
                <a:cs typeface="Calibri" pitchFamily="34" charset="-120"/>
              </a:rPr>
              <a:t>SEA partner deals win 34% vs 10% direct.</a:t>
            </a:r>
            <a:endParaRPr lang="en-US" sz="1050" dirty="0"/>
          </a:p>
          <a:p>
            <a:pPr marL="342900" indent="-342900">
              <a:spcAft>
                <a:spcPts val="500"/>
              </a:spcAft>
              <a:buSzPct val="100000"/>
              <a:buChar char="•"/>
            </a:pPr>
            <a:r>
              <a:rPr lang="en-US" sz="1050" dirty="0">
                <a:solidFill>
                  <a:srgbClr val="1A1A1A"/>
                </a:solidFill>
                <a:latin typeface="Calibri" pitchFamily="34" charset="0"/>
                <a:ea typeface="Calibri" pitchFamily="34" charset="-122"/>
                <a:cs typeface="Calibri" pitchFamily="34" charset="-120"/>
              </a:rPr>
              <a:t>ABM funds research and exec events for the 400 named accounts.</a:t>
            </a:r>
            <a:endParaRPr lang="en-US" sz="1050" dirty="0"/>
          </a:p>
          <a:p>
            <a:pPr marL="342900" indent="-342900">
              <a:spcAft>
                <a:spcPts val="500"/>
              </a:spcAft>
              <a:buSzPct val="100000"/>
              <a:buChar char="•"/>
            </a:pPr>
            <a:r>
              <a:rPr lang="en-US" sz="1050" dirty="0">
                <a:solidFill>
                  <a:srgbClr val="1A1A1A"/>
                </a:solidFill>
                <a:latin typeface="Calibri" pitchFamily="34" charset="0"/>
                <a:ea typeface="Calibri" pitchFamily="34" charset="-122"/>
                <a:cs typeface="Calibri" pitchFamily="34" charset="-120"/>
              </a:rPr>
              <a:t>₹3–4 cr of programme spend is not tied to any plan source: a candidate to fund plan initiatives if the CFO trims the envelope.</a:t>
            </a:r>
            <a:endParaRPr lang="en-US" sz="1050" dirty="0"/>
          </a:p>
        </p:txBody>
      </p:sp>
      <p:sp>
        <p:nvSpPr>
          <p:cNvPr id="7" name="Text 4"/>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DR3 marketing_programmes (FY26 ₹24.0 cr). Budget sheet in the D2 workbook.</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SINGLE-THREADING FIX</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Fixing single-threading: ≥4 contacts on every strategic deal before it can reach proposal</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sp>
        <p:nvSpPr>
          <p:cNvPr id="5" name="Text 3"/>
          <p:cNvSpPr txBox="1"/>
          <p:nvPr/>
        </p:nvSpPr>
        <p:spPr>
          <a:xfrm>
            <a:off x="457200" y="1280160"/>
            <a:ext cx="2560320" cy="502920"/>
          </a:xfrm>
          <a:prstGeom prst="rect">
            <a:avLst/>
          </a:prstGeom>
          <a:noFill/>
          <a:ln/>
        </p:spPr>
        <p:txBody>
          <a:bodyPr wrap="square" lIns="0" tIns="0" rIns="0" bIns="0" rtlCol="0" anchor="ctr"/>
          <a:lstStyle/>
          <a:p>
            <a:pPr indent="0" marL="0">
              <a:buNone/>
            </a:pPr>
            <a:r>
              <a:rPr lang="en-US" sz="2800" b="1" dirty="0">
                <a:solidFill>
                  <a:srgbClr val="2A78D6"/>
                </a:solidFill>
                <a:latin typeface="Cambria" pitchFamily="34" charset="0"/>
                <a:ea typeface="Cambria" pitchFamily="34" charset="-122"/>
                <a:cs typeface="Cambria" pitchFamily="34" charset="-120"/>
              </a:rPr>
              <a:t>50% vs 29%</a:t>
            </a:r>
            <a:endParaRPr lang="en-US" sz="2800" dirty="0"/>
          </a:p>
        </p:txBody>
      </p:sp>
      <p:sp>
        <p:nvSpPr>
          <p:cNvPr id="6" name="Text 4"/>
          <p:cNvSpPr txBox="1"/>
          <p:nvPr/>
        </p:nvSpPr>
        <p:spPr>
          <a:xfrm>
            <a:off x="457200" y="1783080"/>
            <a:ext cx="2560320" cy="45720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strategic-tier win rate with 3+ contacts vs fewer (FY24–26)</a:t>
            </a:r>
            <a:endParaRPr lang="en-US" sz="1100" dirty="0"/>
          </a:p>
        </p:txBody>
      </p:sp>
      <p:sp>
        <p:nvSpPr>
          <p:cNvPr id="7" name="Text 5"/>
          <p:cNvSpPr txBox="1"/>
          <p:nvPr/>
        </p:nvSpPr>
        <p:spPr>
          <a:xfrm>
            <a:off x="457200" y="2377440"/>
            <a:ext cx="2560320" cy="502920"/>
          </a:xfrm>
          <a:prstGeom prst="rect">
            <a:avLst/>
          </a:prstGeom>
          <a:noFill/>
          <a:ln/>
        </p:spPr>
        <p:txBody>
          <a:bodyPr wrap="square" lIns="0" tIns="0" rIns="0" bIns="0" rtlCol="0" anchor="ctr"/>
          <a:lstStyle/>
          <a:p>
            <a:pPr indent="0" marL="0">
              <a:buNone/>
            </a:pPr>
            <a:r>
              <a:rPr lang="en-US" sz="2800" b="1" dirty="0">
                <a:solidFill>
                  <a:srgbClr val="EB6834"/>
                </a:solidFill>
                <a:latin typeface="Cambria" pitchFamily="34" charset="0"/>
                <a:ea typeface="Cambria" pitchFamily="34" charset="-122"/>
                <a:cs typeface="Cambria" pitchFamily="34" charset="-120"/>
              </a:rPr>
              <a:t>18.5%</a:t>
            </a:r>
            <a:endParaRPr lang="en-US" sz="2800" dirty="0"/>
          </a:p>
        </p:txBody>
      </p:sp>
      <p:sp>
        <p:nvSpPr>
          <p:cNvPr id="8" name="Text 6"/>
          <p:cNvSpPr txBox="1"/>
          <p:nvPr/>
        </p:nvSpPr>
        <p:spPr>
          <a:xfrm>
            <a:off x="457200" y="2880360"/>
            <a:ext cx="2560320" cy="45720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of FY26 strategic deals had 3+ contacts</a:t>
            </a:r>
            <a:endParaRPr lang="en-US" sz="1100" dirty="0"/>
          </a:p>
        </p:txBody>
      </p:sp>
      <p:sp>
        <p:nvSpPr>
          <p:cNvPr id="9" name="Text 7"/>
          <p:cNvSpPr txBox="1"/>
          <p:nvPr/>
        </p:nvSpPr>
        <p:spPr>
          <a:xfrm>
            <a:off x="457200" y="3474720"/>
            <a:ext cx="2560320" cy="502920"/>
          </a:xfrm>
          <a:prstGeom prst="rect">
            <a:avLst/>
          </a:prstGeom>
          <a:noFill/>
          <a:ln/>
        </p:spPr>
        <p:txBody>
          <a:bodyPr wrap="square" lIns="0" tIns="0" rIns="0" bIns="0" rtlCol="0" anchor="ctr"/>
          <a:lstStyle/>
          <a:p>
            <a:pPr indent="0" marL="0">
              <a:buNone/>
            </a:pPr>
            <a:r>
              <a:rPr lang="en-US" sz="2800" b="1" dirty="0">
                <a:solidFill>
                  <a:srgbClr val="1F3A5F"/>
                </a:solidFill>
                <a:latin typeface="Cambria" pitchFamily="34" charset="0"/>
                <a:ea typeface="Cambria" pitchFamily="34" charset="-122"/>
                <a:cs typeface="Cambria" pitchFamily="34" charset="-120"/>
              </a:rPr>
              <a:t>73%</a:t>
            </a:r>
            <a:endParaRPr lang="en-US" sz="2800" dirty="0"/>
          </a:p>
        </p:txBody>
      </p:sp>
      <p:sp>
        <p:nvSpPr>
          <p:cNvPr id="10" name="Text 8"/>
          <p:cNvSpPr txBox="1"/>
          <p:nvPr/>
        </p:nvSpPr>
        <p:spPr>
          <a:xfrm>
            <a:off x="457200" y="3977640"/>
            <a:ext cx="2560320" cy="457200"/>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of open pipeline is single-threaded today</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0" y="1280160"/>
          <a:ext cx="5486400" cy="914400"/>
        </p:xfrm>
        <a:graphic>
          <a:graphicData uri="http://schemas.openxmlformats.org/drawingml/2006/table">
            <a:tbl>
              <a:tblPr/>
              <a:tblGrid>
                <a:gridCol w="1371600"/>
                <a:gridCol w="2286000"/>
                <a:gridCol w="1828800"/>
              </a:tblGrid>
              <a:tr h="23774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Rule</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Strategic</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Scaled</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Contacts by stage 3</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≥4, incl. economic buyer, finance or procurement, IT security</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 incl. one budget holder</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Gate</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Cannot enter 4-Proposal without a finance contact logged</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Cannot enter 4-Proposal with 1 contact</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Target share (Q4 FY27)</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50% with 3+ (from 18.5%)</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35% with 3+ (from 15%)</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Measured</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Weekly: % of stage 3+ deals meeting the rule, by AE</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Weekly, same report</a:t>
                      </a:r>
                      <a:endParaRPr lang="en-US" sz="100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bl>
          </a:graphicData>
        </a:graphic>
      </p:graphicFrame>
      <p:sp>
        <p:nvSpPr>
          <p:cNvPr id="12" name="Text 9"/>
          <p:cNvSpPr txBox="1"/>
          <p:nvPr/>
        </p:nvSpPr>
        <p:spPr>
          <a:xfrm>
            <a:off x="3200400" y="3840480"/>
            <a:ext cx="5486400" cy="548640"/>
          </a:xfrm>
          <a:prstGeom prst="rect">
            <a:avLst/>
          </a:prstGeom>
          <a:noFill/>
          <a:ln/>
        </p:spPr>
        <p:txBody>
          <a:bodyPr wrap="square" lIns="0" tIns="0" rIns="0" bIns="0" rtlCol="0" anchor="ctr"/>
          <a:lstStyle/>
          <a:p>
            <a:pPr indent="0" marL="0">
              <a:buNone/>
            </a:pPr>
            <a:r>
              <a:rPr lang="en-US" sz="1050" i="1" dirty="0">
                <a:solidFill>
                  <a:srgbClr val="52514E"/>
                </a:solidFill>
                <a:latin typeface="Calibri" pitchFamily="34" charset="0"/>
                <a:ea typeface="Calibri" pitchFamily="34" charset="-122"/>
                <a:cs typeface="Calibri" pitchFamily="34" charset="-120"/>
              </a:rPr>
              <a:t>Only half of the observed gap is counted in the capacity plan: part of it is selection (strong deals attract more contacts).</a:t>
            </a:r>
            <a:endParaRPr lang="en-US" sz="1050" dirty="0"/>
          </a:p>
        </p:txBody>
      </p:sp>
      <p:sp>
        <p:nvSpPr>
          <p:cNvPr id="13" name="Text 10"/>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DR1 clean qualified deals by tier and contacts engaged; D1 odds ratio 2.2 for 3+ contacts after controls.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STRATEGIC ACCOUNT PLANS</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Three account plans: one expansion, one Helix displacement, one never-touched whitespace account</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sp>
        <p:nvSpPr>
          <p:cNvPr id="5" name="Shape 3"/>
          <p:cNvSpPr/>
          <p:nvPr/>
        </p:nvSpPr>
        <p:spPr>
          <a:xfrm>
            <a:off x="457200" y="1280160"/>
            <a:ext cx="2606040" cy="3154680"/>
          </a:xfrm>
          <a:prstGeom prst="rect">
            <a:avLst/>
          </a:prstGeom>
          <a:solidFill>
            <a:srgbClr val="F7F6F2"/>
          </a:solidFill>
          <a:ln w="12700">
            <a:solidFill>
              <a:srgbClr val="D9D8D2"/>
            </a:solidFill>
            <a:prstDash val="solid"/>
          </a:ln>
        </p:spPr>
      </p:sp>
      <p:sp>
        <p:nvSpPr>
          <p:cNvPr id="6" name="Shape 4"/>
          <p:cNvSpPr/>
          <p:nvPr/>
        </p:nvSpPr>
        <p:spPr>
          <a:xfrm>
            <a:off x="457200" y="1280160"/>
            <a:ext cx="2606040" cy="73152"/>
          </a:xfrm>
          <a:prstGeom prst="rect">
            <a:avLst/>
          </a:prstGeom>
          <a:solidFill>
            <a:srgbClr val="2A78D6"/>
          </a:solidFill>
          <a:ln w="12700">
            <a:solidFill>
              <a:srgbClr val="2A78D6"/>
            </a:solidFill>
            <a:prstDash val="solid"/>
          </a:ln>
        </p:spPr>
      </p:sp>
      <p:sp>
        <p:nvSpPr>
          <p:cNvPr id="7" name="Text 5"/>
          <p:cNvSpPr txBox="1"/>
          <p:nvPr/>
        </p:nvSpPr>
        <p:spPr>
          <a:xfrm>
            <a:off x="594360" y="1463040"/>
            <a:ext cx="2331720" cy="320040"/>
          </a:xfrm>
          <a:prstGeom prst="rect">
            <a:avLst/>
          </a:prstGeom>
          <a:noFill/>
          <a:ln/>
        </p:spPr>
        <p:txBody>
          <a:bodyPr wrap="square" lIns="0" tIns="0" rIns="0" bIns="0" rtlCol="0" anchor="ctr"/>
          <a:lstStyle/>
          <a:p>
            <a:pPr indent="0" marL="0">
              <a:buNone/>
            </a:pPr>
            <a:r>
              <a:rPr lang="en-US" sz="1400" b="1" dirty="0">
                <a:solidFill>
                  <a:srgbClr val="1F3A5F"/>
                </a:solidFill>
                <a:latin typeface="Cambria" pitchFamily="34" charset="0"/>
                <a:ea typeface="Cambria" pitchFamily="34" charset="-122"/>
                <a:cs typeface="Cambria" pitchFamily="34" charset="-120"/>
              </a:rPr>
              <a:t>Lotus Motors Ltd</a:t>
            </a:r>
            <a:endParaRPr lang="en-US" sz="1400" dirty="0"/>
          </a:p>
        </p:txBody>
      </p:sp>
      <p:sp>
        <p:nvSpPr>
          <p:cNvPr id="8" name="Text 6"/>
          <p:cNvSpPr txBox="1"/>
          <p:nvPr/>
        </p:nvSpPr>
        <p:spPr>
          <a:xfrm>
            <a:off x="594360" y="1783080"/>
            <a:ext cx="2331720" cy="228600"/>
          </a:xfrm>
          <a:prstGeom prst="rect">
            <a:avLst/>
          </a:prstGeom>
          <a:noFill/>
          <a:ln/>
        </p:spPr>
        <p:txBody>
          <a:bodyPr wrap="square" lIns="0" tIns="0" rIns="0" bIns="0" rtlCol="0" anchor="ctr"/>
          <a:lstStyle/>
          <a:p>
            <a:pPr indent="0" marL="0">
              <a:buNone/>
            </a:pPr>
            <a:r>
              <a:rPr lang="en-US" sz="1000" b="1" dirty="0">
                <a:solidFill>
                  <a:srgbClr val="52514E"/>
                </a:solidFill>
                <a:latin typeface="Calibri" pitchFamily="34" charset="0"/>
                <a:ea typeface="Calibri" pitchFamily="34" charset="-122"/>
                <a:cs typeface="Calibri" pitchFamily="34" charset="-120"/>
              </a:rPr>
              <a:t>Expansion · CU-1137</a:t>
            </a:r>
            <a:endParaRPr lang="en-US" sz="1000" dirty="0"/>
          </a:p>
        </p:txBody>
      </p:sp>
      <p:sp>
        <p:nvSpPr>
          <p:cNvPr id="9" name="Text 7"/>
          <p:cNvSpPr txBox="1"/>
          <p:nvPr/>
        </p:nvSpPr>
        <p:spPr>
          <a:xfrm>
            <a:off x="594360" y="2103120"/>
            <a:ext cx="2331720" cy="146304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₹7.48 cr ARR, flat 2 years; 97.5% usage; 35% of assets licensed. Co-term +3,000 assets with the 13 Aug renewal.</a:t>
            </a:r>
            <a:endParaRPr lang="en-US" sz="1050" dirty="0"/>
          </a:p>
        </p:txBody>
      </p:sp>
      <p:sp>
        <p:nvSpPr>
          <p:cNvPr id="10" name="Text 8"/>
          <p:cNvSpPr txBox="1"/>
          <p:nvPr/>
        </p:nvSpPr>
        <p:spPr>
          <a:xfrm>
            <a:off x="594360" y="3703320"/>
            <a:ext cx="2331720" cy="548640"/>
          </a:xfrm>
          <a:prstGeom prst="rect">
            <a:avLst/>
          </a:prstGeom>
          <a:noFill/>
          <a:ln/>
        </p:spPr>
        <p:txBody>
          <a:bodyPr wrap="square" lIns="0" tIns="0" rIns="0" bIns="0" rtlCol="0" anchor="t"/>
          <a:lstStyle/>
          <a:p>
            <a:pPr indent="0" marL="0">
              <a:buNone/>
            </a:pPr>
            <a:r>
              <a:rPr lang="en-US" sz="1150" b="1" dirty="0">
                <a:solidFill>
                  <a:srgbClr val="2A78D6"/>
                </a:solidFill>
                <a:latin typeface="Calibri" pitchFamily="34" charset="0"/>
                <a:ea typeface="Calibri" pitchFamily="34" charset="-122"/>
                <a:cs typeface="Calibri" pitchFamily="34" charset="-120"/>
              </a:rPr>
              <a:t>+₹3.2 cr ARR</a:t>
            </a:r>
            <a:endParaRPr lang="en-US" sz="1150" dirty="0"/>
          </a:p>
        </p:txBody>
      </p:sp>
      <p:sp>
        <p:nvSpPr>
          <p:cNvPr id="11" name="Shape 9"/>
          <p:cNvSpPr/>
          <p:nvPr/>
        </p:nvSpPr>
        <p:spPr>
          <a:xfrm>
            <a:off x="3246120" y="1280160"/>
            <a:ext cx="2606040" cy="3154680"/>
          </a:xfrm>
          <a:prstGeom prst="rect">
            <a:avLst/>
          </a:prstGeom>
          <a:solidFill>
            <a:srgbClr val="F7F6F2"/>
          </a:solidFill>
          <a:ln w="12700">
            <a:solidFill>
              <a:srgbClr val="D9D8D2"/>
            </a:solidFill>
            <a:prstDash val="solid"/>
          </a:ln>
        </p:spPr>
      </p:sp>
      <p:sp>
        <p:nvSpPr>
          <p:cNvPr id="12" name="Shape 10"/>
          <p:cNvSpPr/>
          <p:nvPr/>
        </p:nvSpPr>
        <p:spPr>
          <a:xfrm>
            <a:off x="3246120" y="1280160"/>
            <a:ext cx="2606040" cy="73152"/>
          </a:xfrm>
          <a:prstGeom prst="rect">
            <a:avLst/>
          </a:prstGeom>
          <a:solidFill>
            <a:srgbClr val="EB6834"/>
          </a:solidFill>
          <a:ln w="12700">
            <a:solidFill>
              <a:srgbClr val="EB6834"/>
            </a:solidFill>
            <a:prstDash val="solid"/>
          </a:ln>
        </p:spPr>
      </p:sp>
      <p:sp>
        <p:nvSpPr>
          <p:cNvPr id="13" name="Text 11"/>
          <p:cNvSpPr txBox="1"/>
          <p:nvPr/>
        </p:nvSpPr>
        <p:spPr>
          <a:xfrm>
            <a:off x="3383280" y="1463040"/>
            <a:ext cx="2331720" cy="320040"/>
          </a:xfrm>
          <a:prstGeom prst="rect">
            <a:avLst/>
          </a:prstGeom>
          <a:noFill/>
          <a:ln/>
        </p:spPr>
        <p:txBody>
          <a:bodyPr wrap="square" lIns="0" tIns="0" rIns="0" bIns="0" rtlCol="0" anchor="ctr"/>
          <a:lstStyle/>
          <a:p>
            <a:pPr indent="0" marL="0">
              <a:buNone/>
            </a:pPr>
            <a:r>
              <a:rPr lang="en-US" sz="1400" b="1" dirty="0">
                <a:solidFill>
                  <a:srgbClr val="1F3A5F"/>
                </a:solidFill>
                <a:latin typeface="Cambria" pitchFamily="34" charset="0"/>
                <a:ea typeface="Cambria" pitchFamily="34" charset="-122"/>
                <a:cs typeface="Cambria" pitchFamily="34" charset="-120"/>
              </a:rPr>
              <a:t>Agni Renewables Industries</a:t>
            </a:r>
            <a:endParaRPr lang="en-US" sz="1400" dirty="0"/>
          </a:p>
        </p:txBody>
      </p:sp>
      <p:sp>
        <p:nvSpPr>
          <p:cNvPr id="14" name="Text 12"/>
          <p:cNvSpPr txBox="1"/>
          <p:nvPr/>
        </p:nvSpPr>
        <p:spPr>
          <a:xfrm>
            <a:off x="3383280" y="1783080"/>
            <a:ext cx="2331720" cy="228600"/>
          </a:xfrm>
          <a:prstGeom prst="rect">
            <a:avLst/>
          </a:prstGeom>
          <a:noFill/>
          <a:ln/>
        </p:spPr>
        <p:txBody>
          <a:bodyPr wrap="square" lIns="0" tIns="0" rIns="0" bIns="0" rtlCol="0" anchor="ctr"/>
          <a:lstStyle/>
          <a:p>
            <a:pPr indent="0" marL="0">
              <a:buNone/>
            </a:pPr>
            <a:r>
              <a:rPr lang="en-US" sz="1000" b="1" dirty="0">
                <a:solidFill>
                  <a:srgbClr val="52514E"/>
                </a:solidFill>
                <a:latin typeface="Calibri" pitchFamily="34" charset="0"/>
                <a:ea typeface="Calibri" pitchFamily="34" charset="-122"/>
                <a:cs typeface="Calibri" pitchFamily="34" charset="-120"/>
              </a:rPr>
              <a:t>Helix displacement · T00084</a:t>
            </a:r>
            <a:endParaRPr lang="en-US" sz="1000" dirty="0"/>
          </a:p>
        </p:txBody>
      </p:sp>
      <p:sp>
        <p:nvSpPr>
          <p:cNvPr id="15" name="Text 13"/>
          <p:cNvSpPr txBox="1"/>
          <p:nvPr/>
        </p:nvSpPr>
        <p:spPr>
          <a:xfrm>
            <a:off x="3383280" y="2103120"/>
            <a:ext cx="2331720" cy="146304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20 plants, Helix incumbent, route-based monitoring. Land a paid pilot on critical assets at one station; integrate, don’t replace.</a:t>
            </a:r>
            <a:endParaRPr lang="en-US" sz="1050" dirty="0"/>
          </a:p>
        </p:txBody>
      </p:sp>
      <p:sp>
        <p:nvSpPr>
          <p:cNvPr id="16" name="Text 14"/>
          <p:cNvSpPr txBox="1"/>
          <p:nvPr/>
        </p:nvSpPr>
        <p:spPr>
          <a:xfrm>
            <a:off x="3383280" y="3703320"/>
            <a:ext cx="2331720" cy="548640"/>
          </a:xfrm>
          <a:prstGeom prst="rect">
            <a:avLst/>
          </a:prstGeom>
          <a:noFill/>
          <a:ln/>
        </p:spPr>
        <p:txBody>
          <a:bodyPr wrap="square" lIns="0" tIns="0" rIns="0" bIns="0" rtlCol="0" anchor="t"/>
          <a:lstStyle/>
          <a:p>
            <a:pPr indent="0" marL="0">
              <a:buNone/>
            </a:pPr>
            <a:r>
              <a:rPr lang="en-US" sz="1150" b="1" dirty="0">
                <a:solidFill>
                  <a:srgbClr val="EB6834"/>
                </a:solidFill>
                <a:latin typeface="Calibri" pitchFamily="34" charset="0"/>
                <a:ea typeface="Calibri" pitchFamily="34" charset="-122"/>
                <a:cs typeface="Calibri" pitchFamily="34" charset="-120"/>
              </a:rPr>
              <a:t>₹0.7 cr pilot · stop at day 90 without EB</a:t>
            </a:r>
            <a:endParaRPr lang="en-US" sz="1150" dirty="0"/>
          </a:p>
        </p:txBody>
      </p:sp>
      <p:sp>
        <p:nvSpPr>
          <p:cNvPr id="17" name="Shape 15"/>
          <p:cNvSpPr/>
          <p:nvPr/>
        </p:nvSpPr>
        <p:spPr>
          <a:xfrm>
            <a:off x="6035040" y="1280160"/>
            <a:ext cx="2606040" cy="3154680"/>
          </a:xfrm>
          <a:prstGeom prst="rect">
            <a:avLst/>
          </a:prstGeom>
          <a:solidFill>
            <a:srgbClr val="F7F6F2"/>
          </a:solidFill>
          <a:ln w="12700">
            <a:solidFill>
              <a:srgbClr val="D9D8D2"/>
            </a:solidFill>
            <a:prstDash val="solid"/>
          </a:ln>
        </p:spPr>
      </p:sp>
      <p:sp>
        <p:nvSpPr>
          <p:cNvPr id="18" name="Shape 16"/>
          <p:cNvSpPr/>
          <p:nvPr/>
        </p:nvSpPr>
        <p:spPr>
          <a:xfrm>
            <a:off x="6035040" y="1280160"/>
            <a:ext cx="2606040" cy="73152"/>
          </a:xfrm>
          <a:prstGeom prst="rect">
            <a:avLst/>
          </a:prstGeom>
          <a:solidFill>
            <a:srgbClr val="1BAF7A"/>
          </a:solidFill>
          <a:ln w="12700">
            <a:solidFill>
              <a:srgbClr val="1BAF7A"/>
            </a:solidFill>
            <a:prstDash val="solid"/>
          </a:ln>
        </p:spPr>
      </p:sp>
      <p:sp>
        <p:nvSpPr>
          <p:cNvPr id="19" name="Text 17"/>
          <p:cNvSpPr txBox="1"/>
          <p:nvPr/>
        </p:nvSpPr>
        <p:spPr>
          <a:xfrm>
            <a:off x="6172200" y="1463040"/>
            <a:ext cx="2331720" cy="320040"/>
          </a:xfrm>
          <a:prstGeom prst="rect">
            <a:avLst/>
          </a:prstGeom>
          <a:noFill/>
          <a:ln/>
        </p:spPr>
        <p:txBody>
          <a:bodyPr wrap="square" lIns="0" tIns="0" rIns="0" bIns="0" rtlCol="0" anchor="ctr"/>
          <a:lstStyle/>
          <a:p>
            <a:pPr indent="0" marL="0">
              <a:buNone/>
            </a:pPr>
            <a:r>
              <a:rPr lang="en-US" sz="1400" b="1" dirty="0">
                <a:solidFill>
                  <a:srgbClr val="1F3A5F"/>
                </a:solidFill>
                <a:latin typeface="Cambria" pitchFamily="34" charset="0"/>
                <a:ea typeface="Cambria" pitchFamily="34" charset="-122"/>
                <a:cs typeface="Cambria" pitchFamily="34" charset="-120"/>
              </a:rPr>
              <a:t>Keystone Forgings Pvt Ltd</a:t>
            </a:r>
            <a:endParaRPr lang="en-US" sz="1400" dirty="0"/>
          </a:p>
        </p:txBody>
      </p:sp>
      <p:sp>
        <p:nvSpPr>
          <p:cNvPr id="20" name="Text 18"/>
          <p:cNvSpPr txBox="1"/>
          <p:nvPr/>
        </p:nvSpPr>
        <p:spPr>
          <a:xfrm>
            <a:off x="6172200" y="1783080"/>
            <a:ext cx="2331720" cy="228600"/>
          </a:xfrm>
          <a:prstGeom prst="rect">
            <a:avLst/>
          </a:prstGeom>
          <a:noFill/>
          <a:ln/>
        </p:spPr>
        <p:txBody>
          <a:bodyPr wrap="square" lIns="0" tIns="0" rIns="0" bIns="0" rtlCol="0" anchor="ctr"/>
          <a:lstStyle/>
          <a:p>
            <a:pPr indent="0" marL="0">
              <a:buNone/>
            </a:pPr>
            <a:r>
              <a:rPr lang="en-US" sz="1000" b="1" dirty="0">
                <a:solidFill>
                  <a:srgbClr val="52514E"/>
                </a:solidFill>
                <a:latin typeface="Calibri" pitchFamily="34" charset="0"/>
                <a:ea typeface="Calibri" pitchFamily="34" charset="-122"/>
                <a:cs typeface="Calibri" pitchFamily="34" charset="-120"/>
              </a:rPr>
              <a:t>New logo · T02772</a:t>
            </a:r>
            <a:endParaRPr lang="en-US" sz="1000" dirty="0"/>
          </a:p>
        </p:txBody>
      </p:sp>
      <p:sp>
        <p:nvSpPr>
          <p:cNvPr id="21" name="Text 19"/>
          <p:cNvSpPr txBox="1"/>
          <p:nvPr/>
        </p:nvSpPr>
        <p:spPr>
          <a:xfrm>
            <a:off x="6172200" y="2103120"/>
            <a:ext cx="2331720" cy="146304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Highest fit in the tier, no monitoring, no Helix, zero contacts ever. Reference-led entry via an expanding customer.</a:t>
            </a:r>
            <a:endParaRPr lang="en-US" sz="1050" dirty="0"/>
          </a:p>
        </p:txBody>
      </p:sp>
      <p:sp>
        <p:nvSpPr>
          <p:cNvPr id="22" name="Text 20"/>
          <p:cNvSpPr txBox="1"/>
          <p:nvPr/>
        </p:nvSpPr>
        <p:spPr>
          <a:xfrm>
            <a:off x="6172200" y="3703320"/>
            <a:ext cx="2331720" cy="548640"/>
          </a:xfrm>
          <a:prstGeom prst="rect">
            <a:avLst/>
          </a:prstGeom>
          <a:noFill/>
          <a:ln/>
        </p:spPr>
        <p:txBody>
          <a:bodyPr wrap="square" lIns="0" tIns="0" rIns="0" bIns="0" rtlCol="0" anchor="t"/>
          <a:lstStyle/>
          <a:p>
            <a:pPr indent="0" marL="0">
              <a:buNone/>
            </a:pPr>
            <a:r>
              <a:rPr lang="en-US" sz="1150" b="1" dirty="0">
                <a:solidFill>
                  <a:srgbClr val="0E7A53"/>
                </a:solidFill>
                <a:latin typeface="Calibri" pitchFamily="34" charset="0"/>
                <a:ea typeface="Calibri" pitchFamily="34" charset="-122"/>
                <a:cs typeface="Calibri" pitchFamily="34" charset="-120"/>
              </a:rPr>
              <a:t>₹0.8 cr pilot → ₹1.0 cr</a:t>
            </a:r>
            <a:endParaRPr lang="en-US" sz="1150" dirty="0"/>
          </a:p>
        </p:txBody>
      </p:sp>
      <p:sp>
        <p:nvSpPr>
          <p:cNvPr id="23" name="Text 21"/>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Each plan (2 pages): committee map, ₹ value hypothesis, MEDDPICC status, mutual action plan, 90-day plan. See D2_Account_Plans.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THE PANEL QUESTION</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200" b="1" dirty="0">
                <a:solidFill>
                  <a:srgbClr val="1F3A5F"/>
                </a:solidFill>
                <a:latin typeface="Cambria" pitchFamily="34" charset="0"/>
                <a:ea typeface="Cambria" pitchFamily="34" charset="-122"/>
                <a:cs typeface="Cambria" pitchFamily="34" charset="-120"/>
              </a:rPr>
              <a:t>What we stop doing so AEs have time to run these plans</a:t>
            </a:r>
            <a:endParaRPr lang="en-US" sz="22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D2</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3657600"/>
                <a:gridCol w="1645920"/>
                <a:gridCol w="2926080"/>
              </a:tblGrid>
              <a:tr h="23774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Stop</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Frees</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Evidence</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AE prospecting in 1,600 low-touch accounts (781 on a stop-list)</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~60% of AE touches</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Low-touch: 12% win rate, 12% of won ARR</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Cutting trade events from ₹9.6 cr to ₹4.5 cr</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₹5.1 cr of budget</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₹37 lakh per qualified opp; 9% win</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Renewing large customers flat with no expansion proposal</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Expansion upside</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Top-30 expansion fell ₹21.3 → ₹9.5 cr</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Head-on Helix replacement pitches and discounting against the bundle</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AE and SE time</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0 of 11 such proposals won in FY26</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Direct AE prospecting in SEA outside the strategic tier</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2 AEs → partner co-sell</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SEA partner deals win 34% vs 10%</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Hiring 12 AEs in H1 FY27</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~₹6 cr a year</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Adds ₹1.1 cr FY27 capacity (ramp)</a:t>
                      </a:r>
                      <a:endParaRPr lang="en-US" sz="1050" dirty="0">
                        <a:latin typeface="Calibri" charset="0"/>
                        <a:ea typeface="Calibri" charset="0"/>
                        <a:cs typeface="Calibri" charset="0"/>
                      </a:endParaRPr>
                    </a:p>
                  </a:txBody>
                  <a:tcPr marL="45720" marR="45720" marT="45720" marB="45720"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bl>
          </a:graphicData>
        </a:graphic>
      </p:graphicFrame>
      <p:sp>
        <p:nvSpPr>
          <p:cNvPr id="6" name="Text 3"/>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Decisions needed: CRO approves tiers and stop-list; CMO approves budget moves; CFO notes the plan is capacity-neutral in FY27. Assumptions to validate: accounts per AE, ABM cost per opp, lead conversion rates.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Strata Sense D2: Account Planning and Lead Generation</dc:title>
  <dc:subject>PptxGenJS Presentation</dc:subject>
  <dc:creator>PptxGenJS</dc:creator>
  <cp:lastModifiedBy>PptxGenJS</cp:lastModifiedBy>
  <cp:revision>1</cp:revision>
  <dcterms:created xsi:type="dcterms:W3CDTF">2026-09-23T06:48:15Z</dcterms:created>
  <dcterms:modified xsi:type="dcterms:W3CDTF">2026-09-23T06:48:15Z</dcterms:modified>
</cp:coreProperties>
</file>