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3.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52514E"/>
                </a:solidFill>
                <a:latin typeface="Arial"/>
              </a:defRPr>
            </a:pPr>
            <a:r>
              <a:rPr sz="1100" b="0" i="0" u="none" strike="noStrike">
                <a:solidFill>
                  <a:srgbClr val="52514E"/>
                </a:solidFill>
                <a:latin typeface="Arial"/>
              </a:rPr>
              <a:t>Win rate on qualified deals, FY24–26</a:t>
            </a:r>
          </a:p>
        </c:rich>
      </c:tx>
      <c:layout/>
      <c:overlay val="0"/>
    </c:title>
    <c:autoTitleDeleted val="0"/>
    <c:plotArea>
      <c:layout/>
      <c:barChart>
        <c:barDir val="col"/>
        <c:grouping val="clustered"/>
        <c:varyColors val="0"/>
        <c:ser>
          <c:idx val="0"/>
          <c:order val="0"/>
          <c:tx>
            <c:strRef>
              <c:f>Sheet1!$B$1</c:f>
              <c:strCache>
                <c:ptCount val="1"/>
                <c:pt idx="0">
                  <c:v>Direct</c:v>
                </c:pt>
              </c:strCache>
            </c:strRef>
          </c:tx>
          <c:spPr>
            <a:solidFill>
              <a:srgbClr val="A3A29C"/>
            </a:solidFill>
            <a:effectLst/>
          </c:spPr>
          <c:invertIfNegative val="0"/>
          <c:dLbls>
            <c:numFmt formatCode="0%" sourceLinked="0"/>
            <c:txPr>
              <a:bodyPr/>
              <a:lstStyle/>
              <a:p>
                <a:pPr>
                  <a:defRPr b="0" i="0" strike="noStrike" sz="1100" u="none">
                    <a:solidFill>
                      <a:srgbClr val="1A1A1A"/>
                    </a:solidFill>
                    <a:latin typeface="Arial"/>
                  </a:defRPr>
                </a:pPr>
              </a:p>
            </c:txPr>
            <c:showLegendKey val="0"/>
            <c:showVal val="1"/>
            <c:showCatName val="0"/>
            <c:showSerName val="0"/>
            <c:showPercent val="0"/>
            <c:showBubbleSize val="0"/>
            <c:showLeaderLines val="0"/>
          </c:dLbls>
          <c:cat>
            <c:multiLvlStrRef>
              <c:f>Sheet1!$A$2:$A$3</c:f>
              <c:multiLvlStrCache>
                <c:ptCount val="2"/>
                <c:lvl>
                  <c:pt idx="0">
                    <c:v>India</c:v>
                  </c:pt>
                  <c:pt idx="1">
                    <c:v>South-East Asia</c:v>
                  </c:pt>
                </c:lvl>
              </c:multiLvlStrCache>
            </c:multiLvlStrRef>
          </c:cat>
          <c:val>
            <c:numRef>
              <c:f>Sheet1!$B$2:$B$3</c:f>
              <c:numCache>
                <c:formatCode>General</c:formatCode>
                <c:ptCount val="2"/>
                <c:pt idx="0">
                  <c:v>0.22</c:v>
                </c:pt>
                <c:pt idx="1">
                  <c:v>0.1</c:v>
                </c:pt>
              </c:numCache>
            </c:numRef>
          </c:val>
        </c:ser>
        <c:ser>
          <c:idx val="1"/>
          <c:order val="1"/>
          <c:tx>
            <c:strRef>
              <c:f>Sheet1!$C$1</c:f>
              <c:strCache>
                <c:ptCount val="1"/>
                <c:pt idx="0">
                  <c:v>Partner-sourced</c:v>
                </c:pt>
              </c:strCache>
            </c:strRef>
          </c:tx>
          <c:spPr>
            <a:solidFill>
              <a:srgbClr val="2A78D6"/>
            </a:solidFill>
            <a:effectLst/>
          </c:spPr>
          <c:invertIfNegative val="0"/>
          <c:dLbls>
            <c:numFmt formatCode="0%" sourceLinked="0"/>
            <c:txPr>
              <a:bodyPr/>
              <a:lstStyle/>
              <a:p>
                <a:pPr>
                  <a:defRPr b="0" i="0" strike="noStrike" sz="1100" u="none">
                    <a:solidFill>
                      <a:srgbClr val="1A1A1A"/>
                    </a:solidFill>
                    <a:latin typeface="Arial"/>
                  </a:defRPr>
                </a:pPr>
              </a:p>
            </c:txPr>
            <c:showLegendKey val="0"/>
            <c:showVal val="1"/>
            <c:showCatName val="0"/>
            <c:showSerName val="0"/>
            <c:showPercent val="0"/>
            <c:showBubbleSize val="0"/>
            <c:showLeaderLines val="0"/>
          </c:dLbls>
          <c:cat>
            <c:multiLvlStrRef>
              <c:f>Sheet1!$A$2:$A$3</c:f>
              <c:multiLvlStrCache>
                <c:ptCount val="2"/>
                <c:lvl>
                  <c:pt idx="0">
                    <c:v>India</c:v>
                  </c:pt>
                  <c:pt idx="1">
                    <c:v>South-East Asia</c:v>
                  </c:pt>
                </c:lvl>
              </c:multiLvlStrCache>
            </c:multiLvlStrRef>
          </c:cat>
          <c:val>
            <c:numRef>
              <c:f>Sheet1!$C$2:$C$3</c:f>
              <c:numCache>
                <c:formatCode>General</c:formatCode>
                <c:ptCount val="2"/>
                <c:pt idx="0">
                  <c:v>0.12</c:v>
                </c:pt>
                <c:pt idx="1">
                  <c:v>0.34</c:v>
                </c:pt>
              </c:numCache>
            </c:numRef>
          </c:val>
        </c:ser>
        <c:dLbls>
          <c:numFmt formatCode="0%" sourceLinked="0"/>
          <c:txPr>
            <a:bodyPr/>
            <a:lstStyle/>
            <a:p>
              <a:pPr>
                <a:defRPr b="0" i="0" strike="noStrike" sz="1100" u="none">
                  <a:solidFill>
                    <a:srgbClr val="1A1A1A"/>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2514E"/>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52514E"/>
                </a:solidFill>
                <a:latin typeface="Arial"/>
              </a:defRPr>
            </a:pPr>
            <a:r>
              <a:rPr sz="1100" b="0" i="0" u="none" strike="noStrike">
                <a:solidFill>
                  <a:srgbClr val="52514E"/>
                </a:solidFill>
                <a:latin typeface="Arial"/>
              </a:rPr>
              <a:t>Partner-sourced new-logo ARR (₹ cr)</a:t>
            </a:r>
          </a:p>
        </c:rich>
      </c:tx>
      <c:layout/>
      <c:overlay val="0"/>
    </c:title>
    <c:autoTitleDeleted val="0"/>
    <c:plotArea>
      <c:layout/>
      <c:barChart>
        <c:barDir val="col"/>
        <c:grouping val="stacked"/>
        <c:varyColors val="0"/>
        <c:ser>
          <c:idx val="0"/>
          <c:order val="0"/>
          <c:tx>
            <c:strRef>
              <c:f>Sheet1!$B$1</c:f>
              <c:strCache>
                <c:ptCount val="1"/>
                <c:pt idx="0">
                  <c:v>Existing partners</c:v>
                </c:pt>
              </c:strCache>
            </c:strRef>
          </c:tx>
          <c:spPr>
            <a:solidFill>
              <a:srgbClr val="A3A29C"/>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FY27</c:v>
                  </c:pt>
                  <c:pt idx="1">
                    <c:v>FY28</c:v>
                  </c:pt>
                  <c:pt idx="2">
                    <c:v>FY29</c:v>
                  </c:pt>
                </c:lvl>
              </c:multiLvlStrCache>
            </c:multiLvlStrRef>
          </c:cat>
          <c:val>
            <c:numRef>
              <c:f>Sheet1!$B$2:$B$4</c:f>
              <c:numCache>
                <c:formatCode>General</c:formatCode>
                <c:ptCount val="3"/>
                <c:pt idx="0">
                  <c:v>2.26</c:v>
                </c:pt>
                <c:pt idx="1">
                  <c:v>2.48</c:v>
                </c:pt>
                <c:pt idx="2">
                  <c:v>2.73</c:v>
                </c:pt>
              </c:numCache>
            </c:numRef>
          </c:val>
        </c:ser>
        <c:ser>
          <c:idx val="1"/>
          <c:order val="1"/>
          <c:tx>
            <c:strRef>
              <c:f>Sheet1!$C$1</c:f>
              <c:strCache>
                <c:ptCount val="1"/>
                <c:pt idx="0">
                  <c:v>FY27 recruits (8)</c:v>
                </c:pt>
              </c:strCache>
            </c:strRef>
          </c:tx>
          <c:spPr>
            <a:solidFill>
              <a:srgbClr val="2A78D6"/>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FY27</c:v>
                  </c:pt>
                  <c:pt idx="1">
                    <c:v>FY28</c:v>
                  </c:pt>
                  <c:pt idx="2">
                    <c:v>FY29</c:v>
                  </c:pt>
                </c:lvl>
              </c:multiLvlStrCache>
            </c:multiLvlStrRef>
          </c:cat>
          <c:val>
            <c:numRef>
              <c:f>Sheet1!$C$2:$C$4</c:f>
              <c:numCache>
                <c:formatCode>General</c:formatCode>
                <c:ptCount val="3"/>
                <c:pt idx="0">
                  <c:v>1.44</c:v>
                </c:pt>
                <c:pt idx="1">
                  <c:v>5.76</c:v>
                </c:pt>
                <c:pt idx="2">
                  <c:v>9.6</c:v>
                </c:pt>
              </c:numCache>
            </c:numRef>
          </c:val>
        </c:ser>
        <c:ser>
          <c:idx val="2"/>
          <c:order val="2"/>
          <c:tx>
            <c:strRef>
              <c:f>Sheet1!$D$1</c:f>
              <c:strCache>
                <c:ptCount val="1"/>
                <c:pt idx="0">
                  <c:v>FY28 recruits (9)</c:v>
                </c:pt>
              </c:strCache>
            </c:strRef>
          </c:tx>
          <c:spPr>
            <a:solidFill>
              <a:srgbClr val="1BAF7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FY27</c:v>
                  </c:pt>
                  <c:pt idx="1">
                    <c:v>FY28</c:v>
                  </c:pt>
                  <c:pt idx="2">
                    <c:v>FY29</c:v>
                  </c:pt>
                </c:lvl>
              </c:multiLvlStrCache>
            </c:multiLvlStrRef>
          </c:cat>
          <c:val>
            <c:numRef>
              <c:f>Sheet1!$D$2:$D$4</c:f>
              <c:numCache>
                <c:formatCode>General</c:formatCode>
                <c:ptCount val="3"/>
                <c:pt idx="0">
                  <c:v>0</c:v>
                </c:pt>
                <c:pt idx="1">
                  <c:v>1.62</c:v>
                </c:pt>
                <c:pt idx="2">
                  <c:v>6.48</c:v>
                </c:pt>
              </c:numCache>
            </c:numRef>
          </c:val>
        </c:ser>
        <c:ser>
          <c:idx val="3"/>
          <c:order val="3"/>
          <c:tx>
            <c:strRef>
              <c:f>Sheet1!$E$1</c:f>
              <c:strCache>
                <c:ptCount val="1"/>
                <c:pt idx="0">
                  <c:v>FY29 recruits (5)</c:v>
                </c:pt>
              </c:strCache>
            </c:strRef>
          </c:tx>
          <c:spPr>
            <a:solidFill>
              <a:srgbClr val="EB683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FY27</c:v>
                  </c:pt>
                  <c:pt idx="1">
                    <c:v>FY28</c:v>
                  </c:pt>
                  <c:pt idx="2">
                    <c:v>FY29</c:v>
                  </c:pt>
                </c:lvl>
              </c:multiLvlStrCache>
            </c:multiLvlStrRef>
          </c:cat>
          <c:val>
            <c:numRef>
              <c:f>Sheet1!$E$2:$E$4</c:f>
              <c:numCache>
                <c:formatCode>General</c:formatCode>
                <c:ptCount val="3"/>
                <c:pt idx="0">
                  <c:v>0</c:v>
                </c:pt>
                <c:pt idx="1">
                  <c:v>0</c:v>
                </c:pt>
                <c:pt idx="2">
                  <c:v>0.9</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2514E"/>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6E5E0"/>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2514E"/>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52514E"/>
                </a:solidFill>
                <a:latin typeface="Arial"/>
              </a:defRPr>
            </a:pPr>
            <a:r>
              <a:rPr sz="1100" b="0" i="0" u="none" strike="noStrike">
                <a:solidFill>
                  <a:srgbClr val="52514E"/>
                </a:solidFill>
                <a:latin typeface="Arial"/>
              </a:rPr>
              <a:t>Blended gross margin incl. partner margin (axis from 60%)</a:t>
            </a:r>
          </a:p>
        </c:rich>
      </c:tx>
      <c:layout/>
      <c:overlay val="0"/>
    </c:title>
    <c:autoTitleDeleted val="0"/>
    <c:plotArea>
      <c:layout/>
      <c:barChart>
        <c:barDir val="col"/>
        <c:grouping val="clustered"/>
        <c:varyColors val="0"/>
        <c:ser>
          <c:idx val="0"/>
          <c:order val="0"/>
          <c:tx>
            <c:strRef>
              <c:f>Sheet1!$B$1</c:f>
              <c:strCache>
                <c:ptCount val="1"/>
                <c:pt idx="0">
                  <c:v>Gross margin after partner margin</c:v>
                </c:pt>
              </c:strCache>
            </c:strRef>
          </c:tx>
          <c:spPr>
            <a:solidFill>
              <a:srgbClr val="2A78D6"/>
            </a:solidFill>
            <a:effectLst/>
          </c:spPr>
          <c:invertIfNegative val="0"/>
          <c:dLbls>
            <c:numFmt formatCode="0.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FY27</c:v>
                  </c:pt>
                  <c:pt idx="1">
                    <c:v>FY28</c:v>
                  </c:pt>
                  <c:pt idx="2">
                    <c:v>FY29</c:v>
                  </c:pt>
                </c:lvl>
              </c:multiLvlStrCache>
            </c:multiLvlStrRef>
          </c:cat>
          <c:val>
            <c:numRef>
              <c:f>Sheet1!$B$2:$B$4</c:f>
              <c:numCache>
                <c:formatCode>General</c:formatCode>
                <c:ptCount val="3"/>
                <c:pt idx="0">
                  <c:v>0.682</c:v>
                </c:pt>
                <c:pt idx="1">
                  <c:v>0.679</c:v>
                </c:pt>
                <c:pt idx="2">
                  <c:v>0.676</c:v>
                </c:pt>
              </c:numCache>
            </c:numRef>
          </c:val>
        </c:ser>
        <c:dLbls>
          <c:numFmt formatCode="0.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2514E"/>
                </a:solidFill>
                <a:latin typeface="Arial"/>
              </a:defRPr>
            </a:pPr>
            <a:endParaRPr lang="en-US"/>
          </a:p>
        </c:txPr>
        <c:crossAx val="2094734552"/>
        <c:crosses val="autoZero"/>
        <c:auto val="1"/>
        <c:lblAlgn val="ctr"/>
        <c:noMultiLvlLbl val="1"/>
      </c:catAx>
      <c:valAx>
        <c:axId val="2094734552"/>
        <c:scaling>
          <c:orientation val="minMax"/>
          <c:max val="0.7"/>
          <c:min val="0.6"/>
        </c:scaling>
        <c:delete val="0"/>
        <c:axPos val="l"/>
        <c:majorGridlines>
          <c:spPr>
            <a:ln w="6350" cap="flat">
              <a:solidFill>
                <a:srgbClr val="E6E5E0"/>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board objective is 25% of new-logo ARR from partners by FY29. Today it is about 6%, from 4 active partners out of 14 signed. D1 showed partners lose in India (12% win rate against 22% direct) but win in South-East Asia (34% against 10%). So the recommendation is a small, selective channel aimed where the direct team is weak: SEA, the Gulf, and machine builders who embed the sensor. The plan reaches 25% only if 17 partners are activated in FY27–28 and reach about ₹1.2 cr each. I put the odds of hitting 25% at roughly a coin flip, and I show when we stop if it is not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D1 rejected the idea that partners are a general fix. In India partner-sourced deals win half as often as direct deals, because the direct team already covers India and partners bring weaker, late-stage deals. In SEA it is the reverse: we have two AEs there and partners win three times as often. The partner base is mostly dormant, and two of the four active partners are tied to Helix, which matters for Inject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test for each job is whether a partner does it better or cheaper than an AE. Reach outside India, services and embed are clear yes. Strategic accounts and India scaled accounts are clear no, on D1 evidence. Keeping the top-30 direct also protects the renewal base, which is where Helix pressure is highest.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lists five partner types. Each gets one job and one tier so there is no overlap. The mix is a target, not a forecast; it drives the blended partner margin in the workbook.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means the partner earns its tier today. Fix means there is a reason to keep them but a specific condition to meet by a date. Exit is for partners with no activity. P05 and P11 are the hard calls: they are our biggest partners by volume but also sell Helix. I keep them, restricted, rather than exit, because exiting would drop about half of FY26 partner-sourced ARR at once. Count: 4 keep, 5 fix (P05, P11, P07, P08, P10), 5 exit, with P08 converting to exit if the pilot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Access carries the most weight because a partner that does not reach our target accounts adds nothing. Conflict risk is second because Inject 3 showed what happens when partners also sell Helix. PR05 would otherwise score well in Malaysia, but it is a Helix distributor. FY27 activations are these six plus the two reactivated partners P07 and P10, eight in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Margins are set by the work the partner does, not by volume alone. A referral just brings a qualified lead. A reseller carries the sale. Gold partners also deliver services, which is where integrators make most of their money, so we let them keep services revenue rather than pay higher licence margin. Renewal margin keeps partners interested in retention but falls after year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Channel conflict usually comes from AEs who lose credit and partners who lose protection. Fifty percent quota credit makes AEs neutral on partner deals without double counting bookings: the comp cost is in the direct-effort line of the channel P&amp;L. The Helix rule is new after Inject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ramp is the most important assumption. DR6 says 6 to 12 months to first deal. I model a partner activated mid-year as producing 15% of mature output that year, 60% the next, and full output from year three. Mature productivity is built bottom-up from the SEA partner win rate. If the win rate is closer to India levels, productivity halves; slide 13 shows that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board asks for 25% by FY29. Because of the ramp, what matters is how many partners we activate in FY27 and FY28, not FY29. The plan activates 8 in FY27 (six prospects and two reactivated partners) and 9 in FY28. That reaches 25.3%, only just. The sensitivity shows it is fragile: a 17% miss on productivity takes us to 21.6%.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panel asked for partner margin against the acquisition cost it saves. That is the substitution lens: partner deals would otherwise need AE and SE time costing ₹1.64 per rupee of new ARR. I also show the harsher incremental lens so nobody thinks I am hiding a loss. FY27 is a loss either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floor holds with room to spare. The bigger gross-margin risk is the Helix-response pricing in D5, not partner margin. D7 will combine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 answer: break-even is about ₹0.24 cr of sourced ARR per active partner per year on the substitution basis, or about ₹6.7 cr of total partner ARR in FY29. The active partners in FY26 averaged ₹0.49 cr, so a selected partner clears the bar. The danger is carrying dormant partners, which is why the average across all 14 signed partners was only ₹0.19 cr. How likely: FY27 almost certainly loses a little. After that it depends on selection. If recruits behave like FY26 India partners, we lose money in FY28 and have a 44% chance in FY29. That is why the kill gate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risk the brief flagged: partners tied to Helix will favour Helix. Exiting both would cost half our partner ARR overnight and hand their customers to Helix. Restriction limits the damage to the accounts where the conflict is real. The FY27 hit is small, ₹0.3 cr, because most FY27 partner ARR comes from new partners anyway. The lesson is structural: conflict risk is now 20% of the prospect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team is small on purpose: two partner managers in SEA, where the evidence is strongest, and a VP who owns partner ARR in the forecast. It grows only if partners activate. The scorecard thresholds are the same numbers as the break-even and the Inject 3 rules, so promote, coach and remove decisions follow the economics.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548640" y="640080"/>
            <a:ext cx="8046720" cy="274320"/>
          </a:xfrm>
          <a:prstGeom prst="rect">
            <a:avLst/>
          </a:prstGeom>
          <a:noFill/>
          <a:ln/>
        </p:spPr>
        <p:txBody>
          <a:bodyPr wrap="square" lIns="0" tIns="0" rIns="0" bIns="0" rtlCol="0" anchor="ctr"/>
          <a:lstStyle/>
          <a:p>
            <a:pPr indent="0" marL="0">
              <a:buNone/>
            </a:pPr>
            <a:r>
              <a:rPr lang="en-US" sz="1100" b="1" spc="200" kern="0" dirty="0">
                <a:solidFill>
                  <a:srgbClr val="F4B393"/>
                </a:solidFill>
                <a:latin typeface="Calibri" pitchFamily="34" charset="0"/>
                <a:ea typeface="Calibri" pitchFamily="34" charset="-122"/>
                <a:cs typeface="Calibri" pitchFamily="34" charset="-120"/>
              </a:rPr>
              <a:t>D6 · CHANNEL PARTNER EXPANSION STRATEGY</a:t>
            </a:r>
            <a:endParaRPr lang="en-US" sz="1100" dirty="0"/>
          </a:p>
        </p:txBody>
      </p:sp>
      <p:sp>
        <p:nvSpPr>
          <p:cNvPr id="3" name="Text 1"/>
          <p:cNvSpPr txBox="1"/>
          <p:nvPr/>
        </p:nvSpPr>
        <p:spPr>
          <a:xfrm>
            <a:off x="548640" y="1005840"/>
            <a:ext cx="7863840" cy="1371600"/>
          </a:xfrm>
          <a:prstGeom prst="rect">
            <a:avLst/>
          </a:prstGeom>
          <a:noFill/>
          <a:ln/>
        </p:spPr>
        <p:txBody>
          <a:bodyPr wrap="square" lIns="0" tIns="0" rIns="0" bIns="0" rtlCol="0" anchor="t"/>
          <a:lstStyle/>
          <a:p>
            <a:pPr indent="0" marL="0">
              <a:buNone/>
            </a:pPr>
            <a:r>
              <a:rPr lang="en-US" sz="2800" b="1" dirty="0">
                <a:solidFill>
                  <a:srgbClr val="FFFFFF"/>
                </a:solidFill>
                <a:latin typeface="Cambria" pitchFamily="34" charset="0"/>
                <a:ea typeface="Cambria" pitchFamily="34" charset="-122"/>
                <a:cs typeface="Cambria" pitchFamily="34" charset="-120"/>
              </a:rPr>
              <a:t>Build a small, selective channel for South-East Asia, the Gulf and machine builders, not more India resellers</a:t>
            </a:r>
            <a:endParaRPr lang="en-US" sz="2800" dirty="0"/>
          </a:p>
        </p:txBody>
      </p:sp>
      <p:sp>
        <p:nvSpPr>
          <p:cNvPr id="4" name="Text 2"/>
          <p:cNvSpPr txBox="1"/>
          <p:nvPr/>
        </p:nvSpPr>
        <p:spPr>
          <a:xfrm>
            <a:off x="548640" y="2926080"/>
            <a:ext cx="2560320" cy="4572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4 of 14</a:t>
            </a:r>
            <a:endParaRPr lang="en-US" sz="2200" dirty="0"/>
          </a:p>
        </p:txBody>
      </p:sp>
      <p:sp>
        <p:nvSpPr>
          <p:cNvPr id="5" name="Text 3"/>
          <p:cNvSpPr txBox="1"/>
          <p:nvPr/>
        </p:nvSpPr>
        <p:spPr>
          <a:xfrm>
            <a:off x="548640" y="3383280"/>
            <a:ext cx="2468880" cy="548640"/>
          </a:xfrm>
          <a:prstGeom prst="rect">
            <a:avLst/>
          </a:prstGeom>
          <a:noFill/>
          <a:ln/>
        </p:spPr>
        <p:txBody>
          <a:bodyPr wrap="square" lIns="0" tIns="0" rIns="0" bIns="0" rtlCol="0" anchor="t"/>
          <a:lstStyle/>
          <a:p>
            <a:pPr indent="0" marL="0">
              <a:buNone/>
            </a:pPr>
            <a:r>
              <a:rPr lang="en-US" sz="1100" dirty="0">
                <a:solidFill>
                  <a:srgbClr val="CADCFC"/>
                </a:solidFill>
                <a:latin typeface="Calibri" pitchFamily="34" charset="0"/>
                <a:ea typeface="Calibri" pitchFamily="34" charset="-122"/>
                <a:cs typeface="Calibri" pitchFamily="34" charset="-120"/>
              </a:rPr>
              <a:t>signed partners are active today; keep 4, fix 5, exit 5</a:t>
            </a:r>
            <a:endParaRPr lang="en-US" sz="1100" dirty="0"/>
          </a:p>
        </p:txBody>
      </p:sp>
      <p:sp>
        <p:nvSpPr>
          <p:cNvPr id="6" name="Text 4"/>
          <p:cNvSpPr txBox="1"/>
          <p:nvPr/>
        </p:nvSpPr>
        <p:spPr>
          <a:xfrm>
            <a:off x="3291840" y="2926080"/>
            <a:ext cx="2560320" cy="4572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₹19.7 cr</a:t>
            </a:r>
            <a:endParaRPr lang="en-US" sz="2200" dirty="0"/>
          </a:p>
        </p:txBody>
      </p:sp>
      <p:sp>
        <p:nvSpPr>
          <p:cNvPr id="7" name="Text 5"/>
          <p:cNvSpPr txBox="1"/>
          <p:nvPr/>
        </p:nvSpPr>
        <p:spPr>
          <a:xfrm>
            <a:off x="3291840" y="3383280"/>
            <a:ext cx="2468880" cy="548640"/>
          </a:xfrm>
          <a:prstGeom prst="rect">
            <a:avLst/>
          </a:prstGeom>
          <a:noFill/>
          <a:ln/>
        </p:spPr>
        <p:txBody>
          <a:bodyPr wrap="square" lIns="0" tIns="0" rIns="0" bIns="0" rtlCol="0" anchor="t"/>
          <a:lstStyle/>
          <a:p>
            <a:pPr indent="0" marL="0">
              <a:buNone/>
            </a:pPr>
            <a:r>
              <a:rPr lang="en-US" sz="1100" dirty="0">
                <a:solidFill>
                  <a:srgbClr val="CADCFC"/>
                </a:solidFill>
                <a:latin typeface="Calibri" pitchFamily="34" charset="0"/>
                <a:ea typeface="Calibri" pitchFamily="34" charset="-122"/>
                <a:cs typeface="Calibri" pitchFamily="34" charset="-120"/>
              </a:rPr>
              <a:t>FY29 partner-sourced ARR in plan = 25% of new logos (46% likely)</a:t>
            </a:r>
            <a:endParaRPr lang="en-US" sz="1100" dirty="0"/>
          </a:p>
        </p:txBody>
      </p:sp>
      <p:sp>
        <p:nvSpPr>
          <p:cNvPr id="8" name="Text 6"/>
          <p:cNvSpPr txBox="1"/>
          <p:nvPr/>
        </p:nvSpPr>
        <p:spPr>
          <a:xfrm>
            <a:off x="6035040" y="2926080"/>
            <a:ext cx="2560320" cy="4572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₹0.24 cr</a:t>
            </a:r>
            <a:endParaRPr lang="en-US" sz="2200" dirty="0"/>
          </a:p>
        </p:txBody>
      </p:sp>
      <p:sp>
        <p:nvSpPr>
          <p:cNvPr id="9" name="Text 7"/>
          <p:cNvSpPr txBox="1"/>
          <p:nvPr/>
        </p:nvSpPr>
        <p:spPr>
          <a:xfrm>
            <a:off x="6035040" y="3383280"/>
            <a:ext cx="2468880" cy="548640"/>
          </a:xfrm>
          <a:prstGeom prst="rect">
            <a:avLst/>
          </a:prstGeom>
          <a:noFill/>
          <a:ln/>
        </p:spPr>
        <p:txBody>
          <a:bodyPr wrap="square" lIns="0" tIns="0" rIns="0" bIns="0" rtlCol="0" anchor="t"/>
          <a:lstStyle/>
          <a:p>
            <a:pPr indent="0" marL="0">
              <a:buNone/>
            </a:pPr>
            <a:r>
              <a:rPr lang="en-US" sz="1100" dirty="0">
                <a:solidFill>
                  <a:srgbClr val="CADCFC"/>
                </a:solidFill>
                <a:latin typeface="Calibri" pitchFamily="34" charset="0"/>
                <a:ea typeface="Calibri" pitchFamily="34" charset="-122"/>
                <a:cs typeface="Calibri" pitchFamily="34" charset="-120"/>
              </a:rPr>
              <a:t>sourced ARR per partner per year below which the channel loses money</a:t>
            </a:r>
            <a:endParaRPr lang="en-US" sz="1100" dirty="0"/>
          </a:p>
        </p:txBody>
      </p:sp>
      <p:sp>
        <p:nvSpPr>
          <p:cNvPr id="10" name="Text 8"/>
          <p:cNvSpPr txBox="1"/>
          <p:nvPr/>
        </p:nvSpPr>
        <p:spPr>
          <a:xfrm>
            <a:off x="548640" y="4480560"/>
            <a:ext cx="8046720" cy="27432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Revenue Strategy Lead · Office of the CRO · Week 7, FY27 · Strata Sense Technologies is fictional; data synthetic</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28600"/>
            <a:ext cx="8229600" cy="228600"/>
          </a:xfrm>
          <a:prstGeom prst="rect">
            <a:avLst/>
          </a:prstGeom>
          <a:noFill/>
          <a:ln/>
        </p:spPr>
        <p:txBody>
          <a:bodyPr wrap="square" lIns="0" tIns="0" rIns="0" bIns="0" rtlCol="0" anchor="ctr"/>
          <a:lstStyle/>
          <a:p>
            <a:pPr indent="0" marL="0">
              <a:buNone/>
            </a:pPr>
            <a:r>
              <a:rPr lang="en-US" sz="1000" b="1" spc="200" kern="0" dirty="0">
                <a:solidFill>
                  <a:srgbClr val="EB6834"/>
                </a:solidFill>
                <a:latin typeface="Calibri" pitchFamily="34" charset="0"/>
                <a:ea typeface="Calibri" pitchFamily="34" charset="-122"/>
                <a:cs typeface="Calibri" pitchFamily="34" charset="-120"/>
              </a:rPr>
              <a:t>STARTING POINT (D1, DR6)</a:t>
            </a:r>
            <a:endParaRPr lang="en-US" sz="1000" dirty="0"/>
          </a:p>
        </p:txBody>
      </p:sp>
      <p:sp>
        <p:nvSpPr>
          <p:cNvPr id="3" name="Text 1"/>
          <p:cNvSpPr txBox="1"/>
          <p:nvPr/>
        </p:nvSpPr>
        <p:spPr>
          <a:xfrm>
            <a:off x="457200" y="438912"/>
            <a:ext cx="8229600" cy="685800"/>
          </a:xfrm>
          <a:prstGeom prst="rect">
            <a:avLst/>
          </a:prstGeom>
          <a:noFill/>
          <a:ln/>
        </p:spPr>
        <p:txBody>
          <a:bodyPr wrap="square" lIns="0" tIns="0" rIns="0" bIns="0" rtlCol="0" anchor="t"/>
          <a:lstStyle/>
          <a:p>
            <a:pPr indent="0" marL="0">
              <a:buNone/>
            </a:pPr>
            <a:r>
              <a:rPr lang="en-US" sz="2100" b="1" dirty="0">
                <a:solidFill>
                  <a:srgbClr val="1F3A5F"/>
                </a:solidFill>
                <a:latin typeface="Cambria" pitchFamily="34" charset="0"/>
                <a:ea typeface="Cambria" pitchFamily="34" charset="-122"/>
                <a:cs typeface="Cambria" pitchFamily="34" charset="-120"/>
              </a:rPr>
              <a:t>Partners help where we have no presence and hurt where our direct team is strong</a:t>
            </a:r>
            <a:endParaRPr lang="en-US" sz="2100" dirty="0"/>
          </a:p>
        </p:txBody>
      </p:sp>
      <p:sp>
        <p:nvSpPr>
          <p:cNvPr id="4" name="Text 2"/>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800" dirty="0">
                <a:solidFill>
                  <a:srgbClr val="A3A29C"/>
                </a:solidFill>
                <a:latin typeface="Calibri" pitchFamily="34" charset="0"/>
                <a:ea typeface="Calibri" pitchFamily="34" charset="-122"/>
                <a:cs typeface="Calibri" pitchFamily="34" charset="-120"/>
              </a:rPr>
              <a:t>Strata Sense (fictional) · D6</a:t>
            </a:r>
            <a:endParaRPr lang="en-US" sz="800" dirty="0"/>
          </a:p>
        </p:txBody>
      </p:sp>
      <p:graphicFrame>
        <p:nvGraphicFramePr>
          <p:cNvPr id="5" name="Chart 0" descr=""/>
          <p:cNvGraphicFramePr/>
          <p:nvPr/>
        </p:nvGraphicFramePr>
        <p:xfrm>
          <a:off x="457200" y="1234440"/>
          <a:ext cx="4572000" cy="329184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5486400" y="1280160"/>
            <a:ext cx="3200400" cy="457200"/>
          </a:xfrm>
          <a:prstGeom prst="rect">
            <a:avLst/>
          </a:prstGeom>
          <a:noFill/>
          <a:ln/>
        </p:spPr>
        <p:txBody>
          <a:bodyPr wrap="square" lIns="0" tIns="0" rIns="0" bIns="0" rtlCol="0" anchor="ctr"/>
          <a:lstStyle/>
          <a:p>
            <a:pPr indent="0" marL="0">
              <a:buNone/>
            </a:pPr>
            <a:r>
              <a:rPr lang="en-US" sz="2600" b="1" dirty="0">
                <a:solidFill>
                  <a:srgbClr val="1F3A5F"/>
                </a:solidFill>
                <a:latin typeface="Cambria" pitchFamily="34" charset="0"/>
                <a:ea typeface="Cambria" pitchFamily="34" charset="-122"/>
                <a:cs typeface="Cambria" pitchFamily="34" charset="-120"/>
              </a:rPr>
              <a:t>₹2.6 cr</a:t>
            </a:r>
            <a:endParaRPr lang="en-US" sz="2600" dirty="0"/>
          </a:p>
        </p:txBody>
      </p:sp>
      <p:sp>
        <p:nvSpPr>
          <p:cNvPr id="7" name="Text 4"/>
          <p:cNvSpPr txBox="1"/>
          <p:nvPr/>
        </p:nvSpPr>
        <p:spPr>
          <a:xfrm>
            <a:off x="5486400" y="1737360"/>
            <a:ext cx="3200400" cy="502920"/>
          </a:xfrm>
          <a:prstGeom prst="rect">
            <a:avLst/>
          </a:prstGeom>
          <a:noFill/>
          <a:ln/>
        </p:spPr>
        <p:txBody>
          <a:bodyPr wrap="square" lIns="0" tIns="0" rIns="0" bIns="0" rtlCol="0" anchor="t"/>
          <a:lstStyle/>
          <a:p>
            <a:pPr indent="0" marL="0">
              <a:buNone/>
            </a:pPr>
            <a:r>
              <a:rPr lang="en-US" sz="1050" dirty="0">
                <a:solidFill>
                  <a:srgbClr val="52514E"/>
                </a:solidFill>
                <a:latin typeface="Calibri" pitchFamily="34" charset="0"/>
                <a:ea typeface="Calibri" pitchFamily="34" charset="-122"/>
                <a:cs typeface="Calibri" pitchFamily="34" charset="-120"/>
              </a:rPr>
              <a:t>partner-sourced new-logo ARR in FY26, about 6% of ₹41 cr (after re-tagging 36 mis-tagged deals)</a:t>
            </a:r>
            <a:endParaRPr lang="en-US" sz="1050" dirty="0"/>
          </a:p>
        </p:txBody>
      </p:sp>
      <p:sp>
        <p:nvSpPr>
          <p:cNvPr id="8" name="Text 5"/>
          <p:cNvSpPr txBox="1"/>
          <p:nvPr/>
        </p:nvSpPr>
        <p:spPr>
          <a:xfrm>
            <a:off x="5486400" y="2331720"/>
            <a:ext cx="3200400" cy="457200"/>
          </a:xfrm>
          <a:prstGeom prst="rect">
            <a:avLst/>
          </a:prstGeom>
          <a:noFill/>
          <a:ln/>
        </p:spPr>
        <p:txBody>
          <a:bodyPr wrap="square" lIns="0" tIns="0" rIns="0" bIns="0" rtlCol="0" anchor="ctr"/>
          <a:lstStyle/>
          <a:p>
            <a:pPr indent="0" marL="0">
              <a:buNone/>
            </a:pPr>
            <a:r>
              <a:rPr lang="en-US" sz="2600" b="1" dirty="0">
                <a:solidFill>
                  <a:srgbClr val="EB6834"/>
                </a:solidFill>
                <a:latin typeface="Cambria" pitchFamily="34" charset="0"/>
                <a:ea typeface="Cambria" pitchFamily="34" charset="-122"/>
                <a:cs typeface="Cambria" pitchFamily="34" charset="-120"/>
              </a:rPr>
              <a:t>10 of 14</a:t>
            </a:r>
            <a:endParaRPr lang="en-US" sz="2600" dirty="0"/>
          </a:p>
        </p:txBody>
      </p:sp>
      <p:sp>
        <p:nvSpPr>
          <p:cNvPr id="9" name="Text 6"/>
          <p:cNvSpPr txBox="1"/>
          <p:nvPr/>
        </p:nvSpPr>
        <p:spPr>
          <a:xfrm>
            <a:off x="5486400" y="2788920"/>
            <a:ext cx="3200400" cy="502920"/>
          </a:xfrm>
          <a:prstGeom prst="rect">
            <a:avLst/>
          </a:prstGeom>
          <a:noFill/>
          <a:ln/>
        </p:spPr>
        <p:txBody>
          <a:bodyPr wrap="square" lIns="0" tIns="0" rIns="0" bIns="0" rtlCol="0" anchor="t"/>
          <a:lstStyle/>
          <a:p>
            <a:pPr indent="0" marL="0">
              <a:buNone/>
            </a:pPr>
            <a:r>
              <a:rPr lang="en-US" sz="1050" dirty="0">
                <a:solidFill>
                  <a:srgbClr val="52514E"/>
                </a:solidFill>
                <a:latin typeface="Calibri" pitchFamily="34" charset="0"/>
                <a:ea typeface="Calibri" pitchFamily="34" charset="-122"/>
                <a:cs typeface="Calibri" pitchFamily="34" charset="-120"/>
              </a:rPr>
              <a:t>signed partners inactive, occasional or never closed a deal</a:t>
            </a:r>
            <a:endParaRPr lang="en-US" sz="1050" dirty="0"/>
          </a:p>
        </p:txBody>
      </p:sp>
      <p:sp>
        <p:nvSpPr>
          <p:cNvPr id="10" name="Text 7"/>
          <p:cNvSpPr txBox="1"/>
          <p:nvPr/>
        </p:nvSpPr>
        <p:spPr>
          <a:xfrm>
            <a:off x="5486400" y="3383280"/>
            <a:ext cx="3200400" cy="457200"/>
          </a:xfrm>
          <a:prstGeom prst="rect">
            <a:avLst/>
          </a:prstGeom>
          <a:noFill/>
          <a:ln/>
        </p:spPr>
        <p:txBody>
          <a:bodyPr wrap="square" lIns="0" tIns="0" rIns="0" bIns="0" rtlCol="0" anchor="ctr"/>
          <a:lstStyle/>
          <a:p>
            <a:pPr indent="0" marL="0">
              <a:buNone/>
            </a:pPr>
            <a:r>
              <a:rPr lang="en-US" sz="2600" b="1" dirty="0">
                <a:solidFill>
                  <a:srgbClr val="EB6834"/>
                </a:solidFill>
                <a:latin typeface="Cambria" pitchFamily="34" charset="0"/>
                <a:ea typeface="Cambria" pitchFamily="34" charset="-122"/>
                <a:cs typeface="Cambria" pitchFamily="34" charset="-120"/>
              </a:rPr>
              <a:t>2 of 4</a:t>
            </a:r>
            <a:endParaRPr lang="en-US" sz="2600" dirty="0"/>
          </a:p>
        </p:txBody>
      </p:sp>
      <p:sp>
        <p:nvSpPr>
          <p:cNvPr id="11" name="Text 8"/>
          <p:cNvSpPr txBox="1"/>
          <p:nvPr/>
        </p:nvSpPr>
        <p:spPr>
          <a:xfrm>
            <a:off x="5486400" y="3840480"/>
            <a:ext cx="3200400" cy="502920"/>
          </a:xfrm>
          <a:prstGeom prst="rect">
            <a:avLst/>
          </a:prstGeom>
          <a:noFill/>
          <a:ln/>
        </p:spPr>
        <p:txBody>
          <a:bodyPr wrap="square" lIns="0" tIns="0" rIns="0" bIns="0" rtlCol="0" anchor="t"/>
          <a:lstStyle/>
          <a:p>
            <a:pPr indent="0" marL="0">
              <a:buNone/>
            </a:pPr>
            <a:r>
              <a:rPr lang="en-US" sz="1050" dirty="0">
                <a:solidFill>
                  <a:srgbClr val="52514E"/>
                </a:solidFill>
                <a:latin typeface="Calibri" pitchFamily="34" charset="0"/>
                <a:ea typeface="Calibri" pitchFamily="34" charset="-122"/>
                <a:cs typeface="Calibri" pitchFamily="34" charset="-120"/>
              </a:rPr>
              <a:t>active partners also sell Helix (P05, P11), and they hold 53% of open partner pipeline</a:t>
            </a:r>
            <a:endParaRPr lang="en-US" sz="1050" dirty="0"/>
          </a:p>
        </p:txBody>
      </p:sp>
      <p:sp>
        <p:nvSpPr>
          <p:cNvPr id="12" name="Text 9"/>
          <p:cNvSpPr txBox="1"/>
          <p:nvPr/>
        </p:nvSpPr>
        <p:spPr>
          <a:xfrm>
            <a:off x="457200" y="4617720"/>
            <a:ext cx="8229600" cy="201168"/>
          </a:xfrm>
          <a:prstGeom prst="rect">
            <a:avLst/>
          </a:prstGeom>
          <a:noFill/>
          <a:ln/>
        </p:spPr>
        <p:txBody>
          <a:bodyPr wrap="square" lIns="0" tIns="0" rIns="0" bIns="0" rtlCol="0" anchor="ctr"/>
          <a:lstStyle/>
          <a:p>
            <a:pPr indent="0" marL="0">
              <a:buNone/>
            </a:pPr>
            <a:r>
              <a:rPr lang="en-US" sz="800" i="1" dirty="0">
                <a:solidFill>
                  <a:srgbClr val="52514E"/>
                </a:solidFill>
                <a:latin typeface="Calibri" pitchFamily="34" charset="0"/>
                <a:ea typeface="Calibri" pitchFamily="34" charset="-122"/>
                <a:cs typeface="Calibri" pitchFamily="34" charset="-120"/>
              </a:rPr>
              <a:t>Source: DR1 clean deals FY24–26 (D1 H5 test); DR6 partner file. Gulf: too few partner deals to measure.</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28600"/>
            <a:ext cx="8229600" cy="228600"/>
          </a:xfrm>
          <a:prstGeom prst="rect">
            <a:avLst/>
          </a:prstGeom>
          <a:noFill/>
          <a:ln/>
        </p:spPr>
        <p:txBody>
          <a:bodyPr wrap="square" lIns="0" tIns="0" rIns="0" bIns="0" rtlCol="0" anchor="ctr"/>
          <a:lstStyle/>
          <a:p>
            <a:pPr indent="0" marL="0">
              <a:buNone/>
            </a:pPr>
            <a:r>
              <a:rPr lang="en-US" sz="1000" b="1" spc="200" kern="0" dirty="0">
                <a:solidFill>
                  <a:srgbClr val="EB6834"/>
                </a:solidFill>
                <a:latin typeface="Calibri" pitchFamily="34" charset="0"/>
                <a:ea typeface="Calibri" pitchFamily="34" charset="-122"/>
                <a:cs typeface="Calibri" pitchFamily="34" charset="-120"/>
              </a:rPr>
              <a:t>ROLE OF THE CHANNEL</a:t>
            </a:r>
            <a:endParaRPr lang="en-US" sz="1000" dirty="0"/>
          </a:p>
        </p:txBody>
      </p:sp>
      <p:sp>
        <p:nvSpPr>
          <p:cNvPr id="3" name="Text 1"/>
          <p:cNvSpPr txBox="1"/>
          <p:nvPr/>
        </p:nvSpPr>
        <p:spPr>
          <a:xfrm>
            <a:off x="457200" y="438912"/>
            <a:ext cx="8229600" cy="685800"/>
          </a:xfrm>
          <a:prstGeom prst="rect">
            <a:avLst/>
          </a:prstGeom>
          <a:noFill/>
          <a:ln/>
        </p:spPr>
        <p:txBody>
          <a:bodyPr wrap="square" lIns="0" tIns="0" rIns="0" bIns="0" rtlCol="0" anchor="t"/>
          <a:lstStyle/>
          <a:p>
            <a:pPr indent="0" marL="0">
              <a:buNone/>
            </a:pPr>
            <a:r>
              <a:rPr lang="en-US" sz="2100" b="1" dirty="0">
                <a:solidFill>
                  <a:srgbClr val="1F3A5F"/>
                </a:solidFill>
                <a:latin typeface="Cambria" pitchFamily="34" charset="0"/>
                <a:ea typeface="Cambria" pitchFamily="34" charset="-122"/>
                <a:cs typeface="Cambria" pitchFamily="34" charset="-120"/>
              </a:rPr>
              <a:t>Partners take the reach, trust and services jobs that 64 AEs cannot do; strategic accounts stay direct</a:t>
            </a:r>
            <a:endParaRPr lang="en-US" sz="2100" dirty="0"/>
          </a:p>
        </p:txBody>
      </p:sp>
      <p:sp>
        <p:nvSpPr>
          <p:cNvPr id="4" name="Text 2"/>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800" dirty="0">
                <a:solidFill>
                  <a:srgbClr val="A3A29C"/>
                </a:solidFill>
                <a:latin typeface="Calibri" pitchFamily="34" charset="0"/>
                <a:ea typeface="Calibri" pitchFamily="34" charset="-122"/>
                <a:cs typeface="Calibri" pitchFamily="34" charset="-120"/>
              </a:rPr>
              <a:t>Strata Sense (fictional) · D6</a:t>
            </a:r>
            <a:endParaRPr lang="en-US" sz="800" dirty="0"/>
          </a:p>
        </p:txBody>
      </p:sp>
      <p:sp>
        <p:nvSpPr>
          <p:cNvPr id="5" name="Shape 3"/>
          <p:cNvSpPr/>
          <p:nvPr/>
        </p:nvSpPr>
        <p:spPr>
          <a:xfrm>
            <a:off x="457200" y="1234440"/>
            <a:ext cx="3977640" cy="3246120"/>
          </a:xfrm>
          <a:prstGeom prst="rect">
            <a:avLst/>
          </a:prstGeom>
          <a:solidFill>
            <a:srgbClr val="F7F6F2"/>
          </a:solidFill>
          <a:ln w="12700">
            <a:solidFill>
              <a:srgbClr val="D9D8D2"/>
            </a:solidFill>
            <a:prstDash val="solid"/>
          </a:ln>
        </p:spPr>
      </p:sp>
      <p:sp>
        <p:nvSpPr>
          <p:cNvPr id="6" name="Shape 4"/>
          <p:cNvSpPr/>
          <p:nvPr/>
        </p:nvSpPr>
        <p:spPr>
          <a:xfrm>
            <a:off x="457200" y="1234440"/>
            <a:ext cx="64008" cy="3246120"/>
          </a:xfrm>
          <a:prstGeom prst="rect">
            <a:avLst/>
          </a:prstGeom>
          <a:solidFill>
            <a:srgbClr val="2A78D6"/>
          </a:solidFill>
          <a:ln w="12700">
            <a:solidFill>
              <a:srgbClr val="2A78D6"/>
            </a:solidFill>
            <a:prstDash val="solid"/>
          </a:ln>
        </p:spPr>
      </p:sp>
      <p:sp>
        <p:nvSpPr>
          <p:cNvPr id="7" name="Text 5"/>
          <p:cNvSpPr txBox="1"/>
          <p:nvPr/>
        </p:nvSpPr>
        <p:spPr>
          <a:xfrm>
            <a:off x="621792" y="1307592"/>
            <a:ext cx="3721608" cy="3118104"/>
          </a:xfrm>
          <a:prstGeom prst="rect">
            <a:avLst/>
          </a:prstGeom>
          <a:noFill/>
          <a:ln/>
        </p:spPr>
        <p:txBody>
          <a:bodyPr wrap="square" lIns="0" tIns="0" rIns="0" bIns="0" rtlCol="0" anchor="t"/>
          <a:lstStyle/>
          <a:p>
            <a:pPr indent="0" marL="0">
              <a:buNone/>
            </a:pPr>
            <a:r>
              <a:rPr lang="en-US" sz="1200" b="1" dirty="0">
                <a:solidFill>
                  <a:srgbClr val="1A1A1A"/>
                </a:solidFill>
                <a:latin typeface="Calibri" pitchFamily="34" charset="0"/>
                <a:ea typeface="Calibri" pitchFamily="34" charset="-122"/>
                <a:cs typeface="Calibri" pitchFamily="34" charset="-120"/>
              </a:rPr>
              <a:t>What partners do</a:t>
            </a:r>
            <a:endParaRPr lang="en-US" sz="1200" dirty="0"/>
          </a:p>
          <a:p>
            <a:pPr indent="0" marL="0">
              <a:buNone/>
            </a:pPr>
            <a:r>
              <a:rPr lang="en-US" sz="1150" dirty="0">
                <a:solidFill>
                  <a:srgbClr val="52514E"/>
                </a:solidFill>
                <a:latin typeface="Calibri" pitchFamily="34" charset="0"/>
                <a:ea typeface="Calibri" pitchFamily="34" charset="-122"/>
                <a:cs typeface="Calibri" pitchFamily="34" charset="-120"/>
              </a:rPr>
              <a:t>• South-East Asia and the Gulf: we have 2 AEs outside India; partners have local teams and language</a:t>
            </a:r>
            <a:endParaRPr lang="en-US" sz="1200" dirty="0"/>
          </a:p>
          <a:p>
            <a:pPr indent="0" marL="0">
              <a:buNone/>
            </a:pPr>
            <a:r>
              <a:rPr lang="en-US" sz="1150" dirty="0">
                <a:solidFill>
                  <a:srgbClr val="52514E"/>
                </a:solidFill>
                <a:latin typeface="Calibri" pitchFamily="34" charset="0"/>
                <a:ea typeface="Calibri" pitchFamily="34" charset="-122"/>
                <a:cs typeface="Calibri" pitchFamily="34" charset="-120"/>
              </a:rPr>
              <a:t>• Low-touch tier (1,600 accounts, D2): referral and resale where an AE visit does not pay back</a:t>
            </a:r>
            <a:endParaRPr lang="en-US" sz="1200" dirty="0"/>
          </a:p>
          <a:p>
            <a:pPr indent="0" marL="0">
              <a:buNone/>
            </a:pPr>
            <a:r>
              <a:rPr lang="en-US" sz="1150" dirty="0">
                <a:solidFill>
                  <a:srgbClr val="52514E"/>
                </a:solidFill>
                <a:latin typeface="Calibri" pitchFamily="34" charset="0"/>
                <a:ea typeface="Calibri" pitchFamily="34" charset="-122"/>
                <a:cs typeface="Calibri" pitchFamily="34" charset="-120"/>
              </a:rPr>
              <a:t>• Installation, integration with plant systems, and 24x7 service</a:t>
            </a:r>
            <a:endParaRPr lang="en-US" sz="1200" dirty="0"/>
          </a:p>
          <a:p>
            <a:pPr indent="0" marL="0">
              <a:buNone/>
            </a:pPr>
            <a:r>
              <a:rPr lang="en-US" sz="1150" dirty="0">
                <a:solidFill>
                  <a:srgbClr val="52514E"/>
                </a:solidFill>
                <a:latin typeface="Calibri" pitchFamily="34" charset="0"/>
                <a:ea typeface="Calibri" pitchFamily="34" charset="-122"/>
                <a:cs typeface="Calibri" pitchFamily="34" charset="-120"/>
              </a:rPr>
              <a:t>• Plant-floor trust: maintenance heads already buy from their integrator</a:t>
            </a:r>
            <a:endParaRPr lang="en-US" sz="1200" dirty="0"/>
          </a:p>
          <a:p>
            <a:pPr indent="0" marL="0">
              <a:buNone/>
            </a:pPr>
            <a:r>
              <a:rPr lang="en-US" sz="1150" dirty="0">
                <a:solidFill>
                  <a:srgbClr val="52514E"/>
                </a:solidFill>
                <a:latin typeface="Calibri" pitchFamily="34" charset="0"/>
                <a:ea typeface="Calibri" pitchFamily="34" charset="-122"/>
                <a:cs typeface="Calibri" pitchFamily="34" charset="-120"/>
              </a:rPr>
              <a:t>• Machine builders embed the sensor in new presses and compressors (PR09, PR10)</a:t>
            </a:r>
            <a:endParaRPr lang="en-US" sz="1200" dirty="0"/>
          </a:p>
        </p:txBody>
      </p:sp>
      <p:sp>
        <p:nvSpPr>
          <p:cNvPr id="8" name="Shape 6"/>
          <p:cNvSpPr/>
          <p:nvPr/>
        </p:nvSpPr>
        <p:spPr>
          <a:xfrm>
            <a:off x="4709160" y="1234440"/>
            <a:ext cx="3977640" cy="3246120"/>
          </a:xfrm>
          <a:prstGeom prst="rect">
            <a:avLst/>
          </a:prstGeom>
          <a:solidFill>
            <a:srgbClr val="F7F6F2"/>
          </a:solidFill>
          <a:ln w="12700">
            <a:solidFill>
              <a:srgbClr val="D9D8D2"/>
            </a:solidFill>
            <a:prstDash val="solid"/>
          </a:ln>
        </p:spPr>
      </p:sp>
      <p:sp>
        <p:nvSpPr>
          <p:cNvPr id="9" name="Shape 7"/>
          <p:cNvSpPr/>
          <p:nvPr/>
        </p:nvSpPr>
        <p:spPr>
          <a:xfrm>
            <a:off x="4709160" y="1234440"/>
            <a:ext cx="64008" cy="3246120"/>
          </a:xfrm>
          <a:prstGeom prst="rect">
            <a:avLst/>
          </a:prstGeom>
          <a:solidFill>
            <a:srgbClr val="1F3A5F"/>
          </a:solidFill>
          <a:ln w="12700">
            <a:solidFill>
              <a:srgbClr val="1F3A5F"/>
            </a:solidFill>
            <a:prstDash val="solid"/>
          </a:ln>
        </p:spPr>
      </p:sp>
      <p:sp>
        <p:nvSpPr>
          <p:cNvPr id="10" name="Text 8"/>
          <p:cNvSpPr txBox="1"/>
          <p:nvPr/>
        </p:nvSpPr>
        <p:spPr>
          <a:xfrm>
            <a:off x="4873752" y="1307592"/>
            <a:ext cx="3721608" cy="3118104"/>
          </a:xfrm>
          <a:prstGeom prst="rect">
            <a:avLst/>
          </a:prstGeom>
          <a:noFill/>
          <a:ln/>
        </p:spPr>
        <p:txBody>
          <a:bodyPr wrap="square" lIns="0" tIns="0" rIns="0" bIns="0" rtlCol="0" anchor="t"/>
          <a:lstStyle/>
          <a:p>
            <a:pPr indent="0" marL="0">
              <a:buNone/>
            </a:pPr>
            <a:r>
              <a:rPr lang="en-US" sz="1200" b="1" dirty="0">
                <a:solidFill>
                  <a:srgbClr val="1A1A1A"/>
                </a:solidFill>
                <a:latin typeface="Calibri" pitchFamily="34" charset="0"/>
                <a:ea typeface="Calibri" pitchFamily="34" charset="-122"/>
                <a:cs typeface="Calibri" pitchFamily="34" charset="-120"/>
              </a:rPr>
              <a:t>What stays direct</a:t>
            </a:r>
            <a:endParaRPr lang="en-US" sz="1200" dirty="0"/>
          </a:p>
          <a:p>
            <a:pPr indent="0" marL="0">
              <a:buNone/>
            </a:pPr>
            <a:r>
              <a:rPr lang="en-US" sz="1150" dirty="0">
                <a:solidFill>
                  <a:srgbClr val="52514E"/>
                </a:solidFill>
                <a:latin typeface="Calibri" pitchFamily="34" charset="0"/>
                <a:ea typeface="Calibri" pitchFamily="34" charset="-122"/>
                <a:cs typeface="Calibri" pitchFamily="34" charset="-120"/>
              </a:rPr>
              <a:t>• The 400 strategic accounts and the top-30 customers (₹127 cr ARR): named AEs own them; partners may deliver services only</a:t>
            </a:r>
            <a:endParaRPr lang="en-US" sz="1200" dirty="0"/>
          </a:p>
          <a:p>
            <a:pPr indent="0" marL="0">
              <a:buNone/>
            </a:pPr>
            <a:r>
              <a:rPr lang="en-US" sz="1150" dirty="0">
                <a:solidFill>
                  <a:srgbClr val="52514E"/>
                </a:solidFill>
                <a:latin typeface="Calibri" pitchFamily="34" charset="0"/>
                <a:ea typeface="Calibri" pitchFamily="34" charset="-122"/>
                <a:cs typeface="Calibri" pitchFamily="34" charset="-120"/>
              </a:rPr>
              <a:t>• India scaled tier: direct wins 22% against 12% for partners</a:t>
            </a:r>
            <a:endParaRPr lang="en-US" sz="1200" dirty="0"/>
          </a:p>
          <a:p>
            <a:pPr indent="0" marL="0">
              <a:buNone/>
            </a:pPr>
            <a:r>
              <a:rPr lang="en-US" sz="1150" dirty="0">
                <a:solidFill>
                  <a:srgbClr val="52514E"/>
                </a:solidFill>
                <a:latin typeface="Calibri" pitchFamily="34" charset="0"/>
                <a:ea typeface="Calibri" pitchFamily="34" charset="-122"/>
                <a:cs typeface="Calibri" pitchFamily="34" charset="-120"/>
              </a:rPr>
              <a:t>• Pricing, discount approval and the Helix-response offer (D5)</a:t>
            </a:r>
            <a:endParaRPr lang="en-US" sz="1200" dirty="0"/>
          </a:p>
          <a:p>
            <a:pPr indent="0" marL="0">
              <a:buNone/>
            </a:pPr>
            <a:r>
              <a:rPr lang="en-US" sz="1150" dirty="0">
                <a:solidFill>
                  <a:srgbClr val="52514E"/>
                </a:solidFill>
                <a:latin typeface="Calibri" pitchFamily="34" charset="0"/>
                <a:ea typeface="Calibri" pitchFamily="34" charset="-122"/>
                <a:cs typeface="Calibri" pitchFamily="34" charset="-120"/>
              </a:rPr>
              <a:t>• Renewals and expansion of direct-sold customers</a:t>
            </a:r>
            <a:endParaRPr lang="en-US" sz="1200" dirty="0"/>
          </a:p>
          <a:p>
            <a:pPr indent="0" marL="0">
              <a:buNone/>
            </a:pPr>
            <a:r>
              <a:rPr lang="en-US" sz="1150" dirty="0">
                <a:solidFill>
                  <a:srgbClr val="52514E"/>
                </a:solidFill>
                <a:latin typeface="Calibri" pitchFamily="34" charset="0"/>
                <a:ea typeface="Calibri" pitchFamily="34" charset="-122"/>
                <a:cs typeface="Calibri" pitchFamily="34" charset="-120"/>
              </a:rPr>
              <a:t>• Any account where a partner also sells Helix</a:t>
            </a:r>
            <a:endParaRPr lang="en-US" sz="1200" dirty="0"/>
          </a:p>
        </p:txBody>
      </p:sp>
      <p:sp>
        <p:nvSpPr>
          <p:cNvPr id="11" name="Text 9"/>
          <p:cNvSpPr txBox="1"/>
          <p:nvPr/>
        </p:nvSpPr>
        <p:spPr>
          <a:xfrm>
            <a:off x="457200" y="4617720"/>
            <a:ext cx="8229600" cy="201168"/>
          </a:xfrm>
          <a:prstGeom prst="rect">
            <a:avLst/>
          </a:prstGeom>
          <a:noFill/>
          <a:ln/>
        </p:spPr>
        <p:txBody>
          <a:bodyPr wrap="square" lIns="0" tIns="0" rIns="0" bIns="0" rtlCol="0" anchor="ctr"/>
          <a:lstStyle/>
          <a:p>
            <a:pPr indent="0" marL="0">
              <a:buNone/>
            </a:pPr>
            <a:r>
              <a:rPr lang="en-US" sz="800" i="1" dirty="0">
                <a:solidFill>
                  <a:srgbClr val="52514E"/>
                </a:solidFill>
                <a:latin typeface="Calibri" pitchFamily="34" charset="0"/>
                <a:ea typeface="Calibri" pitchFamily="34" charset="-122"/>
                <a:cs typeface="Calibri" pitchFamily="34" charset="-120"/>
              </a:rPr>
              <a:t>Source: D2 tiering and coverage; D1 partner win rates; DR6.</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28600"/>
            <a:ext cx="8229600" cy="228600"/>
          </a:xfrm>
          <a:prstGeom prst="rect">
            <a:avLst/>
          </a:prstGeom>
          <a:noFill/>
          <a:ln/>
        </p:spPr>
        <p:txBody>
          <a:bodyPr wrap="square" lIns="0" tIns="0" rIns="0" bIns="0" rtlCol="0" anchor="ctr"/>
          <a:lstStyle/>
          <a:p>
            <a:pPr indent="0" marL="0">
              <a:buNone/>
            </a:pPr>
            <a:r>
              <a:rPr lang="en-US" sz="1000" b="1" spc="200" kern="0" dirty="0">
                <a:solidFill>
                  <a:srgbClr val="EB6834"/>
                </a:solidFill>
                <a:latin typeface="Calibri" pitchFamily="34" charset="0"/>
                <a:ea typeface="Calibri" pitchFamily="34" charset="-122"/>
                <a:cs typeface="Calibri" pitchFamily="34" charset="-120"/>
              </a:rPr>
              <a:t>PARTNER TYPES AND TARGET MIX</a:t>
            </a:r>
            <a:endParaRPr lang="en-US" sz="1000" dirty="0"/>
          </a:p>
        </p:txBody>
      </p:sp>
      <p:sp>
        <p:nvSpPr>
          <p:cNvPr id="3" name="Text 1"/>
          <p:cNvSpPr txBox="1"/>
          <p:nvPr/>
        </p:nvSpPr>
        <p:spPr>
          <a:xfrm>
            <a:off x="457200" y="438912"/>
            <a:ext cx="8229600" cy="685800"/>
          </a:xfrm>
          <a:prstGeom prst="rect">
            <a:avLst/>
          </a:prstGeom>
          <a:noFill/>
          <a:ln/>
        </p:spPr>
        <p:txBody>
          <a:bodyPr wrap="square" lIns="0" tIns="0" rIns="0" bIns="0" rtlCol="0" anchor="t"/>
          <a:lstStyle/>
          <a:p>
            <a:pPr indent="0" marL="0">
              <a:buNone/>
            </a:pPr>
            <a:r>
              <a:rPr lang="en-US" sz="2100" b="1" dirty="0">
                <a:solidFill>
                  <a:srgbClr val="1F3A5F"/>
                </a:solidFill>
                <a:latin typeface="Cambria" pitchFamily="34" charset="0"/>
                <a:ea typeface="Cambria" pitchFamily="34" charset="-122"/>
                <a:cs typeface="Cambria" pitchFamily="34" charset="-120"/>
              </a:rPr>
              <a:t>Five partner types, each with one job; by FY29 SEA/Gulf integrators and MSPs carry two-thirds of partner ARR</a:t>
            </a:r>
            <a:endParaRPr lang="en-US" sz="2100" dirty="0"/>
          </a:p>
        </p:txBody>
      </p:sp>
      <p:sp>
        <p:nvSpPr>
          <p:cNvPr id="4" name="Text 2"/>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800" dirty="0">
                <a:solidFill>
                  <a:srgbClr val="A3A29C"/>
                </a:solidFill>
                <a:latin typeface="Calibri" pitchFamily="34" charset="0"/>
                <a:ea typeface="Calibri" pitchFamily="34" charset="-122"/>
                <a:cs typeface="Calibri" pitchFamily="34" charset="-120"/>
              </a:rPr>
              <a:t>Strata Sense (fictional) · D6</a:t>
            </a:r>
            <a:endParaRPr lang="en-US" sz="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2194560"/>
                <a:gridCol w="2377440"/>
                <a:gridCol w="1463040"/>
                <a:gridCol w="1280160"/>
                <a:gridCol w="914400"/>
              </a:tblGrid>
              <a:tr h="329184">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Partner type</a:t>
                      </a:r>
                      <a:endParaRPr lang="en-US" sz="105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A5F"/>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Job</a:t>
                      </a:r>
                      <a:endParaRPr lang="en-US" sz="105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A5F"/>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Where</a:t>
                      </a:r>
                      <a:endParaRPr lang="en-US" sz="105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A5F"/>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Role / tier</a:t>
                      </a:r>
                      <a:endParaRPr lang="en-US" sz="105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A5F"/>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FY29 mix</a:t>
                      </a:r>
                      <a:endParaRPr lang="en-US" sz="105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A5F"/>
                    </a:solidFill>
                  </a:tcPr>
                </a:tc>
              </a:tr>
              <a:tr h="329184">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System integrators</a:t>
                      </a:r>
                      <a:endParaRPr lang="en-US" sz="105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Sell, install, integrate</a:t>
                      </a:r>
                      <a:endParaRPr lang="en-US" sz="105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SEA, Gulf</a:t>
                      </a:r>
                      <a:endParaRPr lang="en-US" sz="105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Silver / Gold</a:t>
                      </a:r>
                      <a:endParaRPr lang="en-US" sz="105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40%</a:t>
                      </a:r>
                      <a:endParaRPr lang="en-US" sz="105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Managed-service providers</a:t>
                      </a:r>
                      <a:endParaRPr lang="en-US" sz="105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Sell and run monitoring as a service</a:t>
                      </a:r>
                      <a:endParaRPr lang="en-US" sz="105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SEA, Gulf, India-East</a:t>
                      </a:r>
                      <a:endParaRPr lang="en-US" sz="105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Gold (services)</a:t>
                      </a:r>
                      <a:endParaRPr lang="en-US" sz="105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25%</a:t>
                      </a:r>
                      <a:endParaRPr lang="en-US" sz="105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r>
              <a:tr h="329184">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Machine builders (OEM embed)</a:t>
                      </a:r>
                      <a:endParaRPr lang="en-US" sz="105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Fit sensors to new machines</a:t>
                      </a:r>
                      <a:endParaRPr lang="en-US" sz="105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India national</a:t>
                      </a:r>
                      <a:endParaRPr lang="en-US" sz="105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Resell (embed)</a:t>
                      </a:r>
                      <a:endParaRPr lang="en-US" sz="105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15%</a:t>
                      </a:r>
                      <a:endParaRPr lang="en-US" sz="105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Regional value-added resellers</a:t>
                      </a:r>
                      <a:endParaRPr lang="en-US" sz="105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Resell to low-touch accounts</a:t>
                      </a:r>
                      <a:endParaRPr lang="en-US" sz="105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Singapore hub, SEA</a:t>
                      </a:r>
                      <a:endParaRPr lang="en-US" sz="105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Silver</a:t>
                      </a:r>
                      <a:endParaRPr lang="en-US" sz="105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12%</a:t>
                      </a:r>
                      <a:endParaRPr lang="en-US" sz="105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r>
              <a:tr h="329184">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Automation distributors</a:t>
                      </a:r>
                      <a:endParaRPr lang="en-US" sz="105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Referral only; stock hardware</a:t>
                      </a:r>
                      <a:endParaRPr lang="en-US" sz="105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India</a:t>
                      </a:r>
                      <a:endParaRPr lang="en-US" sz="105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Referral</a:t>
                      </a:r>
                      <a:endParaRPr lang="en-US" sz="105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8%</a:t>
                      </a:r>
                      <a:endParaRPr lang="en-US" sz="105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457200" y="3429000"/>
            <a:ext cx="8229600" cy="822960"/>
          </a:xfrm>
          <a:prstGeom prst="rect">
            <a:avLst/>
          </a:prstGeom>
          <a:noFill/>
          <a:ln/>
        </p:spPr>
        <p:txBody>
          <a:bodyPr wrap="square" lIns="0" tIns="0" rIns="0" bIns="0" rtlCol="0" anchor="t"/>
          <a:lstStyle/>
          <a:p>
            <a:pPr indent="0" marL="0">
              <a:buNone/>
            </a:pPr>
            <a:r>
              <a:rPr lang="en-US" sz="1100" dirty="0">
                <a:solidFill>
                  <a:srgbClr val="1A1A1A"/>
                </a:solidFill>
                <a:latin typeface="Calibri" pitchFamily="34" charset="0"/>
                <a:ea typeface="Calibri" pitchFamily="34" charset="-122"/>
                <a:cs typeface="Calibri" pitchFamily="34" charset="-120"/>
              </a:rPr>
              <a:t>Distributors are kept to referral: in India they compete with our own scaled-tier AEs and three of the four distributor prospects or partners carry Helix or Orion lines. Machine builders are slow (about 12 months to first deal) but each has an installed base of 2,000+ machines.</a:t>
            </a:r>
            <a:endParaRPr lang="en-US" sz="1100" dirty="0"/>
          </a:p>
        </p:txBody>
      </p:sp>
      <p:sp>
        <p:nvSpPr>
          <p:cNvPr id="7" name="Text 4"/>
          <p:cNvSpPr txBox="1"/>
          <p:nvPr/>
        </p:nvSpPr>
        <p:spPr>
          <a:xfrm>
            <a:off x="457200" y="4617720"/>
            <a:ext cx="8229600" cy="201168"/>
          </a:xfrm>
          <a:prstGeom prst="rect">
            <a:avLst/>
          </a:prstGeom>
          <a:noFill/>
          <a:ln/>
        </p:spPr>
        <p:txBody>
          <a:bodyPr wrap="square" lIns="0" tIns="0" rIns="0" bIns="0" rtlCol="0" anchor="ctr"/>
          <a:lstStyle/>
          <a:p>
            <a:pPr indent="0" marL="0">
              <a:buNone/>
            </a:pPr>
            <a:r>
              <a:rPr lang="en-US" sz="800" i="1" dirty="0">
                <a:solidFill>
                  <a:srgbClr val="52514E"/>
                </a:solidFill>
                <a:latin typeface="Calibri" pitchFamily="34" charset="0"/>
                <a:ea typeface="Calibri" pitchFamily="34" charset="-122"/>
                <a:cs typeface="Calibri" pitchFamily="34" charset="-120"/>
              </a:rPr>
              <a:t>Source: DR6 prospects (type, region, vendor lines, months to first deal); mix is a design choice in D6 workbook Inputs.</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28600"/>
            <a:ext cx="8229600" cy="228600"/>
          </a:xfrm>
          <a:prstGeom prst="rect">
            <a:avLst/>
          </a:prstGeom>
          <a:noFill/>
          <a:ln/>
        </p:spPr>
        <p:txBody>
          <a:bodyPr wrap="square" lIns="0" tIns="0" rIns="0" bIns="0" rtlCol="0" anchor="ctr"/>
          <a:lstStyle/>
          <a:p>
            <a:pPr indent="0" marL="0">
              <a:buNone/>
            </a:pPr>
            <a:r>
              <a:rPr lang="en-US" sz="1000" b="1" spc="200" kern="0" dirty="0">
                <a:solidFill>
                  <a:srgbClr val="EB6834"/>
                </a:solidFill>
                <a:latin typeface="Calibri" pitchFamily="34" charset="0"/>
                <a:ea typeface="Calibri" pitchFamily="34" charset="-122"/>
                <a:cs typeface="Calibri" pitchFamily="34" charset="-120"/>
              </a:rPr>
              <a:t>EXISTING PARTNERS: KEEP, FIX OR EXIT</a:t>
            </a:r>
            <a:endParaRPr lang="en-US" sz="1000" dirty="0"/>
          </a:p>
        </p:txBody>
      </p:sp>
      <p:sp>
        <p:nvSpPr>
          <p:cNvPr id="3" name="Text 1"/>
          <p:cNvSpPr txBox="1"/>
          <p:nvPr/>
        </p:nvSpPr>
        <p:spPr>
          <a:xfrm>
            <a:off x="457200" y="438912"/>
            <a:ext cx="8229600" cy="685800"/>
          </a:xfrm>
          <a:prstGeom prst="rect">
            <a:avLst/>
          </a:prstGeom>
          <a:noFill/>
          <a:ln/>
        </p:spPr>
        <p:txBody>
          <a:bodyPr wrap="square" lIns="0" tIns="0" rIns="0" bIns="0" rtlCol="0" anchor="t"/>
          <a:lstStyle/>
          <a:p>
            <a:pPr indent="0" marL="0">
              <a:buNone/>
            </a:pPr>
            <a:r>
              <a:rPr lang="en-US" sz="2100" b="1" dirty="0">
                <a:solidFill>
                  <a:srgbClr val="1F3A5F"/>
                </a:solidFill>
                <a:latin typeface="Cambria" pitchFamily="34" charset="0"/>
                <a:ea typeface="Cambria" pitchFamily="34" charset="-122"/>
                <a:cs typeface="Cambria" pitchFamily="34" charset="-120"/>
              </a:rPr>
              <a:t>Keep 4, fix 5 against a dated condition, exit 5 that have produced almost nothing since FY24</a:t>
            </a:r>
            <a:endParaRPr lang="en-US" sz="2100" dirty="0"/>
          </a:p>
        </p:txBody>
      </p:sp>
      <p:sp>
        <p:nvSpPr>
          <p:cNvPr id="4" name="Text 2"/>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800" dirty="0">
                <a:solidFill>
                  <a:srgbClr val="A3A29C"/>
                </a:solidFill>
                <a:latin typeface="Calibri" pitchFamily="34" charset="0"/>
                <a:ea typeface="Calibri" pitchFamily="34" charset="-122"/>
                <a:cs typeface="Calibri" pitchFamily="34" charset="-120"/>
              </a:rPr>
              <a:t>Strata Sense (fictional) · D6</a:t>
            </a:r>
            <a:endParaRPr lang="en-US" sz="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1188720"/>
                <a:gridCol w="2926080"/>
                <a:gridCol w="4114800"/>
              </a:tblGrid>
              <a:tr h="50292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Decision</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A5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Partners</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A5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Why</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A5F"/>
                    </a:solidFill>
                  </a:tcPr>
                </a:tc>
              </a:tr>
              <a:tr h="50292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Keep</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P02 Deccan (Gold), P09 Vindhya (Gold services), P12 Siam, P13 Al Fajr (Silver)</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22% win rate and ₹4.2 cr pipeline (P02); ₹7.1 cr pipeline (P09); SEA/Gulf access (P12, P13)</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50292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Fix: restricted</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P05 Sahyadri, P11 Konkan</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Real volume but Helix-tied (Inject 3). No registration in Helix-incumbent accounts; P11 referral-only until it passes the scorecard</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r>
              <a:tr h="50292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Fix: activate</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P07 Mekong, P08 Hosur, P10 Penang</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Signed, no deals. Certify 2 engineers and a joint pipeline plan by end-Q2, or exit. P08 joins the OEM-embed pilot</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50292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Exit</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P01, P03, P04, P06, P14 + P08 if pilot fails</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Zero or one deal in three years; coverage moves to shortlisted prospects (PR07 for Saudi)</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r>
            </a:tbl>
          </a:graphicData>
        </a:graphic>
      </p:graphicFrame>
      <p:sp>
        <p:nvSpPr>
          <p:cNvPr id="6" name="Text 3"/>
          <p:cNvSpPr txBox="1"/>
          <p:nvPr/>
        </p:nvSpPr>
        <p:spPr>
          <a:xfrm>
            <a:off x="457200" y="3977640"/>
            <a:ext cx="8229600" cy="457200"/>
          </a:xfrm>
          <a:prstGeom prst="rect">
            <a:avLst/>
          </a:prstGeom>
          <a:noFill/>
          <a:ln/>
        </p:spPr>
        <p:txBody>
          <a:bodyPr wrap="square" lIns="0" tIns="0" rIns="0" bIns="0" rtlCol="0" anchor="ctr"/>
          <a:lstStyle/>
          <a:p>
            <a:pPr indent="0" marL="0">
              <a:buNone/>
            </a:pPr>
            <a:r>
              <a:rPr lang="en-US" sz="1100" i="1" dirty="0">
                <a:solidFill>
                  <a:srgbClr val="52514E"/>
                </a:solidFill>
                <a:latin typeface="Calibri" pitchFamily="34" charset="0"/>
                <a:ea typeface="Calibri" pitchFamily="34" charset="-122"/>
                <a:cs typeface="Calibri" pitchFamily="34" charset="-120"/>
              </a:rPr>
              <a:t>Exits cost nothing today, but each dormant partner can still register deals and claim margin. Removing them is also a conflict control.</a:t>
            </a:r>
            <a:endParaRPr lang="en-US" sz="1100" dirty="0"/>
          </a:p>
        </p:txBody>
      </p:sp>
      <p:sp>
        <p:nvSpPr>
          <p:cNvPr id="7" name="Text 4"/>
          <p:cNvSpPr txBox="1"/>
          <p:nvPr/>
        </p:nvSpPr>
        <p:spPr>
          <a:xfrm>
            <a:off x="457200" y="4617720"/>
            <a:ext cx="8229600" cy="201168"/>
          </a:xfrm>
          <a:prstGeom prst="rect">
            <a:avLst/>
          </a:prstGeom>
          <a:noFill/>
          <a:ln/>
        </p:spPr>
        <p:txBody>
          <a:bodyPr wrap="square" lIns="0" tIns="0" rIns="0" bIns="0" rtlCol="0" anchor="ctr"/>
          <a:lstStyle/>
          <a:p>
            <a:pPr indent="0" marL="0">
              <a:buNone/>
            </a:pPr>
            <a:r>
              <a:rPr lang="en-US" sz="800" i="1" dirty="0">
                <a:solidFill>
                  <a:srgbClr val="52514E"/>
                </a:solidFill>
                <a:latin typeface="Calibri" pitchFamily="34" charset="0"/>
                <a:ea typeface="Calibri" pitchFamily="34" charset="-122"/>
                <a:cs typeface="Calibri" pitchFamily="34" charset="-120"/>
              </a:rPr>
              <a:t>Source: DR6 signed partners (status, sourced/influenced ARR, win rates, pipeline, other vendor lines). Full list: workbook sheet Partners_14.</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28600"/>
            <a:ext cx="8229600" cy="228600"/>
          </a:xfrm>
          <a:prstGeom prst="rect">
            <a:avLst/>
          </a:prstGeom>
          <a:noFill/>
          <a:ln/>
        </p:spPr>
        <p:txBody>
          <a:bodyPr wrap="square" lIns="0" tIns="0" rIns="0" bIns="0" rtlCol="0" anchor="ctr"/>
          <a:lstStyle/>
          <a:p>
            <a:pPr indent="0" marL="0">
              <a:buNone/>
            </a:pPr>
            <a:r>
              <a:rPr lang="en-US" sz="1000" b="1" spc="200" kern="0" dirty="0">
                <a:solidFill>
                  <a:srgbClr val="EB6834"/>
                </a:solidFill>
                <a:latin typeface="Calibri" pitchFamily="34" charset="0"/>
                <a:ea typeface="Calibri" pitchFamily="34" charset="-122"/>
                <a:cs typeface="Calibri" pitchFamily="34" charset="-120"/>
              </a:rPr>
              <a:t>PROSPECTIVE PARTNERS: SCORED SHORTLIST</a:t>
            </a:r>
            <a:endParaRPr lang="en-US" sz="1000" dirty="0"/>
          </a:p>
        </p:txBody>
      </p:sp>
      <p:sp>
        <p:nvSpPr>
          <p:cNvPr id="3" name="Text 1"/>
          <p:cNvSpPr txBox="1"/>
          <p:nvPr/>
        </p:nvSpPr>
        <p:spPr>
          <a:xfrm>
            <a:off x="457200" y="438912"/>
            <a:ext cx="8229600" cy="685800"/>
          </a:xfrm>
          <a:prstGeom prst="rect">
            <a:avLst/>
          </a:prstGeom>
          <a:noFill/>
          <a:ln/>
        </p:spPr>
        <p:txBody>
          <a:bodyPr wrap="square" lIns="0" tIns="0" rIns="0" bIns="0" rtlCol="0" anchor="t"/>
          <a:lstStyle/>
          <a:p>
            <a:pPr indent="0" marL="0">
              <a:buNone/>
            </a:pPr>
            <a:r>
              <a:rPr lang="en-US" sz="2100" b="1" dirty="0">
                <a:solidFill>
                  <a:srgbClr val="1F3A5F"/>
                </a:solidFill>
                <a:latin typeface="Cambria" pitchFamily="34" charset="0"/>
                <a:ea typeface="Cambria" pitchFamily="34" charset="-122"/>
                <a:cs typeface="Cambria" pitchFamily="34" charset="-120"/>
              </a:rPr>
              <a:t>Recruit six of the twelve prospects in FY27, led by two SEA integrators; drop the three Helix-affiliated ones</a:t>
            </a:r>
            <a:endParaRPr lang="en-US" sz="2100" dirty="0"/>
          </a:p>
        </p:txBody>
      </p:sp>
      <p:sp>
        <p:nvSpPr>
          <p:cNvPr id="4" name="Text 2"/>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800" dirty="0">
                <a:solidFill>
                  <a:srgbClr val="A3A29C"/>
                </a:solidFill>
                <a:latin typeface="Calibri" pitchFamily="34" charset="0"/>
                <a:ea typeface="Calibri" pitchFamily="34" charset="-122"/>
                <a:cs typeface="Calibri" pitchFamily="34" charset="-120"/>
              </a:rPr>
              <a:t>Strata Sense (fictional) · D6</a:t>
            </a:r>
            <a:endParaRPr lang="en-US" sz="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548640"/>
                <a:gridCol w="2377440"/>
                <a:gridCol w="1554480"/>
                <a:gridCol w="1280160"/>
                <a:gridCol w="731520"/>
                <a:gridCol w="1737360"/>
              </a:tblGrid>
              <a:tr h="301752">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Rank</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A5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Prospect</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A5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Type</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A5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Region</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A5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Score</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A5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Decision</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A5F"/>
                    </a:solidFill>
                  </a:tcPr>
                </a:tc>
              </a:tr>
              <a:tr h="301752">
                <a:tc>
                  <a:txBody>
                    <a:bodyPr/>
                    <a:lstStyle/>
                    <a:p>
                      <a:pPr indent="0" marL="0">
                        <a:buNone/>
                      </a:pPr>
                      <a:r>
                        <a:rPr lang="en-US" sz="1000" b="1" dirty="0">
                          <a:solidFill>
                            <a:srgbClr val="1A1A1A"/>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b="1" dirty="0">
                          <a:solidFill>
                            <a:srgbClr val="1A1A1A"/>
                          </a:solidFill>
                          <a:latin typeface="Calibri" pitchFamily="34" charset="0"/>
                          <a:ea typeface="Calibri" pitchFamily="34" charset="-122"/>
                          <a:cs typeface="Calibri" pitchFamily="34" charset="-120"/>
                        </a:rPr>
                        <a:t>PR01 Java Integrasi Teknik</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b="1" dirty="0">
                          <a:solidFill>
                            <a:srgbClr val="1A1A1A"/>
                          </a:solidFill>
                          <a:latin typeface="Calibri" pitchFamily="34" charset="0"/>
                          <a:ea typeface="Calibri" pitchFamily="34" charset="-122"/>
                          <a:cs typeface="Calibri" pitchFamily="34" charset="-120"/>
                        </a:rPr>
                        <a:t>System integrator</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b="1" dirty="0">
                          <a:solidFill>
                            <a:srgbClr val="1A1A1A"/>
                          </a:solidFill>
                          <a:latin typeface="Calibri" pitchFamily="34" charset="0"/>
                          <a:ea typeface="Calibri" pitchFamily="34" charset="-122"/>
                          <a:cs typeface="Calibri" pitchFamily="34" charset="-120"/>
                        </a:rPr>
                        <a:t>Indonesia</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b="1" dirty="0">
                          <a:solidFill>
                            <a:srgbClr val="1A1A1A"/>
                          </a:solidFill>
                          <a:latin typeface="Calibri" pitchFamily="34" charset="0"/>
                          <a:ea typeface="Calibri" pitchFamily="34" charset="-122"/>
                          <a:cs typeface="Calibri" pitchFamily="34" charset="-120"/>
                        </a:rPr>
                        <a:t>4.85</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b="1" dirty="0">
                          <a:solidFill>
                            <a:srgbClr val="1A1A1A"/>
                          </a:solidFill>
                          <a:latin typeface="Calibri" pitchFamily="34" charset="0"/>
                          <a:ea typeface="Calibri" pitchFamily="34" charset="-122"/>
                          <a:cs typeface="Calibri" pitchFamily="34" charset="-120"/>
                        </a:rPr>
                        <a:t>Recruit Q1</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301752">
                <a:tc>
                  <a:txBody>
                    <a:bodyPr/>
                    <a:lstStyle/>
                    <a:p>
                      <a:pPr indent="0" marL="0">
                        <a:buNone/>
                      </a:pPr>
                      <a:r>
                        <a:rPr lang="en-US" sz="1000" b="1" dirty="0">
                          <a:solidFill>
                            <a:srgbClr val="1A1A1A"/>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indent="0" marL="0">
                        <a:buNone/>
                      </a:pPr>
                      <a:r>
                        <a:rPr lang="en-US" sz="1000" b="1" dirty="0">
                          <a:solidFill>
                            <a:srgbClr val="1A1A1A"/>
                          </a:solidFill>
                          <a:latin typeface="Calibri" pitchFamily="34" charset="0"/>
                          <a:ea typeface="Calibri" pitchFamily="34" charset="-122"/>
                          <a:cs typeface="Calibri" pitchFamily="34" charset="-120"/>
                        </a:rPr>
                        <a:t>PR02 Chao Phraya Automation</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indent="0" marL="0">
                        <a:buNone/>
                      </a:pPr>
                      <a:r>
                        <a:rPr lang="en-US" sz="1000" b="1" dirty="0">
                          <a:solidFill>
                            <a:srgbClr val="1A1A1A"/>
                          </a:solidFill>
                          <a:latin typeface="Calibri" pitchFamily="34" charset="0"/>
                          <a:ea typeface="Calibri" pitchFamily="34" charset="-122"/>
                          <a:cs typeface="Calibri" pitchFamily="34" charset="-120"/>
                        </a:rPr>
                        <a:t>System integrator</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indent="0" marL="0">
                        <a:buNone/>
                      </a:pPr>
                      <a:r>
                        <a:rPr lang="en-US" sz="1000" b="1" dirty="0">
                          <a:solidFill>
                            <a:srgbClr val="1A1A1A"/>
                          </a:solidFill>
                          <a:latin typeface="Calibri" pitchFamily="34" charset="0"/>
                          <a:ea typeface="Calibri" pitchFamily="34" charset="-122"/>
                          <a:cs typeface="Calibri" pitchFamily="34" charset="-120"/>
                        </a:rPr>
                        <a:t>Thailand</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indent="0" marL="0">
                        <a:buNone/>
                      </a:pPr>
                      <a:r>
                        <a:rPr lang="en-US" sz="1000" b="1" dirty="0">
                          <a:solidFill>
                            <a:srgbClr val="1A1A1A"/>
                          </a:solidFill>
                          <a:latin typeface="Calibri" pitchFamily="34" charset="0"/>
                          <a:ea typeface="Calibri" pitchFamily="34" charset="-122"/>
                          <a:cs typeface="Calibri" pitchFamily="34" charset="-120"/>
                        </a:rPr>
                        <a:t>4.65</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indent="0" marL="0">
                        <a:buNone/>
                      </a:pPr>
                      <a:r>
                        <a:rPr lang="en-US" sz="1000" b="1" dirty="0">
                          <a:solidFill>
                            <a:srgbClr val="1A1A1A"/>
                          </a:solidFill>
                          <a:latin typeface="Calibri" pitchFamily="34" charset="0"/>
                          <a:ea typeface="Calibri" pitchFamily="34" charset="-122"/>
                          <a:cs typeface="Calibri" pitchFamily="34" charset="-120"/>
                        </a:rPr>
                        <a:t>Recruit Q1</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r>
              <a:tr h="301752">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PR06 Merlion Industrial</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Value-added reseller</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Singapore hub</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4.50</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Recruit Q1</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301752">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PR07 Arabian Asset Care</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Managed services</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Saudi Arabia</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4.50</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Recruit Q2</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r>
              <a:tr h="301752">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PR09 Tapti Press Machines</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Machine builder</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India</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4.40</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Recruit: embed pilot</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301752">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PR10 Shivalik Compressors</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Machine builder</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India</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3.95</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Recruit: embed pilot</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r>
              <a:tr h="301752">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7–9</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PR03, PR11, PR04</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Managed services</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VN, India-E, PH</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3.2–3.7</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Hold for FY28</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301752">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10–12</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PR08, PR05, PR12</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Helix-affiliated</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UAE, MY, India-S</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2.3–3.1</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Deprioritise</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r>
            </a:tbl>
          </a:graphicData>
        </a:graphic>
      </p:graphicFrame>
      <p:sp>
        <p:nvSpPr>
          <p:cNvPr id="6" name="Text 3"/>
          <p:cNvSpPr txBox="1"/>
          <p:nvPr/>
        </p:nvSpPr>
        <p:spPr>
          <a:xfrm>
            <a:off x="457200" y="4023360"/>
            <a:ext cx="8229600" cy="457200"/>
          </a:xfrm>
          <a:prstGeom prst="rect">
            <a:avLst/>
          </a:prstGeom>
          <a:noFill/>
          <a:ln/>
        </p:spPr>
        <p:txBody>
          <a:bodyPr wrap="square" lIns="0" tIns="0" rIns="0" bIns="0" rtlCol="0" anchor="ctr"/>
          <a:lstStyle/>
          <a:p>
            <a:pPr indent="0" marL="0">
              <a:buNone/>
            </a:pPr>
            <a:r>
              <a:rPr lang="en-US" sz="1000" dirty="0">
                <a:solidFill>
                  <a:srgbClr val="52514E"/>
                </a:solidFill>
                <a:latin typeface="Calibri" pitchFamily="34" charset="0"/>
                <a:ea typeface="Calibri" pitchFamily="34" charset="-122"/>
                <a:cs typeface="Calibri" pitchFamily="34" charset="-120"/>
              </a:rPr>
              <a:t>Weights: access to our target accounts 30%, conflict risk 20%, capability (engineers) 20%, vertical fit 15%, commitment 15%. A Helix affiliation scores 1 of 5 on conflict, which alone drops a prospect out of the top six.</a:t>
            </a:r>
            <a:endParaRPr lang="en-US" sz="1000" dirty="0"/>
          </a:p>
        </p:txBody>
      </p:sp>
      <p:sp>
        <p:nvSpPr>
          <p:cNvPr id="7" name="Text 4"/>
          <p:cNvSpPr txBox="1"/>
          <p:nvPr/>
        </p:nvSpPr>
        <p:spPr>
          <a:xfrm>
            <a:off x="457200" y="4617720"/>
            <a:ext cx="8229600" cy="201168"/>
          </a:xfrm>
          <a:prstGeom prst="rect">
            <a:avLst/>
          </a:prstGeom>
          <a:noFill/>
          <a:ln/>
        </p:spPr>
        <p:txBody>
          <a:bodyPr wrap="square" lIns="0" tIns="0" rIns="0" bIns="0" rtlCol="0" anchor="ctr"/>
          <a:lstStyle/>
          <a:p>
            <a:pPr indent="0" marL="0">
              <a:buNone/>
            </a:pPr>
            <a:r>
              <a:rPr lang="en-US" sz="800" i="1" dirty="0">
                <a:solidFill>
                  <a:srgbClr val="52514E"/>
                </a:solidFill>
                <a:latin typeface="Calibri" pitchFamily="34" charset="0"/>
                <a:ea typeface="Calibri" pitchFamily="34" charset="-122"/>
                <a:cs typeface="Calibri" pitchFamily="34" charset="-120"/>
              </a:rPr>
              <a:t>Source: DR6 prospects; scores and weights in workbook sheet Prospects_12 (weights editable).</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28600"/>
            <a:ext cx="8229600" cy="228600"/>
          </a:xfrm>
          <a:prstGeom prst="rect">
            <a:avLst/>
          </a:prstGeom>
          <a:noFill/>
          <a:ln/>
        </p:spPr>
        <p:txBody>
          <a:bodyPr wrap="square" lIns="0" tIns="0" rIns="0" bIns="0" rtlCol="0" anchor="ctr"/>
          <a:lstStyle/>
          <a:p>
            <a:pPr indent="0" marL="0">
              <a:buNone/>
            </a:pPr>
            <a:r>
              <a:rPr lang="en-US" sz="1000" b="1" spc="200" kern="0" dirty="0">
                <a:solidFill>
                  <a:srgbClr val="EB6834"/>
                </a:solidFill>
                <a:latin typeface="Calibri" pitchFamily="34" charset="0"/>
                <a:ea typeface="Calibri" pitchFamily="34" charset="-122"/>
                <a:cs typeface="Calibri" pitchFamily="34" charset="-120"/>
              </a:rPr>
              <a:t>PROGRAMME DESIGN: TIERS, MARGIN AND INCENTIVES</a:t>
            </a:r>
            <a:endParaRPr lang="en-US" sz="1000" dirty="0"/>
          </a:p>
        </p:txBody>
      </p:sp>
      <p:sp>
        <p:nvSpPr>
          <p:cNvPr id="3" name="Text 1"/>
          <p:cNvSpPr txBox="1"/>
          <p:nvPr/>
        </p:nvSpPr>
        <p:spPr>
          <a:xfrm>
            <a:off x="457200" y="438912"/>
            <a:ext cx="8229600" cy="685800"/>
          </a:xfrm>
          <a:prstGeom prst="rect">
            <a:avLst/>
          </a:prstGeom>
          <a:noFill/>
          <a:ln/>
        </p:spPr>
        <p:txBody>
          <a:bodyPr wrap="square" lIns="0" tIns="0" rIns="0" bIns="0" rtlCol="0" anchor="t"/>
          <a:lstStyle/>
          <a:p>
            <a:pPr indent="0" marL="0">
              <a:buNone/>
            </a:pPr>
            <a:r>
              <a:rPr lang="en-US" sz="2100" b="1" dirty="0">
                <a:solidFill>
                  <a:srgbClr val="1F3A5F"/>
                </a:solidFill>
                <a:latin typeface="Cambria" pitchFamily="34" charset="0"/>
                <a:ea typeface="Cambria" pitchFamily="34" charset="-122"/>
                <a:cs typeface="Cambria" pitchFamily="34" charset="-120"/>
              </a:rPr>
              <a:t>Three tiers, paid by role: 10% for a referral, 18% to resell, 22% plus services revenue for certified Gold partners</a:t>
            </a:r>
            <a:endParaRPr lang="en-US" sz="2100" dirty="0"/>
          </a:p>
        </p:txBody>
      </p:sp>
      <p:sp>
        <p:nvSpPr>
          <p:cNvPr id="4" name="Text 2"/>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800" dirty="0">
                <a:solidFill>
                  <a:srgbClr val="A3A29C"/>
                </a:solidFill>
                <a:latin typeface="Calibri" pitchFamily="34" charset="0"/>
                <a:ea typeface="Calibri" pitchFamily="34" charset="-122"/>
                <a:cs typeface="Calibri" pitchFamily="34" charset="-120"/>
              </a:rPr>
              <a:t>Strata Sense (fictional) · D6</a:t>
            </a:r>
            <a:endParaRPr lang="en-US" sz="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1920240"/>
                <a:gridCol w="1371600"/>
                <a:gridCol w="2103120"/>
                <a:gridCol w="2834640"/>
              </a:tblGrid>
              <a:tr h="329184">
                <a:tc>
                  <a:txBody>
                    <a:bodyPr/>
                    <a:lstStyle/>
                    <a:p>
                      <a:pPr indent="0" marL="0">
                        <a:buNone/>
                      </a:pP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A5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Referral</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A5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Silver (resell / co-sell)</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A5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Gold (resell + services)</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A5F"/>
                    </a:solidFill>
                  </a:tcPr>
                </a:tc>
              </a:tr>
              <a:tr h="329184">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Year-1 margin on ARR</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18%</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22%</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Renewal margin (years 2–3)</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r>
              <a:tr h="329184">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Services revenue</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Installation only</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Installation, integration, managed monitoring (keeps 100%)</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Entry requirement</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Registered deal</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2 certified engineers, joint plan</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4 certified engineers, ₹1 cr sourced ARR in 12 months</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r>
              <a:tr h="329184">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Market development funds</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Co-funded events</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Up to 3% of sourced ARR</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Deal protection</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90 days</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90 days</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120 days</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r>
            </a:tbl>
          </a:graphicData>
        </a:graphic>
      </p:graphicFrame>
      <p:sp>
        <p:nvSpPr>
          <p:cNvPr id="6" name="Text 3"/>
          <p:cNvSpPr txBox="1"/>
          <p:nvPr/>
        </p:nvSpPr>
        <p:spPr>
          <a:xfrm>
            <a:off x="457200" y="3657600"/>
            <a:ext cx="2560320" cy="457200"/>
          </a:xfrm>
          <a:prstGeom prst="rect">
            <a:avLst/>
          </a:prstGeom>
          <a:noFill/>
          <a:ln/>
        </p:spPr>
        <p:txBody>
          <a:bodyPr wrap="square" lIns="0" tIns="0" rIns="0" bIns="0" rtlCol="0" anchor="ctr"/>
          <a:lstStyle/>
          <a:p>
            <a:pPr indent="0" marL="0">
              <a:buNone/>
            </a:pPr>
            <a:r>
              <a:rPr lang="en-US" sz="2600" b="1" dirty="0">
                <a:solidFill>
                  <a:srgbClr val="1F3A5F"/>
                </a:solidFill>
                <a:latin typeface="Cambria" pitchFamily="34" charset="0"/>
                <a:ea typeface="Cambria" pitchFamily="34" charset="-122"/>
                <a:cs typeface="Cambria" pitchFamily="34" charset="-120"/>
              </a:rPr>
              <a:t>16–18%</a:t>
            </a:r>
            <a:endParaRPr lang="en-US" sz="2600" dirty="0"/>
          </a:p>
        </p:txBody>
      </p:sp>
      <p:sp>
        <p:nvSpPr>
          <p:cNvPr id="7" name="Text 4"/>
          <p:cNvSpPr txBox="1"/>
          <p:nvPr/>
        </p:nvSpPr>
        <p:spPr>
          <a:xfrm>
            <a:off x="457200" y="4114800"/>
            <a:ext cx="2560320" cy="502920"/>
          </a:xfrm>
          <a:prstGeom prst="rect">
            <a:avLst/>
          </a:prstGeom>
          <a:noFill/>
          <a:ln/>
        </p:spPr>
        <p:txBody>
          <a:bodyPr wrap="square" lIns="0" tIns="0" rIns="0" bIns="0" rtlCol="0" anchor="t"/>
          <a:lstStyle/>
          <a:p>
            <a:pPr indent="0" marL="0">
              <a:buNone/>
            </a:pPr>
            <a:r>
              <a:rPr lang="en-US" sz="1050" dirty="0">
                <a:solidFill>
                  <a:srgbClr val="52514E"/>
                </a:solidFill>
                <a:latin typeface="Calibri" pitchFamily="34" charset="0"/>
                <a:ea typeface="Calibri" pitchFamily="34" charset="-122"/>
                <a:cs typeface="Calibri" pitchFamily="34" charset="-120"/>
              </a:rPr>
              <a:t>blended year-1 partner margin FY27–29, given the tier mix</a:t>
            </a:r>
            <a:endParaRPr lang="en-US" sz="1050" dirty="0"/>
          </a:p>
        </p:txBody>
      </p:sp>
      <p:sp>
        <p:nvSpPr>
          <p:cNvPr id="8" name="Text 5"/>
          <p:cNvSpPr txBox="1"/>
          <p:nvPr/>
        </p:nvSpPr>
        <p:spPr>
          <a:xfrm>
            <a:off x="3291840" y="3657600"/>
            <a:ext cx="2560320" cy="457200"/>
          </a:xfrm>
          <a:prstGeom prst="rect">
            <a:avLst/>
          </a:prstGeom>
          <a:noFill/>
          <a:ln/>
        </p:spPr>
        <p:txBody>
          <a:bodyPr wrap="square" lIns="0" tIns="0" rIns="0" bIns="0" rtlCol="0" anchor="ctr"/>
          <a:lstStyle/>
          <a:p>
            <a:pPr indent="0" marL="0">
              <a:buNone/>
            </a:pPr>
            <a:r>
              <a:rPr lang="en-US" sz="2600" b="1" dirty="0">
                <a:solidFill>
                  <a:srgbClr val="2A78D6"/>
                </a:solidFill>
                <a:latin typeface="Cambria" pitchFamily="34" charset="0"/>
                <a:ea typeface="Cambria" pitchFamily="34" charset="-122"/>
                <a:cs typeface="Cambria" pitchFamily="34" charset="-120"/>
              </a:rPr>
              <a:t>₹1.64</a:t>
            </a:r>
            <a:endParaRPr lang="en-US" sz="2600" dirty="0"/>
          </a:p>
        </p:txBody>
      </p:sp>
      <p:sp>
        <p:nvSpPr>
          <p:cNvPr id="9" name="Text 6"/>
          <p:cNvSpPr txBox="1"/>
          <p:nvPr/>
        </p:nvSpPr>
        <p:spPr>
          <a:xfrm>
            <a:off x="3291840" y="4114800"/>
            <a:ext cx="2560320" cy="502920"/>
          </a:xfrm>
          <a:prstGeom prst="rect">
            <a:avLst/>
          </a:prstGeom>
          <a:noFill/>
          <a:ln/>
        </p:spPr>
        <p:txBody>
          <a:bodyPr wrap="square" lIns="0" tIns="0" rIns="0" bIns="0" rtlCol="0" anchor="t"/>
          <a:lstStyle/>
          <a:p>
            <a:pPr indent="0" marL="0">
              <a:buNone/>
            </a:pPr>
            <a:r>
              <a:rPr lang="en-US" sz="1050" dirty="0">
                <a:solidFill>
                  <a:srgbClr val="52514E"/>
                </a:solidFill>
                <a:latin typeface="Calibri" pitchFamily="34" charset="0"/>
                <a:ea typeface="Calibri" pitchFamily="34" charset="-122"/>
                <a:cs typeface="Calibri" pitchFamily="34" charset="-120"/>
              </a:rPr>
              <a:t>direct S&amp;M spent per ₹1 of new-logo ARR today, the cost partners replace</a:t>
            </a:r>
            <a:endParaRPr lang="en-US" sz="1050" dirty="0"/>
          </a:p>
        </p:txBody>
      </p:sp>
      <p:sp>
        <p:nvSpPr>
          <p:cNvPr id="10" name="Text 7"/>
          <p:cNvSpPr txBox="1"/>
          <p:nvPr/>
        </p:nvSpPr>
        <p:spPr>
          <a:xfrm>
            <a:off x="6126480" y="3657600"/>
            <a:ext cx="2560320" cy="822960"/>
          </a:xfrm>
          <a:prstGeom prst="rect">
            <a:avLst/>
          </a:prstGeom>
          <a:noFill/>
          <a:ln/>
        </p:spPr>
        <p:txBody>
          <a:bodyPr wrap="square" lIns="0" tIns="0" rIns="0" bIns="0" rtlCol="0" anchor="t"/>
          <a:lstStyle/>
          <a:p>
            <a:pPr indent="0" marL="0">
              <a:buNone/>
            </a:pPr>
            <a:r>
              <a:rPr lang="en-US" sz="1050" dirty="0">
                <a:solidFill>
                  <a:srgbClr val="1A1A1A"/>
                </a:solidFill>
                <a:latin typeface="Calibri" pitchFamily="34" charset="0"/>
                <a:ea typeface="Calibri" pitchFamily="34" charset="-122"/>
                <a:cs typeface="Calibri" pitchFamily="34" charset="-120"/>
              </a:rPr>
              <a:t>Margin is paid on bookings once the customer pays the first invoice, never on registration.</a:t>
            </a:r>
            <a:endParaRPr lang="en-US" sz="1050" dirty="0"/>
          </a:p>
        </p:txBody>
      </p:sp>
      <p:sp>
        <p:nvSpPr>
          <p:cNvPr id="11" name="Text 8"/>
          <p:cNvSpPr txBox="1"/>
          <p:nvPr/>
        </p:nvSpPr>
        <p:spPr>
          <a:xfrm>
            <a:off x="457200" y="4617720"/>
            <a:ext cx="8229600" cy="201168"/>
          </a:xfrm>
          <a:prstGeom prst="rect">
            <a:avLst/>
          </a:prstGeom>
          <a:noFill/>
          <a:ln/>
        </p:spPr>
        <p:txBody>
          <a:bodyPr wrap="square" lIns="0" tIns="0" rIns="0" bIns="0" rtlCol="0" anchor="ctr"/>
          <a:lstStyle/>
          <a:p>
            <a:pPr indent="0" marL="0">
              <a:buNone/>
            </a:pPr>
            <a:r>
              <a:rPr lang="en-US" sz="800" i="1" dirty="0">
                <a:solidFill>
                  <a:srgbClr val="52514E"/>
                </a:solidFill>
                <a:latin typeface="Calibri" pitchFamily="34" charset="0"/>
                <a:ea typeface="Calibri" pitchFamily="34" charset="-122"/>
                <a:cs typeface="Calibri" pitchFamily="34" charset="-120"/>
              </a:rPr>
              <a:t>Source: tier design and mix in workbook Inputs rows 19–23; S&amp;M ratio from DR3 (allocation assumption: 70% of ₹96 cr S&amp;M to new logos).</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28600"/>
            <a:ext cx="8229600" cy="228600"/>
          </a:xfrm>
          <a:prstGeom prst="rect">
            <a:avLst/>
          </a:prstGeom>
          <a:noFill/>
          <a:ln/>
        </p:spPr>
        <p:txBody>
          <a:bodyPr wrap="square" lIns="0" tIns="0" rIns="0" bIns="0" rtlCol="0" anchor="ctr"/>
          <a:lstStyle/>
          <a:p>
            <a:pPr indent="0" marL="0">
              <a:buNone/>
            </a:pPr>
            <a:r>
              <a:rPr lang="en-US" sz="1000" b="1" spc="200" kern="0" dirty="0">
                <a:solidFill>
                  <a:srgbClr val="EB6834"/>
                </a:solidFill>
                <a:latin typeface="Calibri" pitchFamily="34" charset="0"/>
                <a:ea typeface="Calibri" pitchFamily="34" charset="-122"/>
                <a:cs typeface="Calibri" pitchFamily="34" charset="-120"/>
              </a:rPr>
              <a:t>PROGRAMME DESIGN: DEAL REGISTRATION AND CONFLICT RULES</a:t>
            </a:r>
            <a:endParaRPr lang="en-US" sz="1000" dirty="0"/>
          </a:p>
        </p:txBody>
      </p:sp>
      <p:sp>
        <p:nvSpPr>
          <p:cNvPr id="3" name="Text 1"/>
          <p:cNvSpPr txBox="1"/>
          <p:nvPr/>
        </p:nvSpPr>
        <p:spPr>
          <a:xfrm>
            <a:off x="457200" y="438912"/>
            <a:ext cx="8229600" cy="685800"/>
          </a:xfrm>
          <a:prstGeom prst="rect">
            <a:avLst/>
          </a:prstGeom>
          <a:noFill/>
          <a:ln/>
        </p:spPr>
        <p:txBody>
          <a:bodyPr wrap="square" lIns="0" tIns="0" rIns="0" bIns="0" rtlCol="0" anchor="t"/>
          <a:lstStyle/>
          <a:p>
            <a:pPr indent="0" marL="0">
              <a:buNone/>
            </a:pPr>
            <a:r>
              <a:rPr lang="en-US" sz="2100" b="1" dirty="0">
                <a:solidFill>
                  <a:srgbClr val="1F3A5F"/>
                </a:solidFill>
                <a:latin typeface="Cambria" pitchFamily="34" charset="0"/>
                <a:ea typeface="Cambria" pitchFamily="34" charset="-122"/>
                <a:cs typeface="Cambria" pitchFamily="34" charset="-120"/>
              </a:rPr>
              <a:t>One owner per deal: registration decides who is protected, and every deal is counted once in bookings</a:t>
            </a:r>
            <a:endParaRPr lang="en-US" sz="2100" dirty="0"/>
          </a:p>
        </p:txBody>
      </p:sp>
      <p:sp>
        <p:nvSpPr>
          <p:cNvPr id="4" name="Text 2"/>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800" dirty="0">
                <a:solidFill>
                  <a:srgbClr val="A3A29C"/>
                </a:solidFill>
                <a:latin typeface="Calibri" pitchFamily="34" charset="0"/>
                <a:ea typeface="Calibri" pitchFamily="34" charset="-122"/>
                <a:cs typeface="Calibri" pitchFamily="34" charset="-120"/>
              </a:rPr>
              <a:t>Strata Sense (fictional) · D6</a:t>
            </a:r>
            <a:endParaRPr lang="en-US" sz="800" dirty="0"/>
          </a:p>
        </p:txBody>
      </p:sp>
      <p:sp>
        <p:nvSpPr>
          <p:cNvPr id="5" name="Shape 3"/>
          <p:cNvSpPr/>
          <p:nvPr/>
        </p:nvSpPr>
        <p:spPr>
          <a:xfrm>
            <a:off x="457200" y="1234440"/>
            <a:ext cx="2651760" cy="3246120"/>
          </a:xfrm>
          <a:prstGeom prst="rect">
            <a:avLst/>
          </a:prstGeom>
          <a:solidFill>
            <a:srgbClr val="F7F6F2"/>
          </a:solidFill>
          <a:ln w="12700">
            <a:solidFill>
              <a:srgbClr val="D9D8D2"/>
            </a:solidFill>
            <a:prstDash val="solid"/>
          </a:ln>
        </p:spPr>
      </p:sp>
      <p:sp>
        <p:nvSpPr>
          <p:cNvPr id="6" name="Shape 4"/>
          <p:cNvSpPr/>
          <p:nvPr/>
        </p:nvSpPr>
        <p:spPr>
          <a:xfrm>
            <a:off x="457200" y="1234440"/>
            <a:ext cx="64008" cy="3246120"/>
          </a:xfrm>
          <a:prstGeom prst="rect">
            <a:avLst/>
          </a:prstGeom>
          <a:solidFill>
            <a:srgbClr val="2A78D6"/>
          </a:solidFill>
          <a:ln w="12700">
            <a:solidFill>
              <a:srgbClr val="2A78D6"/>
            </a:solidFill>
            <a:prstDash val="solid"/>
          </a:ln>
        </p:spPr>
      </p:sp>
      <p:sp>
        <p:nvSpPr>
          <p:cNvPr id="7" name="Text 5"/>
          <p:cNvSpPr txBox="1"/>
          <p:nvPr/>
        </p:nvSpPr>
        <p:spPr>
          <a:xfrm>
            <a:off x="621792" y="1307592"/>
            <a:ext cx="2395728" cy="3118104"/>
          </a:xfrm>
          <a:prstGeom prst="rect">
            <a:avLst/>
          </a:prstGeom>
          <a:noFill/>
          <a:ln/>
        </p:spPr>
        <p:txBody>
          <a:bodyPr wrap="square" lIns="0" tIns="0" rIns="0" bIns="0" rtlCol="0" anchor="t"/>
          <a:lstStyle/>
          <a:p>
            <a:pPr indent="0" marL="0">
              <a:buNone/>
            </a:pPr>
            <a:r>
              <a:rPr lang="en-US" sz="1200" b="1" dirty="0">
                <a:solidFill>
                  <a:srgbClr val="1A1A1A"/>
                </a:solidFill>
                <a:latin typeface="Calibri" pitchFamily="34" charset="0"/>
                <a:ea typeface="Calibri" pitchFamily="34" charset="-122"/>
                <a:cs typeface="Calibri" pitchFamily="34" charset="-120"/>
              </a:rPr>
              <a:t>Deal registration</a:t>
            </a:r>
            <a:endParaRPr lang="en-US" sz="1200" dirty="0"/>
          </a:p>
          <a:p>
            <a:pPr indent="0" marL="0">
              <a:buNone/>
            </a:pPr>
            <a:r>
              <a:rPr lang="en-US" sz="1150" dirty="0">
                <a:solidFill>
                  <a:srgbClr val="52514E"/>
                </a:solidFill>
                <a:latin typeface="Calibri" pitchFamily="34" charset="0"/>
                <a:ea typeface="Calibri" pitchFamily="34" charset="-122"/>
                <a:cs typeface="Calibri" pitchFamily="34" charset="-120"/>
              </a:rPr>
              <a:t>• Partner registers named account, project and competitor lines they sell</a:t>
            </a:r>
            <a:endParaRPr lang="en-US" sz="1200" dirty="0"/>
          </a:p>
          <a:p>
            <a:pPr indent="0" marL="0">
              <a:buNone/>
            </a:pPr>
            <a:r>
              <a:rPr lang="en-US" sz="1150" dirty="0">
                <a:solidFill>
                  <a:srgbClr val="52514E"/>
                </a:solidFill>
                <a:latin typeface="Calibri" pitchFamily="34" charset="0"/>
                <a:ea typeface="Calibri" pitchFamily="34" charset="-122"/>
                <a:cs typeface="Calibri" pitchFamily="34" charset="-120"/>
              </a:rPr>
              <a:t>• Channel manager approves or rejects in 48 hours</a:t>
            </a:r>
            <a:endParaRPr lang="en-US" sz="1200" dirty="0"/>
          </a:p>
          <a:p>
            <a:pPr indent="0" marL="0">
              <a:buNone/>
            </a:pPr>
            <a:r>
              <a:rPr lang="en-US" sz="1150" dirty="0">
                <a:solidFill>
                  <a:srgbClr val="52514E"/>
                </a:solidFill>
                <a:latin typeface="Calibri" pitchFamily="34" charset="0"/>
                <a:ea typeface="Calibri" pitchFamily="34" charset="-122"/>
                <a:cs typeface="Calibri" pitchFamily="34" charset="-120"/>
              </a:rPr>
              <a:t>• Protection 90 days (Gold 120), renewable once with evidence of progress</a:t>
            </a:r>
            <a:endParaRPr lang="en-US" sz="1200" dirty="0"/>
          </a:p>
          <a:p>
            <a:pPr indent="0" marL="0">
              <a:buNone/>
            </a:pPr>
            <a:r>
              <a:rPr lang="en-US" sz="1150" dirty="0">
                <a:solidFill>
                  <a:srgbClr val="52514E"/>
                </a:solidFill>
                <a:latin typeface="Calibri" pitchFamily="34" charset="0"/>
                <a:ea typeface="Calibri" pitchFamily="34" charset="-122"/>
                <a:cs typeface="Calibri" pitchFamily="34" charset="-120"/>
              </a:rPr>
              <a:t>• First valid registration wins; direct AE opportunities created earlier take priority</a:t>
            </a:r>
            <a:endParaRPr lang="en-US" sz="1200" dirty="0"/>
          </a:p>
        </p:txBody>
      </p:sp>
      <p:sp>
        <p:nvSpPr>
          <p:cNvPr id="8" name="Shape 6"/>
          <p:cNvSpPr/>
          <p:nvPr/>
        </p:nvSpPr>
        <p:spPr>
          <a:xfrm>
            <a:off x="3246120" y="1234440"/>
            <a:ext cx="2651760" cy="3246120"/>
          </a:xfrm>
          <a:prstGeom prst="rect">
            <a:avLst/>
          </a:prstGeom>
          <a:solidFill>
            <a:srgbClr val="F7F6F2"/>
          </a:solidFill>
          <a:ln w="12700">
            <a:solidFill>
              <a:srgbClr val="D9D8D2"/>
            </a:solidFill>
            <a:prstDash val="solid"/>
          </a:ln>
        </p:spPr>
      </p:sp>
      <p:sp>
        <p:nvSpPr>
          <p:cNvPr id="9" name="Shape 7"/>
          <p:cNvSpPr/>
          <p:nvPr/>
        </p:nvSpPr>
        <p:spPr>
          <a:xfrm>
            <a:off x="3246120" y="1234440"/>
            <a:ext cx="64008" cy="3246120"/>
          </a:xfrm>
          <a:prstGeom prst="rect">
            <a:avLst/>
          </a:prstGeom>
          <a:solidFill>
            <a:srgbClr val="EB6834"/>
          </a:solidFill>
          <a:ln w="12700">
            <a:solidFill>
              <a:srgbClr val="EB6834"/>
            </a:solidFill>
            <a:prstDash val="solid"/>
          </a:ln>
        </p:spPr>
      </p:sp>
      <p:sp>
        <p:nvSpPr>
          <p:cNvPr id="10" name="Text 8"/>
          <p:cNvSpPr txBox="1"/>
          <p:nvPr/>
        </p:nvSpPr>
        <p:spPr>
          <a:xfrm>
            <a:off x="3410712" y="1307592"/>
            <a:ext cx="2395728" cy="3118104"/>
          </a:xfrm>
          <a:prstGeom prst="rect">
            <a:avLst/>
          </a:prstGeom>
          <a:noFill/>
          <a:ln/>
        </p:spPr>
        <p:txBody>
          <a:bodyPr wrap="square" lIns="0" tIns="0" rIns="0" bIns="0" rtlCol="0" anchor="t"/>
          <a:lstStyle/>
          <a:p>
            <a:pPr indent="0" marL="0">
              <a:buNone/>
            </a:pPr>
            <a:r>
              <a:rPr lang="en-US" sz="1200" b="1" dirty="0">
                <a:solidFill>
                  <a:srgbClr val="1A1A1A"/>
                </a:solidFill>
                <a:latin typeface="Calibri" pitchFamily="34" charset="0"/>
                <a:ea typeface="Calibri" pitchFamily="34" charset="-122"/>
                <a:cs typeface="Calibri" pitchFamily="34" charset="-120"/>
              </a:rPr>
              <a:t>Conflict rules</a:t>
            </a:r>
            <a:endParaRPr lang="en-US" sz="1200" dirty="0"/>
          </a:p>
          <a:p>
            <a:pPr indent="0" marL="0">
              <a:buNone/>
            </a:pPr>
            <a:r>
              <a:rPr lang="en-US" sz="1150" dirty="0">
                <a:solidFill>
                  <a:srgbClr val="52514E"/>
                </a:solidFill>
                <a:latin typeface="Calibri" pitchFamily="34" charset="0"/>
                <a:ea typeface="Calibri" pitchFamily="34" charset="-122"/>
                <a:cs typeface="Calibri" pitchFamily="34" charset="-120"/>
              </a:rPr>
              <a:t>• Strategic tier (400) and top-30 customers: direct only; partner can deliver services</a:t>
            </a:r>
            <a:endParaRPr lang="en-US" sz="1200" dirty="0"/>
          </a:p>
          <a:p>
            <a:pPr indent="0" marL="0">
              <a:buNone/>
            </a:pPr>
            <a:r>
              <a:rPr lang="en-US" sz="1150" dirty="0">
                <a:solidFill>
                  <a:srgbClr val="52514E"/>
                </a:solidFill>
                <a:latin typeface="Calibri" pitchFamily="34" charset="0"/>
                <a:ea typeface="Calibri" pitchFamily="34" charset="-122"/>
                <a:cs typeface="Calibri" pitchFamily="34" charset="-120"/>
              </a:rPr>
              <a:t>• Helix-incumbent accounts: no registration by Helix-tied partners</a:t>
            </a:r>
            <a:endParaRPr lang="en-US" sz="1200" dirty="0"/>
          </a:p>
          <a:p>
            <a:pPr indent="0" marL="0">
              <a:buNone/>
            </a:pPr>
            <a:r>
              <a:rPr lang="en-US" sz="1150" dirty="0">
                <a:solidFill>
                  <a:srgbClr val="52514E"/>
                </a:solidFill>
                <a:latin typeface="Calibri" pitchFamily="34" charset="0"/>
                <a:ea typeface="Calibri" pitchFamily="34" charset="-122"/>
                <a:cs typeface="Calibri" pitchFamily="34" charset="-120"/>
              </a:rPr>
              <a:t>• Channel manager rules on disputes within 5 working days; CRO decides appeals</a:t>
            </a:r>
            <a:endParaRPr lang="en-US" sz="1200" dirty="0"/>
          </a:p>
          <a:p>
            <a:pPr indent="0" marL="0">
              <a:buNone/>
            </a:pPr>
            <a:r>
              <a:rPr lang="en-US" sz="1150" dirty="0">
                <a:solidFill>
                  <a:srgbClr val="52514E"/>
                </a:solidFill>
                <a:latin typeface="Calibri" pitchFamily="34" charset="0"/>
                <a:ea typeface="Calibri" pitchFamily="34" charset="-122"/>
                <a:cs typeface="Calibri" pitchFamily="34" charset="-120"/>
              </a:rPr>
              <a:t>• A partner that switches a registered deal to a competitor loses tier immediately</a:t>
            </a:r>
            <a:endParaRPr lang="en-US" sz="1200" dirty="0"/>
          </a:p>
        </p:txBody>
      </p:sp>
      <p:sp>
        <p:nvSpPr>
          <p:cNvPr id="11" name="Shape 9"/>
          <p:cNvSpPr/>
          <p:nvPr/>
        </p:nvSpPr>
        <p:spPr>
          <a:xfrm>
            <a:off x="6035040" y="1234440"/>
            <a:ext cx="2651760" cy="3246120"/>
          </a:xfrm>
          <a:prstGeom prst="rect">
            <a:avLst/>
          </a:prstGeom>
          <a:solidFill>
            <a:srgbClr val="F7F6F2"/>
          </a:solidFill>
          <a:ln w="12700">
            <a:solidFill>
              <a:srgbClr val="D9D8D2"/>
            </a:solidFill>
            <a:prstDash val="solid"/>
          </a:ln>
        </p:spPr>
      </p:sp>
      <p:sp>
        <p:nvSpPr>
          <p:cNvPr id="12" name="Shape 10"/>
          <p:cNvSpPr/>
          <p:nvPr/>
        </p:nvSpPr>
        <p:spPr>
          <a:xfrm>
            <a:off x="6035040" y="1234440"/>
            <a:ext cx="64008" cy="3246120"/>
          </a:xfrm>
          <a:prstGeom prst="rect">
            <a:avLst/>
          </a:prstGeom>
          <a:solidFill>
            <a:srgbClr val="1BAF7A"/>
          </a:solidFill>
          <a:ln w="12700">
            <a:solidFill>
              <a:srgbClr val="1BAF7A"/>
            </a:solidFill>
            <a:prstDash val="solid"/>
          </a:ln>
        </p:spPr>
      </p:sp>
      <p:sp>
        <p:nvSpPr>
          <p:cNvPr id="13" name="Text 11"/>
          <p:cNvSpPr txBox="1"/>
          <p:nvPr/>
        </p:nvSpPr>
        <p:spPr>
          <a:xfrm>
            <a:off x="6199632" y="1307592"/>
            <a:ext cx="2395728" cy="3118104"/>
          </a:xfrm>
          <a:prstGeom prst="rect">
            <a:avLst/>
          </a:prstGeom>
          <a:noFill/>
          <a:ln/>
        </p:spPr>
        <p:txBody>
          <a:bodyPr wrap="square" lIns="0" tIns="0" rIns="0" bIns="0" rtlCol="0" anchor="t"/>
          <a:lstStyle/>
          <a:p>
            <a:pPr indent="0" marL="0">
              <a:buNone/>
            </a:pPr>
            <a:r>
              <a:rPr lang="en-US" sz="1200" b="1" dirty="0">
                <a:solidFill>
                  <a:srgbClr val="1A1A1A"/>
                </a:solidFill>
                <a:latin typeface="Calibri" pitchFamily="34" charset="0"/>
                <a:ea typeface="Calibri" pitchFamily="34" charset="-122"/>
                <a:cs typeface="Calibri" pitchFamily="34" charset="-120"/>
              </a:rPr>
              <a:t>Direct team incentive</a:t>
            </a:r>
            <a:endParaRPr lang="en-US" sz="1200" dirty="0"/>
          </a:p>
          <a:p>
            <a:pPr indent="0" marL="0">
              <a:buNone/>
            </a:pPr>
            <a:r>
              <a:rPr lang="en-US" sz="1150" dirty="0">
                <a:solidFill>
                  <a:srgbClr val="52514E"/>
                </a:solidFill>
                <a:latin typeface="Calibri" pitchFamily="34" charset="0"/>
                <a:ea typeface="Calibri" pitchFamily="34" charset="-122"/>
                <a:cs typeface="Calibri" pitchFamily="34" charset="-120"/>
              </a:rPr>
              <a:t>• AE gets 50% quota credit on partner-sourced deals in their territory (comp only)</a:t>
            </a:r>
            <a:endParaRPr lang="en-US" sz="1200" dirty="0"/>
          </a:p>
          <a:p>
            <a:pPr indent="0" marL="0">
              <a:buNone/>
            </a:pPr>
            <a:r>
              <a:rPr lang="en-US" sz="1150" dirty="0">
                <a:solidFill>
                  <a:srgbClr val="52514E"/>
                </a:solidFill>
                <a:latin typeface="Calibri" pitchFamily="34" charset="0"/>
                <a:ea typeface="Calibri" pitchFamily="34" charset="-122"/>
                <a:cs typeface="Calibri" pitchFamily="34" charset="-120"/>
              </a:rPr>
              <a:t>• Bookings count once, as partner-sourced</a:t>
            </a:r>
            <a:endParaRPr lang="en-US" sz="1200" dirty="0"/>
          </a:p>
          <a:p>
            <a:pPr indent="0" marL="0">
              <a:buNone/>
            </a:pPr>
            <a:r>
              <a:rPr lang="en-US" sz="1150" dirty="0">
                <a:solidFill>
                  <a:srgbClr val="52514E"/>
                </a:solidFill>
                <a:latin typeface="Calibri" pitchFamily="34" charset="0"/>
                <a:ea typeface="Calibri" pitchFamily="34" charset="-122"/>
                <a:cs typeface="Calibri" pitchFamily="34" charset="-120"/>
              </a:rPr>
              <a:t>• No AE credit for deals in accounts they never touched</a:t>
            </a:r>
            <a:endParaRPr lang="en-US" sz="1200" dirty="0"/>
          </a:p>
          <a:p>
            <a:pPr indent="0" marL="0">
              <a:buNone/>
            </a:pPr>
            <a:r>
              <a:rPr lang="en-US" sz="1150" dirty="0">
                <a:solidFill>
                  <a:srgbClr val="52514E"/>
                </a:solidFill>
                <a:latin typeface="Calibri" pitchFamily="34" charset="0"/>
                <a:ea typeface="Calibri" pitchFamily="34" charset="-122"/>
                <a:cs typeface="Calibri" pitchFamily="34" charset="-120"/>
              </a:rPr>
              <a:t>• Partner-sourced ARR is a line in the forecast, owned by the VP Channel</a:t>
            </a:r>
            <a:endParaRPr lang="en-US" sz="1200" dirty="0"/>
          </a:p>
        </p:txBody>
      </p:sp>
      <p:sp>
        <p:nvSpPr>
          <p:cNvPr id="14" name="Text 12"/>
          <p:cNvSpPr txBox="1"/>
          <p:nvPr/>
        </p:nvSpPr>
        <p:spPr>
          <a:xfrm>
            <a:off x="457200" y="4617720"/>
            <a:ext cx="8229600" cy="201168"/>
          </a:xfrm>
          <a:prstGeom prst="rect">
            <a:avLst/>
          </a:prstGeom>
          <a:noFill/>
          <a:ln/>
        </p:spPr>
        <p:txBody>
          <a:bodyPr wrap="square" lIns="0" tIns="0" rIns="0" bIns="0" rtlCol="0" anchor="ctr"/>
          <a:lstStyle/>
          <a:p>
            <a:pPr indent="0" marL="0">
              <a:buNone/>
            </a:pPr>
            <a:r>
              <a:rPr lang="en-US" sz="800" i="1" dirty="0">
                <a:solidFill>
                  <a:srgbClr val="52514E"/>
                </a:solidFill>
                <a:latin typeface="Calibri" pitchFamily="34" charset="0"/>
                <a:ea typeface="Calibri" pitchFamily="34" charset="-122"/>
                <a:cs typeface="Calibri" pitchFamily="34" charset="-120"/>
              </a:rPr>
              <a:t>Source: design choices. Counting rule matches D7 workbook (partner ARR is inside, not added to, total new-logo ARR).</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28600"/>
            <a:ext cx="8229600" cy="228600"/>
          </a:xfrm>
          <a:prstGeom prst="rect">
            <a:avLst/>
          </a:prstGeom>
          <a:noFill/>
          <a:ln/>
        </p:spPr>
        <p:txBody>
          <a:bodyPr wrap="square" lIns="0" tIns="0" rIns="0" bIns="0" rtlCol="0" anchor="ctr"/>
          <a:lstStyle/>
          <a:p>
            <a:pPr indent="0" marL="0">
              <a:buNone/>
            </a:pPr>
            <a:r>
              <a:rPr lang="en-US" sz="1000" b="1" spc="200" kern="0" dirty="0">
                <a:solidFill>
                  <a:srgbClr val="EB6834"/>
                </a:solidFill>
                <a:latin typeface="Calibri" pitchFamily="34" charset="0"/>
                <a:ea typeface="Calibri" pitchFamily="34" charset="-122"/>
                <a:cs typeface="Calibri" pitchFamily="34" charset="-120"/>
              </a:rPr>
              <a:t>CERTIFICATION, ENABLEMENT AND RAMP</a:t>
            </a:r>
            <a:endParaRPr lang="en-US" sz="1000" dirty="0"/>
          </a:p>
        </p:txBody>
      </p:sp>
      <p:sp>
        <p:nvSpPr>
          <p:cNvPr id="3" name="Text 1"/>
          <p:cNvSpPr txBox="1"/>
          <p:nvPr/>
        </p:nvSpPr>
        <p:spPr>
          <a:xfrm>
            <a:off x="457200" y="438912"/>
            <a:ext cx="8229600" cy="685800"/>
          </a:xfrm>
          <a:prstGeom prst="rect">
            <a:avLst/>
          </a:prstGeom>
          <a:noFill/>
          <a:ln/>
        </p:spPr>
        <p:txBody>
          <a:bodyPr wrap="square" lIns="0" tIns="0" rIns="0" bIns="0" rtlCol="0" anchor="t"/>
          <a:lstStyle/>
          <a:p>
            <a:pPr indent="0" marL="0">
              <a:buNone/>
            </a:pPr>
            <a:r>
              <a:rPr lang="en-US" sz="2100" b="1" dirty="0">
                <a:solidFill>
                  <a:srgbClr val="1F3A5F"/>
                </a:solidFill>
                <a:latin typeface="Cambria" pitchFamily="34" charset="0"/>
                <a:ea typeface="Cambria" pitchFamily="34" charset="-122"/>
                <a:cs typeface="Cambria" pitchFamily="34" charset="-120"/>
              </a:rPr>
              <a:t>A new partner takes 6–12 months to its first deal, so FY27 is mostly spent certifying and building pipeline</a:t>
            </a:r>
            <a:endParaRPr lang="en-US" sz="2100" dirty="0"/>
          </a:p>
        </p:txBody>
      </p:sp>
      <p:sp>
        <p:nvSpPr>
          <p:cNvPr id="4" name="Text 2"/>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800" dirty="0">
                <a:solidFill>
                  <a:srgbClr val="A3A29C"/>
                </a:solidFill>
                <a:latin typeface="Calibri" pitchFamily="34" charset="0"/>
                <a:ea typeface="Calibri" pitchFamily="34" charset="-122"/>
                <a:cs typeface="Calibri" pitchFamily="34" charset="-120"/>
              </a:rPr>
              <a:t>Strata Sense (fictional) · D6</a:t>
            </a:r>
            <a:endParaRPr lang="en-US" sz="800" dirty="0"/>
          </a:p>
        </p:txBody>
      </p:sp>
      <p:sp>
        <p:nvSpPr>
          <p:cNvPr id="5" name="Shape 3"/>
          <p:cNvSpPr/>
          <p:nvPr/>
        </p:nvSpPr>
        <p:spPr>
          <a:xfrm>
            <a:off x="457200" y="1371600"/>
            <a:ext cx="1298448" cy="384048"/>
          </a:xfrm>
          <a:prstGeom prst="rect">
            <a:avLst/>
          </a:prstGeom>
          <a:solidFill>
            <a:srgbClr val="2A78D6"/>
          </a:solidFill>
          <a:ln w="12700">
            <a:solidFill>
              <a:srgbClr val="FFFFFF"/>
            </a:solidFill>
            <a:prstDash val="solid"/>
          </a:ln>
        </p:spPr>
      </p:sp>
      <p:sp>
        <p:nvSpPr>
          <p:cNvPr id="6" name="Text 4"/>
          <p:cNvSpPr txBox="1"/>
          <p:nvPr/>
        </p:nvSpPr>
        <p:spPr>
          <a:xfrm>
            <a:off x="457200" y="1371600"/>
            <a:ext cx="1298448"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Month 0–1</a:t>
            </a:r>
            <a:endParaRPr lang="en-US" sz="1050" dirty="0"/>
          </a:p>
        </p:txBody>
      </p:sp>
      <p:sp>
        <p:nvSpPr>
          <p:cNvPr id="7" name="Text 5"/>
          <p:cNvSpPr txBox="1"/>
          <p:nvPr/>
        </p:nvSpPr>
        <p:spPr>
          <a:xfrm>
            <a:off x="457200" y="1828800"/>
            <a:ext cx="1298448" cy="1280160"/>
          </a:xfrm>
          <a:prstGeom prst="rect">
            <a:avLst/>
          </a:prstGeom>
          <a:noFill/>
          <a:ln/>
        </p:spPr>
        <p:txBody>
          <a:bodyPr wrap="square" lIns="254" tIns="254" rIns="254" bIns="254" rtlCol="0" anchor="t"/>
          <a:lstStyle/>
          <a:p>
            <a:pPr indent="0" marL="0">
              <a:buNone/>
            </a:pPr>
            <a:r>
              <a:rPr lang="en-US" sz="950" dirty="0">
                <a:solidFill>
                  <a:srgbClr val="52514E"/>
                </a:solidFill>
                <a:latin typeface="Calibri" pitchFamily="34" charset="0"/>
                <a:ea typeface="Calibri" pitchFamily="34" charset="-122"/>
                <a:cs typeface="Calibri" pitchFamily="34" charset="-120"/>
              </a:rPr>
              <a:t>Sign, conflict check, joint account list from D2 low-touch and SEA territory</a:t>
            </a:r>
            <a:endParaRPr lang="en-US" sz="950" dirty="0"/>
          </a:p>
        </p:txBody>
      </p:sp>
      <p:sp>
        <p:nvSpPr>
          <p:cNvPr id="8" name="Shape 6"/>
          <p:cNvSpPr/>
          <p:nvPr/>
        </p:nvSpPr>
        <p:spPr>
          <a:xfrm>
            <a:off x="1847088" y="1371600"/>
            <a:ext cx="1298448" cy="384048"/>
          </a:xfrm>
          <a:prstGeom prst="rect">
            <a:avLst/>
          </a:prstGeom>
          <a:solidFill>
            <a:srgbClr val="2A78D6"/>
          </a:solidFill>
          <a:ln w="12700">
            <a:solidFill>
              <a:srgbClr val="FFFFFF"/>
            </a:solidFill>
            <a:prstDash val="solid"/>
          </a:ln>
        </p:spPr>
      </p:sp>
      <p:sp>
        <p:nvSpPr>
          <p:cNvPr id="9" name="Text 7"/>
          <p:cNvSpPr txBox="1"/>
          <p:nvPr/>
        </p:nvSpPr>
        <p:spPr>
          <a:xfrm>
            <a:off x="1847088" y="1371600"/>
            <a:ext cx="1298448"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Month 1–3</a:t>
            </a:r>
            <a:endParaRPr lang="en-US" sz="1050" dirty="0"/>
          </a:p>
        </p:txBody>
      </p:sp>
      <p:sp>
        <p:nvSpPr>
          <p:cNvPr id="10" name="Text 8"/>
          <p:cNvSpPr txBox="1"/>
          <p:nvPr/>
        </p:nvSpPr>
        <p:spPr>
          <a:xfrm>
            <a:off x="1847088" y="1828800"/>
            <a:ext cx="1298448" cy="1280160"/>
          </a:xfrm>
          <a:prstGeom prst="rect">
            <a:avLst/>
          </a:prstGeom>
          <a:noFill/>
          <a:ln/>
        </p:spPr>
        <p:txBody>
          <a:bodyPr wrap="square" lIns="254" tIns="254" rIns="254" bIns="254" rtlCol="0" anchor="t"/>
          <a:lstStyle/>
          <a:p>
            <a:pPr indent="0" marL="0">
              <a:buNone/>
            </a:pPr>
            <a:r>
              <a:rPr lang="en-US" sz="950" dirty="0">
                <a:solidFill>
                  <a:srgbClr val="52514E"/>
                </a:solidFill>
                <a:latin typeface="Calibri" pitchFamily="34" charset="0"/>
                <a:ea typeface="Calibri" pitchFamily="34" charset="-122"/>
                <a:cs typeface="Calibri" pitchFamily="34" charset="-120"/>
              </a:rPr>
              <a:t>Certify 2 engineers (installation, TrueSense analytics); demo kit; first 10 joint account plans</a:t>
            </a:r>
            <a:endParaRPr lang="en-US" sz="950" dirty="0"/>
          </a:p>
        </p:txBody>
      </p:sp>
      <p:sp>
        <p:nvSpPr>
          <p:cNvPr id="11" name="Shape 9"/>
          <p:cNvSpPr/>
          <p:nvPr/>
        </p:nvSpPr>
        <p:spPr>
          <a:xfrm>
            <a:off x="3236976" y="1371600"/>
            <a:ext cx="1298448" cy="384048"/>
          </a:xfrm>
          <a:prstGeom prst="rect">
            <a:avLst/>
          </a:prstGeom>
          <a:solidFill>
            <a:srgbClr val="2A78D6"/>
          </a:solidFill>
          <a:ln w="12700">
            <a:solidFill>
              <a:srgbClr val="FFFFFF"/>
            </a:solidFill>
            <a:prstDash val="solid"/>
          </a:ln>
        </p:spPr>
      </p:sp>
      <p:sp>
        <p:nvSpPr>
          <p:cNvPr id="12" name="Text 10"/>
          <p:cNvSpPr txBox="1"/>
          <p:nvPr/>
        </p:nvSpPr>
        <p:spPr>
          <a:xfrm>
            <a:off x="3236976" y="1371600"/>
            <a:ext cx="1298448"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Month 3–6</a:t>
            </a:r>
            <a:endParaRPr lang="en-US" sz="1050" dirty="0"/>
          </a:p>
        </p:txBody>
      </p:sp>
      <p:sp>
        <p:nvSpPr>
          <p:cNvPr id="13" name="Text 11"/>
          <p:cNvSpPr txBox="1"/>
          <p:nvPr/>
        </p:nvSpPr>
        <p:spPr>
          <a:xfrm>
            <a:off x="3236976" y="1828800"/>
            <a:ext cx="1298448" cy="1280160"/>
          </a:xfrm>
          <a:prstGeom prst="rect">
            <a:avLst/>
          </a:prstGeom>
          <a:noFill/>
          <a:ln/>
        </p:spPr>
        <p:txBody>
          <a:bodyPr wrap="square" lIns="254" tIns="254" rIns="254" bIns="254" rtlCol="0" anchor="t"/>
          <a:lstStyle/>
          <a:p>
            <a:pPr indent="0" marL="0">
              <a:buNone/>
            </a:pPr>
            <a:r>
              <a:rPr lang="en-US" sz="950" dirty="0">
                <a:solidFill>
                  <a:srgbClr val="52514E"/>
                </a:solidFill>
                <a:latin typeface="Calibri" pitchFamily="34" charset="0"/>
                <a:ea typeface="Calibri" pitchFamily="34" charset="-122"/>
                <a:cs typeface="Calibri" pitchFamily="34" charset="-120"/>
              </a:rPr>
              <a:t>Co-sell with SE on first 3 deals; register pipeline</a:t>
            </a:r>
            <a:endParaRPr lang="en-US" sz="950" dirty="0"/>
          </a:p>
        </p:txBody>
      </p:sp>
      <p:sp>
        <p:nvSpPr>
          <p:cNvPr id="14" name="Shape 12"/>
          <p:cNvSpPr/>
          <p:nvPr/>
        </p:nvSpPr>
        <p:spPr>
          <a:xfrm>
            <a:off x="4626864" y="1371600"/>
            <a:ext cx="1298448" cy="384048"/>
          </a:xfrm>
          <a:prstGeom prst="rect">
            <a:avLst/>
          </a:prstGeom>
          <a:solidFill>
            <a:srgbClr val="2A78D6"/>
          </a:solidFill>
          <a:ln w="12700">
            <a:solidFill>
              <a:srgbClr val="FFFFFF"/>
            </a:solidFill>
            <a:prstDash val="solid"/>
          </a:ln>
        </p:spPr>
      </p:sp>
      <p:sp>
        <p:nvSpPr>
          <p:cNvPr id="15" name="Text 13"/>
          <p:cNvSpPr txBox="1"/>
          <p:nvPr/>
        </p:nvSpPr>
        <p:spPr>
          <a:xfrm>
            <a:off x="4626864" y="1371600"/>
            <a:ext cx="1298448"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Month 6–12</a:t>
            </a:r>
            <a:endParaRPr lang="en-US" sz="1050" dirty="0"/>
          </a:p>
        </p:txBody>
      </p:sp>
      <p:sp>
        <p:nvSpPr>
          <p:cNvPr id="16" name="Text 14"/>
          <p:cNvSpPr txBox="1"/>
          <p:nvPr/>
        </p:nvSpPr>
        <p:spPr>
          <a:xfrm>
            <a:off x="4626864" y="1828800"/>
            <a:ext cx="1298448" cy="1280160"/>
          </a:xfrm>
          <a:prstGeom prst="rect">
            <a:avLst/>
          </a:prstGeom>
          <a:noFill/>
          <a:ln/>
        </p:spPr>
        <p:txBody>
          <a:bodyPr wrap="square" lIns="254" tIns="254" rIns="254" bIns="254" rtlCol="0" anchor="t"/>
          <a:lstStyle/>
          <a:p>
            <a:pPr indent="0" marL="0">
              <a:buNone/>
            </a:pPr>
            <a:r>
              <a:rPr lang="en-US" sz="950" dirty="0">
                <a:solidFill>
                  <a:srgbClr val="52514E"/>
                </a:solidFill>
                <a:latin typeface="Calibri" pitchFamily="34" charset="0"/>
                <a:ea typeface="Calibri" pitchFamily="34" charset="-122"/>
                <a:cs typeface="Calibri" pitchFamily="34" charset="-120"/>
              </a:rPr>
              <a:t>First close (SIs, MSPs); machine builders at ~12 months</a:t>
            </a:r>
            <a:endParaRPr lang="en-US" sz="950" dirty="0"/>
          </a:p>
        </p:txBody>
      </p:sp>
      <p:sp>
        <p:nvSpPr>
          <p:cNvPr id="17" name="Shape 15"/>
          <p:cNvSpPr/>
          <p:nvPr/>
        </p:nvSpPr>
        <p:spPr>
          <a:xfrm>
            <a:off x="6016752" y="1371600"/>
            <a:ext cx="1298448" cy="384048"/>
          </a:xfrm>
          <a:prstGeom prst="rect">
            <a:avLst/>
          </a:prstGeom>
          <a:solidFill>
            <a:srgbClr val="1F3A5F"/>
          </a:solidFill>
          <a:ln w="12700">
            <a:solidFill>
              <a:srgbClr val="FFFFFF"/>
            </a:solidFill>
            <a:prstDash val="solid"/>
          </a:ln>
        </p:spPr>
      </p:sp>
      <p:sp>
        <p:nvSpPr>
          <p:cNvPr id="18" name="Text 16"/>
          <p:cNvSpPr txBox="1"/>
          <p:nvPr/>
        </p:nvSpPr>
        <p:spPr>
          <a:xfrm>
            <a:off x="6016752" y="1371600"/>
            <a:ext cx="1298448"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Year 2</a:t>
            </a:r>
            <a:endParaRPr lang="en-US" sz="1050" dirty="0"/>
          </a:p>
        </p:txBody>
      </p:sp>
      <p:sp>
        <p:nvSpPr>
          <p:cNvPr id="19" name="Text 17"/>
          <p:cNvSpPr txBox="1"/>
          <p:nvPr/>
        </p:nvSpPr>
        <p:spPr>
          <a:xfrm>
            <a:off x="6016752" y="1828800"/>
            <a:ext cx="1298448" cy="1280160"/>
          </a:xfrm>
          <a:prstGeom prst="rect">
            <a:avLst/>
          </a:prstGeom>
          <a:noFill/>
          <a:ln/>
        </p:spPr>
        <p:txBody>
          <a:bodyPr wrap="square" lIns="254" tIns="254" rIns="254" bIns="254" rtlCol="0" anchor="t"/>
          <a:lstStyle/>
          <a:p>
            <a:pPr indent="0" marL="0">
              <a:buNone/>
            </a:pPr>
            <a:r>
              <a:rPr lang="en-US" sz="950" dirty="0">
                <a:solidFill>
                  <a:srgbClr val="52514E"/>
                </a:solidFill>
                <a:latin typeface="Calibri" pitchFamily="34" charset="0"/>
                <a:ea typeface="Calibri" pitchFamily="34" charset="-122"/>
                <a:cs typeface="Calibri" pitchFamily="34" charset="-120"/>
              </a:rPr>
              <a:t>About 60% of mature productivity</a:t>
            </a:r>
            <a:endParaRPr lang="en-US" sz="950" dirty="0"/>
          </a:p>
        </p:txBody>
      </p:sp>
      <p:sp>
        <p:nvSpPr>
          <p:cNvPr id="20" name="Shape 18"/>
          <p:cNvSpPr/>
          <p:nvPr/>
        </p:nvSpPr>
        <p:spPr>
          <a:xfrm>
            <a:off x="7406640" y="1371600"/>
            <a:ext cx="1298448" cy="384048"/>
          </a:xfrm>
          <a:prstGeom prst="rect">
            <a:avLst/>
          </a:prstGeom>
          <a:solidFill>
            <a:srgbClr val="1F3A5F"/>
          </a:solidFill>
          <a:ln w="12700">
            <a:solidFill>
              <a:srgbClr val="FFFFFF"/>
            </a:solidFill>
            <a:prstDash val="solid"/>
          </a:ln>
        </p:spPr>
      </p:sp>
      <p:sp>
        <p:nvSpPr>
          <p:cNvPr id="21" name="Text 19"/>
          <p:cNvSpPr txBox="1"/>
          <p:nvPr/>
        </p:nvSpPr>
        <p:spPr>
          <a:xfrm>
            <a:off x="7406640" y="1371600"/>
            <a:ext cx="1298448"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Year 3</a:t>
            </a:r>
            <a:endParaRPr lang="en-US" sz="1050" dirty="0"/>
          </a:p>
        </p:txBody>
      </p:sp>
      <p:sp>
        <p:nvSpPr>
          <p:cNvPr id="22" name="Text 20"/>
          <p:cNvSpPr txBox="1"/>
          <p:nvPr/>
        </p:nvSpPr>
        <p:spPr>
          <a:xfrm>
            <a:off x="7406640" y="1828800"/>
            <a:ext cx="1298448" cy="1280160"/>
          </a:xfrm>
          <a:prstGeom prst="rect">
            <a:avLst/>
          </a:prstGeom>
          <a:noFill/>
          <a:ln/>
        </p:spPr>
        <p:txBody>
          <a:bodyPr wrap="square" lIns="254" tIns="254" rIns="254" bIns="254" rtlCol="0" anchor="t"/>
          <a:lstStyle/>
          <a:p>
            <a:pPr indent="0" marL="0">
              <a:buNone/>
            </a:pPr>
            <a:r>
              <a:rPr lang="en-US" sz="950" dirty="0">
                <a:solidFill>
                  <a:srgbClr val="52514E"/>
                </a:solidFill>
                <a:latin typeface="Calibri" pitchFamily="34" charset="0"/>
                <a:ea typeface="Calibri" pitchFamily="34" charset="-122"/>
                <a:cs typeface="Calibri" pitchFamily="34" charset="-120"/>
              </a:rPr>
              <a:t>Mature: about ₹1.2 cr sourced ARR a year</a:t>
            </a:r>
            <a:endParaRPr lang="en-US" sz="950" dirty="0"/>
          </a:p>
        </p:txBody>
      </p:sp>
      <p:sp>
        <p:nvSpPr>
          <p:cNvPr id="23" name="Text 21"/>
          <p:cNvSpPr txBox="1"/>
          <p:nvPr/>
        </p:nvSpPr>
        <p:spPr>
          <a:xfrm>
            <a:off x="457200" y="3291840"/>
            <a:ext cx="2651760" cy="457200"/>
          </a:xfrm>
          <a:prstGeom prst="rect">
            <a:avLst/>
          </a:prstGeom>
          <a:noFill/>
          <a:ln/>
        </p:spPr>
        <p:txBody>
          <a:bodyPr wrap="square" lIns="0" tIns="0" rIns="0" bIns="0" rtlCol="0" anchor="ctr"/>
          <a:lstStyle/>
          <a:p>
            <a:pPr indent="0" marL="0">
              <a:buNone/>
            </a:pPr>
            <a:r>
              <a:rPr lang="en-US" sz="2600" b="1" dirty="0">
                <a:solidFill>
                  <a:srgbClr val="1F3A5F"/>
                </a:solidFill>
                <a:latin typeface="Cambria" pitchFamily="34" charset="0"/>
                <a:ea typeface="Cambria" pitchFamily="34" charset="-122"/>
                <a:cs typeface="Cambria" pitchFamily="34" charset="-120"/>
              </a:rPr>
              <a:t>15/60/100%</a:t>
            </a:r>
            <a:endParaRPr lang="en-US" sz="2600" dirty="0"/>
          </a:p>
        </p:txBody>
      </p:sp>
      <p:sp>
        <p:nvSpPr>
          <p:cNvPr id="24" name="Text 22"/>
          <p:cNvSpPr txBox="1"/>
          <p:nvPr/>
        </p:nvSpPr>
        <p:spPr>
          <a:xfrm>
            <a:off x="457200" y="3749040"/>
            <a:ext cx="2651760" cy="502920"/>
          </a:xfrm>
          <a:prstGeom prst="rect">
            <a:avLst/>
          </a:prstGeom>
          <a:noFill/>
          <a:ln/>
        </p:spPr>
        <p:txBody>
          <a:bodyPr wrap="square" lIns="0" tIns="0" rIns="0" bIns="0" rtlCol="0" anchor="t"/>
          <a:lstStyle/>
          <a:p>
            <a:pPr indent="0" marL="0">
              <a:buNone/>
            </a:pPr>
            <a:r>
              <a:rPr lang="en-US" sz="1050" dirty="0">
                <a:solidFill>
                  <a:srgbClr val="52514E"/>
                </a:solidFill>
                <a:latin typeface="Calibri" pitchFamily="34" charset="0"/>
                <a:ea typeface="Calibri" pitchFamily="34" charset="-122"/>
                <a:cs typeface="Calibri" pitchFamily="34" charset="-120"/>
              </a:rPr>
              <a:t>share of mature productivity in activation year / year 2 / year 3</a:t>
            </a:r>
            <a:endParaRPr lang="en-US" sz="1050" dirty="0"/>
          </a:p>
        </p:txBody>
      </p:sp>
      <p:sp>
        <p:nvSpPr>
          <p:cNvPr id="25" name="Text 23"/>
          <p:cNvSpPr txBox="1"/>
          <p:nvPr/>
        </p:nvSpPr>
        <p:spPr>
          <a:xfrm>
            <a:off x="3291840" y="3291840"/>
            <a:ext cx="2560320" cy="457200"/>
          </a:xfrm>
          <a:prstGeom prst="rect">
            <a:avLst/>
          </a:prstGeom>
          <a:noFill/>
          <a:ln/>
        </p:spPr>
        <p:txBody>
          <a:bodyPr wrap="square" lIns="0" tIns="0" rIns="0" bIns="0" rtlCol="0" anchor="ctr"/>
          <a:lstStyle/>
          <a:p>
            <a:pPr indent="0" marL="0">
              <a:buNone/>
            </a:pPr>
            <a:r>
              <a:rPr lang="en-US" sz="2600" b="1" dirty="0">
                <a:solidFill>
                  <a:srgbClr val="2A78D6"/>
                </a:solidFill>
                <a:latin typeface="Cambria" pitchFamily="34" charset="0"/>
                <a:ea typeface="Cambria" pitchFamily="34" charset="-122"/>
                <a:cs typeface="Cambria" pitchFamily="34" charset="-120"/>
              </a:rPr>
              <a:t>₹1.2 cr</a:t>
            </a:r>
            <a:endParaRPr lang="en-US" sz="2600" dirty="0"/>
          </a:p>
        </p:txBody>
      </p:sp>
      <p:sp>
        <p:nvSpPr>
          <p:cNvPr id="26" name="Text 24"/>
          <p:cNvSpPr txBox="1"/>
          <p:nvPr/>
        </p:nvSpPr>
        <p:spPr>
          <a:xfrm>
            <a:off x="3291840" y="3749040"/>
            <a:ext cx="2560320" cy="502920"/>
          </a:xfrm>
          <a:prstGeom prst="rect">
            <a:avLst/>
          </a:prstGeom>
          <a:noFill/>
          <a:ln/>
        </p:spPr>
        <p:txBody>
          <a:bodyPr wrap="square" lIns="0" tIns="0" rIns="0" bIns="0" rtlCol="0" anchor="t"/>
          <a:lstStyle/>
          <a:p>
            <a:pPr indent="0" marL="0">
              <a:buNone/>
            </a:pPr>
            <a:r>
              <a:rPr lang="en-US" sz="1050" dirty="0">
                <a:solidFill>
                  <a:srgbClr val="52514E"/>
                </a:solidFill>
                <a:latin typeface="Calibri" pitchFamily="34" charset="0"/>
                <a:ea typeface="Calibri" pitchFamily="34" charset="-122"/>
                <a:cs typeface="Calibri" pitchFamily="34" charset="-120"/>
              </a:rPr>
              <a:t>mature partner: ~10 qualified deals × 34% SEA win rate × ₹37 lakh</a:t>
            </a:r>
            <a:endParaRPr lang="en-US" sz="1050" dirty="0"/>
          </a:p>
        </p:txBody>
      </p:sp>
      <p:sp>
        <p:nvSpPr>
          <p:cNvPr id="27" name="Text 25"/>
          <p:cNvSpPr txBox="1"/>
          <p:nvPr/>
        </p:nvSpPr>
        <p:spPr>
          <a:xfrm>
            <a:off x="6126480" y="3291840"/>
            <a:ext cx="2560320" cy="457200"/>
          </a:xfrm>
          <a:prstGeom prst="rect">
            <a:avLst/>
          </a:prstGeom>
          <a:noFill/>
          <a:ln/>
        </p:spPr>
        <p:txBody>
          <a:bodyPr wrap="square" lIns="0" tIns="0" rIns="0" bIns="0" rtlCol="0" anchor="ctr"/>
          <a:lstStyle/>
          <a:p>
            <a:pPr indent="0" marL="0">
              <a:buNone/>
            </a:pPr>
            <a:r>
              <a:rPr lang="en-US" sz="2600" b="1" dirty="0">
                <a:solidFill>
                  <a:srgbClr val="1F3A5F"/>
                </a:solidFill>
                <a:latin typeface="Cambria" pitchFamily="34" charset="0"/>
                <a:ea typeface="Cambria" pitchFamily="34" charset="-122"/>
                <a:cs typeface="Cambria" pitchFamily="34" charset="-120"/>
              </a:rPr>
              <a:t>₹0.4 cr</a:t>
            </a:r>
            <a:endParaRPr lang="en-US" sz="2600" dirty="0"/>
          </a:p>
        </p:txBody>
      </p:sp>
      <p:sp>
        <p:nvSpPr>
          <p:cNvPr id="28" name="Text 26"/>
          <p:cNvSpPr txBox="1"/>
          <p:nvPr/>
        </p:nvSpPr>
        <p:spPr>
          <a:xfrm>
            <a:off x="6126480" y="3749040"/>
            <a:ext cx="2560320" cy="502920"/>
          </a:xfrm>
          <a:prstGeom prst="rect">
            <a:avLst/>
          </a:prstGeom>
          <a:noFill/>
          <a:ln/>
        </p:spPr>
        <p:txBody>
          <a:bodyPr wrap="square" lIns="0" tIns="0" rIns="0" bIns="0" rtlCol="0" anchor="t"/>
          <a:lstStyle/>
          <a:p>
            <a:pPr indent="0" marL="0">
              <a:buNone/>
            </a:pPr>
            <a:r>
              <a:rPr lang="en-US" sz="1050" dirty="0">
                <a:solidFill>
                  <a:srgbClr val="52514E"/>
                </a:solidFill>
                <a:latin typeface="Calibri" pitchFamily="34" charset="0"/>
                <a:ea typeface="Calibri" pitchFamily="34" charset="-122"/>
                <a:cs typeface="Calibri" pitchFamily="34" charset="-120"/>
              </a:rPr>
              <a:t>enablement and certification budget in FY27</a:t>
            </a:r>
            <a:endParaRPr lang="en-US" sz="1050" dirty="0"/>
          </a:p>
        </p:txBody>
      </p:sp>
      <p:sp>
        <p:nvSpPr>
          <p:cNvPr id="29" name="Text 27"/>
          <p:cNvSpPr txBox="1"/>
          <p:nvPr/>
        </p:nvSpPr>
        <p:spPr>
          <a:xfrm>
            <a:off x="457200" y="4617720"/>
            <a:ext cx="8229600" cy="201168"/>
          </a:xfrm>
          <a:prstGeom prst="rect">
            <a:avLst/>
          </a:prstGeom>
          <a:noFill/>
          <a:ln/>
        </p:spPr>
        <p:txBody>
          <a:bodyPr wrap="square" lIns="0" tIns="0" rIns="0" bIns="0" rtlCol="0" anchor="ctr"/>
          <a:lstStyle/>
          <a:p>
            <a:pPr indent="0" marL="0">
              <a:buNone/>
            </a:pPr>
            <a:r>
              <a:rPr lang="en-US" sz="800" i="1" dirty="0">
                <a:solidFill>
                  <a:srgbClr val="52514E"/>
                </a:solidFill>
                <a:latin typeface="Calibri" pitchFamily="34" charset="0"/>
                <a:ea typeface="Calibri" pitchFamily="34" charset="-122"/>
                <a:cs typeface="Calibri" pitchFamily="34" charset="-120"/>
              </a:rPr>
              <a:t>Source: DR6 months to first deal (6–12); D1 SEA partner win rate; FY26 average partner deal size. Ramp inputs are yellow assumptions in the workbook.</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28600"/>
            <a:ext cx="8229600" cy="228600"/>
          </a:xfrm>
          <a:prstGeom prst="rect">
            <a:avLst/>
          </a:prstGeom>
          <a:noFill/>
          <a:ln/>
        </p:spPr>
        <p:txBody>
          <a:bodyPr wrap="square" lIns="0" tIns="0" rIns="0" bIns="0" rtlCol="0" anchor="ctr"/>
          <a:lstStyle/>
          <a:p>
            <a:pPr indent="0" marL="0">
              <a:buNone/>
            </a:pPr>
            <a:r>
              <a:rPr lang="en-US" sz="1000" b="1" spc="200" kern="0" dirty="0">
                <a:solidFill>
                  <a:srgbClr val="EB6834"/>
                </a:solidFill>
                <a:latin typeface="Calibri" pitchFamily="34" charset="0"/>
                <a:ea typeface="Calibri" pitchFamily="34" charset="-122"/>
                <a:cs typeface="Calibri" pitchFamily="34" charset="-120"/>
              </a:rPr>
              <a:t>RAMP AND ACTIVE PARTNERS NEEDED</a:t>
            </a:r>
            <a:endParaRPr lang="en-US" sz="1000" dirty="0"/>
          </a:p>
        </p:txBody>
      </p:sp>
      <p:sp>
        <p:nvSpPr>
          <p:cNvPr id="3" name="Text 1"/>
          <p:cNvSpPr txBox="1"/>
          <p:nvPr/>
        </p:nvSpPr>
        <p:spPr>
          <a:xfrm>
            <a:off x="457200" y="438912"/>
            <a:ext cx="8229600" cy="685800"/>
          </a:xfrm>
          <a:prstGeom prst="rect">
            <a:avLst/>
          </a:prstGeom>
          <a:noFill/>
          <a:ln/>
        </p:spPr>
        <p:txBody>
          <a:bodyPr wrap="square" lIns="0" tIns="0" rIns="0" bIns="0" rtlCol="0" anchor="t"/>
          <a:lstStyle/>
          <a:p>
            <a:pPr indent="0" marL="0">
              <a:buNone/>
            </a:pPr>
            <a:r>
              <a:rPr lang="en-US" sz="2100" b="1" dirty="0">
                <a:solidFill>
                  <a:srgbClr val="1F3A5F"/>
                </a:solidFill>
                <a:latin typeface="Cambria" pitchFamily="34" charset="0"/>
                <a:ea typeface="Cambria" pitchFamily="34" charset="-122"/>
                <a:cs typeface="Cambria" pitchFamily="34" charset="-120"/>
              </a:rPr>
              <a:t>25% of FY29 new logos needs 28 active partners, equal to 16 mature ones, so recruiting must happen in FY27–28</a:t>
            </a:r>
            <a:endParaRPr lang="en-US" sz="2100" dirty="0"/>
          </a:p>
        </p:txBody>
      </p:sp>
      <p:sp>
        <p:nvSpPr>
          <p:cNvPr id="4" name="Text 2"/>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800" dirty="0">
                <a:solidFill>
                  <a:srgbClr val="A3A29C"/>
                </a:solidFill>
                <a:latin typeface="Calibri" pitchFamily="34" charset="0"/>
                <a:ea typeface="Calibri" pitchFamily="34" charset="-122"/>
                <a:cs typeface="Calibri" pitchFamily="34" charset="-120"/>
              </a:rPr>
              <a:t>Strata Sense (fictional) · D6</a:t>
            </a:r>
            <a:endParaRPr lang="en-US" sz="800" dirty="0"/>
          </a:p>
        </p:txBody>
      </p:sp>
      <p:graphicFrame>
        <p:nvGraphicFramePr>
          <p:cNvPr id="5" name="Chart 0" descr=""/>
          <p:cNvGraphicFramePr/>
          <p:nvPr/>
        </p:nvGraphicFramePr>
        <p:xfrm>
          <a:off x="457200" y="1234440"/>
          <a:ext cx="4937760" cy="3291840"/>
        </p:xfrm>
        <a:graphic xmlns:a="http://schemas.openxmlformats.org/drawingml/2006/main">
          <a:graphicData uri="http://schemas.openxmlformats.org/drawingml/2006/chart">
            <c:chart xmlns:c="http://schemas.openxmlformats.org/drawingml/2006/chart" r:id="rId1"/>
          </a:graphicData>
        </a:graphic>
      </p:graphicFrame>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669280" y="1280160"/>
          <a:ext cx="3017520" cy="914400"/>
        </p:xfrm>
        <a:graphic>
          <a:graphicData uri="http://schemas.openxmlformats.org/drawingml/2006/table">
            <a:tbl>
              <a:tblPr/>
              <a:tblGrid>
                <a:gridCol w="1371600"/>
                <a:gridCol w="548640"/>
                <a:gridCol w="548640"/>
                <a:gridCol w="548640"/>
              </a:tblGrid>
              <a:tr h="237744">
                <a:tc>
                  <a:txBody>
                    <a:bodyPr/>
                    <a:lstStyle/>
                    <a:p>
                      <a:pPr indent="0" marL="0">
                        <a:buNone/>
                      </a:pPr>
                      <a:endParaRPr lang="en-US" sz="105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A5F"/>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FY27</a:t>
                      </a:r>
                      <a:endParaRPr lang="en-US" sz="105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A5F"/>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FY28</a:t>
                      </a:r>
                      <a:endParaRPr lang="en-US" sz="105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A5F"/>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FY29</a:t>
                      </a:r>
                      <a:endParaRPr lang="en-US" sz="105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A5F"/>
                    </a:solidFill>
                  </a:tcPr>
                </a:tc>
              </a:tr>
              <a:tr h="237744">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Partner ARR (₹ cr)</a:t>
                      </a:r>
                      <a:endParaRPr lang="en-US" sz="105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3.7</a:t>
                      </a:r>
                      <a:endParaRPr lang="en-US" sz="105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9.9</a:t>
                      </a:r>
                      <a:endParaRPr lang="en-US" sz="105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19.7</a:t>
                      </a:r>
                      <a:endParaRPr lang="en-US" sz="105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37744">
                <a:tc>
                  <a:txBody>
                    <a:bodyPr/>
                    <a:lstStyle/>
                    <a:p>
                      <a:pPr indent="0" marL="0">
                        <a:buNone/>
                      </a:pPr>
                      <a:r>
                        <a:rPr lang="en-US" sz="1050" b="1" dirty="0">
                          <a:solidFill>
                            <a:srgbClr val="1A1A1A"/>
                          </a:solidFill>
                          <a:latin typeface="Calibri" pitchFamily="34" charset="0"/>
                          <a:ea typeface="Calibri" pitchFamily="34" charset="-122"/>
                          <a:cs typeface="Calibri" pitchFamily="34" charset="-120"/>
                        </a:rPr>
                        <a:t>Share of new logos</a:t>
                      </a:r>
                      <a:endParaRPr lang="en-US" sz="105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indent="0" marL="0">
                        <a:buNone/>
                      </a:pPr>
                      <a:r>
                        <a:rPr lang="en-US" sz="1050" b="1" dirty="0">
                          <a:solidFill>
                            <a:srgbClr val="1A1A1A"/>
                          </a:solidFill>
                          <a:latin typeface="Calibri" pitchFamily="34" charset="0"/>
                          <a:ea typeface="Calibri" pitchFamily="34" charset="-122"/>
                          <a:cs typeface="Calibri" pitchFamily="34" charset="-120"/>
                        </a:rPr>
                        <a:t>7.9%</a:t>
                      </a:r>
                      <a:endParaRPr lang="en-US" sz="105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indent="0" marL="0">
                        <a:buNone/>
                      </a:pPr>
                      <a:r>
                        <a:rPr lang="en-US" sz="1050" b="1" dirty="0">
                          <a:solidFill>
                            <a:srgbClr val="1A1A1A"/>
                          </a:solidFill>
                          <a:latin typeface="Calibri" pitchFamily="34" charset="0"/>
                          <a:ea typeface="Calibri" pitchFamily="34" charset="-122"/>
                          <a:cs typeface="Calibri" pitchFamily="34" charset="-120"/>
                        </a:rPr>
                        <a:t>15.9%</a:t>
                      </a:r>
                      <a:endParaRPr lang="en-US" sz="105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indent="0" marL="0">
                        <a:buNone/>
                      </a:pPr>
                      <a:r>
                        <a:rPr lang="en-US" sz="1050" b="1" dirty="0">
                          <a:solidFill>
                            <a:srgbClr val="1A1A1A"/>
                          </a:solidFill>
                          <a:latin typeface="Calibri" pitchFamily="34" charset="0"/>
                          <a:ea typeface="Calibri" pitchFamily="34" charset="-122"/>
                          <a:cs typeface="Calibri" pitchFamily="34" charset="-120"/>
                        </a:rPr>
                        <a:t>25.3%</a:t>
                      </a:r>
                      <a:endParaRPr lang="en-US" sz="105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r>
              <a:tr h="237744">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Active partners</a:t>
                      </a:r>
                      <a:endParaRPr lang="en-US" sz="105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14</a:t>
                      </a:r>
                      <a:endParaRPr lang="en-US" sz="105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23</a:t>
                      </a:r>
                      <a:endParaRPr lang="en-US" sz="105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28</a:t>
                      </a:r>
                      <a:endParaRPr lang="en-US" sz="105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5669280" y="2423160"/>
            <a:ext cx="3017520" cy="1280160"/>
          </a:xfrm>
          <a:prstGeom prst="rect">
            <a:avLst/>
          </a:prstGeom>
          <a:noFill/>
          <a:ln/>
        </p:spPr>
        <p:txBody>
          <a:bodyPr wrap="square" lIns="0" tIns="0" rIns="0" bIns="0" rtlCol="0" anchor="t"/>
          <a:lstStyle/>
          <a:p>
            <a:pPr indent="0" marL="0">
              <a:buNone/>
            </a:pPr>
            <a:r>
              <a:rPr lang="en-US" sz="1100" dirty="0">
                <a:solidFill>
                  <a:srgbClr val="1A1A1A"/>
                </a:solidFill>
                <a:latin typeface="Calibri" pitchFamily="34" charset="0"/>
                <a:ea typeface="Calibri" pitchFamily="34" charset="-122"/>
                <a:cs typeface="Calibri" pitchFamily="34" charset="-120"/>
              </a:rPr>
              <a:t>FY29 recruits add only ₹0.9 cr that year. If mature productivity is ₹1.0 cr rather than ₹1.2 cr, FY29 share is 21.6%; at ₹0.8 cr it is 18%.</a:t>
            </a:r>
            <a:endParaRPr lang="en-US" sz="1100" dirty="0"/>
          </a:p>
        </p:txBody>
      </p:sp>
      <p:sp>
        <p:nvSpPr>
          <p:cNvPr id="8" name="Text 4"/>
          <p:cNvSpPr txBox="1"/>
          <p:nvPr/>
        </p:nvSpPr>
        <p:spPr>
          <a:xfrm>
            <a:off x="457200" y="4617720"/>
            <a:ext cx="8229600" cy="201168"/>
          </a:xfrm>
          <a:prstGeom prst="rect">
            <a:avLst/>
          </a:prstGeom>
          <a:noFill/>
          <a:ln/>
        </p:spPr>
        <p:txBody>
          <a:bodyPr wrap="square" lIns="0" tIns="0" rIns="0" bIns="0" rtlCol="0" anchor="ctr"/>
          <a:lstStyle/>
          <a:p>
            <a:pPr indent="0" marL="0">
              <a:buNone/>
            </a:pPr>
            <a:r>
              <a:rPr lang="en-US" sz="800" i="1" dirty="0">
                <a:solidFill>
                  <a:srgbClr val="52514E"/>
                </a:solidFill>
                <a:latin typeface="Calibri" pitchFamily="34" charset="0"/>
                <a:ea typeface="Calibri" pitchFamily="34" charset="-122"/>
                <a:cs typeface="Calibri" pitchFamily="34" charset="-120"/>
              </a:rPr>
              <a:t>Source: workbook sheet Partner_ramp. New-logo ARR plan: D2 (FY27 ₹46.5 cr), D4 base scenario (FY28 ₹62.1 cr, FY29 ₹78 cr).</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28600"/>
            <a:ext cx="8229600" cy="228600"/>
          </a:xfrm>
          <a:prstGeom prst="rect">
            <a:avLst/>
          </a:prstGeom>
          <a:noFill/>
          <a:ln/>
        </p:spPr>
        <p:txBody>
          <a:bodyPr wrap="square" lIns="0" tIns="0" rIns="0" bIns="0" rtlCol="0" anchor="ctr"/>
          <a:lstStyle/>
          <a:p>
            <a:pPr indent="0" marL="0">
              <a:buNone/>
            </a:pPr>
            <a:r>
              <a:rPr lang="en-US" sz="1000" b="1" spc="200" kern="0" dirty="0">
                <a:solidFill>
                  <a:srgbClr val="EB6834"/>
                </a:solidFill>
                <a:latin typeface="Calibri" pitchFamily="34" charset="0"/>
                <a:ea typeface="Calibri" pitchFamily="34" charset="-122"/>
                <a:cs typeface="Calibri" pitchFamily="34" charset="-120"/>
              </a:rPr>
              <a:t>CHANNEL PROFIT AND LOSS (₹ CR)</a:t>
            </a:r>
            <a:endParaRPr lang="en-US" sz="1000" dirty="0"/>
          </a:p>
        </p:txBody>
      </p:sp>
      <p:sp>
        <p:nvSpPr>
          <p:cNvPr id="3" name="Text 1"/>
          <p:cNvSpPr txBox="1"/>
          <p:nvPr/>
        </p:nvSpPr>
        <p:spPr>
          <a:xfrm>
            <a:off x="457200" y="438912"/>
            <a:ext cx="8229600" cy="685800"/>
          </a:xfrm>
          <a:prstGeom prst="rect">
            <a:avLst/>
          </a:prstGeom>
          <a:noFill/>
          <a:ln/>
        </p:spPr>
        <p:txBody>
          <a:bodyPr wrap="square" lIns="0" tIns="0" rIns="0" bIns="0" rtlCol="0" anchor="t"/>
          <a:lstStyle/>
          <a:p>
            <a:pPr indent="0" marL="0">
              <a:buNone/>
            </a:pPr>
            <a:r>
              <a:rPr lang="en-US" sz="2100" b="1" dirty="0">
                <a:solidFill>
                  <a:srgbClr val="1F3A5F"/>
                </a:solidFill>
                <a:latin typeface="Cambria" pitchFamily="34" charset="0"/>
                <a:ea typeface="Cambria" pitchFamily="34" charset="-122"/>
                <a:cs typeface="Cambria" pitchFamily="34" charset="-120"/>
              </a:rPr>
              <a:t>Judged against the cost of selling direct, the channel costs ₹0.9 cr in FY27 and saves ₹11.7 cr by FY29</a:t>
            </a:r>
            <a:endParaRPr lang="en-US" sz="2100" dirty="0"/>
          </a:p>
        </p:txBody>
      </p:sp>
      <p:sp>
        <p:nvSpPr>
          <p:cNvPr id="4" name="Text 2"/>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800" dirty="0">
                <a:solidFill>
                  <a:srgbClr val="A3A29C"/>
                </a:solidFill>
                <a:latin typeface="Calibri" pitchFamily="34" charset="0"/>
                <a:ea typeface="Calibri" pitchFamily="34" charset="-122"/>
                <a:cs typeface="Calibri" pitchFamily="34" charset="-120"/>
              </a:rPr>
              <a:t>Strata Sense (fictional) · D6</a:t>
            </a:r>
            <a:endParaRPr lang="en-US" sz="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5486400" cy="914400"/>
        </p:xfrm>
        <a:graphic>
          <a:graphicData uri="http://schemas.openxmlformats.org/drawingml/2006/table">
            <a:tbl>
              <a:tblPr/>
              <a:tblGrid>
                <a:gridCol w="3017520"/>
                <a:gridCol w="822960"/>
                <a:gridCol w="822960"/>
                <a:gridCol w="822960"/>
              </a:tblGrid>
              <a:tr h="283464">
                <a:tc>
                  <a:txBody>
                    <a:bodyPr/>
                    <a:lstStyle/>
                    <a:p>
                      <a:pPr indent="0" marL="0">
                        <a:buNone/>
                      </a:pP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A5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FY27</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A5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FY28</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A5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FY29</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A5F"/>
                    </a:solidFill>
                  </a:tcPr>
                </a:tc>
              </a:tr>
              <a:tr h="283464">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Partner-sourced new-logo ARR</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3.70</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9.86</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19.71</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83464">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Partner margin (year-1 + renewals)</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0.61</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1.92</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4.42</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r>
              <a:tr h="283464">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Channel team, enablement, PRM, MDF</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3.94</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5.46</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6.50</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83464">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Direct effort still used (AE co-sell, SE, 50% credit)</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2.43</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5.66</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9.70</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r>
              <a:tr h="283464">
                <a:tc>
                  <a:txBody>
                    <a:bodyPr/>
                    <a:lstStyle/>
                    <a:p>
                      <a:pPr indent="0" marL="0">
                        <a:buNone/>
                      </a:pPr>
                      <a:r>
                        <a:rPr lang="en-US" sz="1000" b="1" dirty="0">
                          <a:solidFill>
                            <a:srgbClr val="1A1A1A"/>
                          </a:solidFill>
                          <a:latin typeface="Calibri" pitchFamily="34" charset="0"/>
                          <a:ea typeface="Calibri" pitchFamily="34" charset="-122"/>
                          <a:cs typeface="Calibri" pitchFamily="34" charset="-120"/>
                        </a:rPr>
                        <a:t>Total channel cost</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b="1" dirty="0">
                          <a:solidFill>
                            <a:srgbClr val="1A1A1A"/>
                          </a:solidFill>
                          <a:latin typeface="Calibri" pitchFamily="34" charset="0"/>
                          <a:ea typeface="Calibri" pitchFamily="34" charset="-122"/>
                          <a:cs typeface="Calibri" pitchFamily="34" charset="-120"/>
                        </a:rPr>
                        <a:t>6.97</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b="1" dirty="0">
                          <a:solidFill>
                            <a:srgbClr val="1A1A1A"/>
                          </a:solidFill>
                          <a:latin typeface="Calibri" pitchFamily="34" charset="0"/>
                          <a:ea typeface="Calibri" pitchFamily="34" charset="-122"/>
                          <a:cs typeface="Calibri" pitchFamily="34" charset="-120"/>
                        </a:rPr>
                        <a:t>13.04</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b="1" dirty="0">
                          <a:solidFill>
                            <a:srgbClr val="1A1A1A"/>
                          </a:solidFill>
                          <a:latin typeface="Calibri" pitchFamily="34" charset="0"/>
                          <a:ea typeface="Calibri" pitchFamily="34" charset="-122"/>
                          <a:cs typeface="Calibri" pitchFamily="34" charset="-120"/>
                        </a:rPr>
                        <a:t>20.62</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83464">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Direct S&amp;M cost avoided (₹1.64 per ₹1)</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6.06</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16.17</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32.32</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r>
              <a:tr h="283464">
                <a:tc>
                  <a:txBody>
                    <a:bodyPr/>
                    <a:lstStyle/>
                    <a:p>
                      <a:pPr indent="0" marL="0">
                        <a:buNone/>
                      </a:pPr>
                      <a:r>
                        <a:rPr lang="en-US" sz="1000" b="1" dirty="0">
                          <a:solidFill>
                            <a:srgbClr val="1A1A1A"/>
                          </a:solidFill>
                          <a:latin typeface="Calibri" pitchFamily="34" charset="0"/>
                          <a:ea typeface="Calibri" pitchFamily="34" charset="-122"/>
                          <a:cs typeface="Calibri" pitchFamily="34" charset="-120"/>
                        </a:rPr>
                        <a:t>Saving / (extra cost) against direct</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b="1" dirty="0">
                          <a:solidFill>
                            <a:srgbClr val="1A1A1A"/>
                          </a:solidFill>
                          <a:latin typeface="Calibri" pitchFamily="34" charset="0"/>
                          <a:ea typeface="Calibri" pitchFamily="34" charset="-122"/>
                          <a:cs typeface="Calibri" pitchFamily="34" charset="-120"/>
                        </a:rPr>
                        <a:t>(0.91)</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b="1" dirty="0">
                          <a:solidFill>
                            <a:srgbClr val="1A1A1A"/>
                          </a:solidFill>
                          <a:latin typeface="Calibri" pitchFamily="34" charset="0"/>
                          <a:ea typeface="Calibri" pitchFamily="34" charset="-122"/>
                          <a:cs typeface="Calibri" pitchFamily="34" charset="-120"/>
                        </a:rPr>
                        <a:t>3.14</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b="1" dirty="0">
                          <a:solidFill>
                            <a:srgbClr val="1A1A1A"/>
                          </a:solidFill>
                          <a:latin typeface="Calibri" pitchFamily="34" charset="0"/>
                          <a:ea typeface="Calibri" pitchFamily="34" charset="-122"/>
                          <a:cs typeface="Calibri" pitchFamily="34" charset="-120"/>
                        </a:rPr>
                        <a:t>11.71</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83464">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Incremental lens, first year only</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(4.45)</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(6.30)</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(7.15)</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r>
            </a:tbl>
          </a:graphicData>
        </a:graphic>
      </p:graphicFrame>
      <p:sp>
        <p:nvSpPr>
          <p:cNvPr id="6" name="Text 3"/>
          <p:cNvSpPr txBox="1"/>
          <p:nvPr/>
        </p:nvSpPr>
        <p:spPr>
          <a:xfrm>
            <a:off x="6217920" y="1280160"/>
            <a:ext cx="2468880" cy="3017520"/>
          </a:xfrm>
          <a:prstGeom prst="rect">
            <a:avLst/>
          </a:prstGeom>
          <a:noFill/>
          <a:ln/>
        </p:spPr>
        <p:txBody>
          <a:bodyPr wrap="square" lIns="0" tIns="0" rIns="0" bIns="0" rtlCol="0" anchor="t"/>
          <a:lstStyle/>
          <a:p>
            <a:pPr indent="0" marL="0">
              <a:buNone/>
            </a:pPr>
            <a:r>
              <a:rPr lang="en-US" sz="1100" b="1" dirty="0">
                <a:solidFill>
                  <a:srgbClr val="1A1A1A"/>
                </a:solidFill>
                <a:latin typeface="Calibri" pitchFamily="34" charset="0"/>
                <a:ea typeface="Calibri" pitchFamily="34" charset="-122"/>
                <a:cs typeface="Calibri" pitchFamily="34" charset="-120"/>
              </a:rPr>
              <a:t>Two honest lenses. </a:t>
            </a:r>
            <a:pPr indent="0" marL="0">
              <a:buNone/>
            </a:pPr>
            <a:r>
              <a:rPr lang="en-US" sz="1100" dirty="0">
                <a:solidFill>
                  <a:srgbClr val="1A1A1A"/>
                </a:solidFill>
                <a:latin typeface="Calibri" pitchFamily="34" charset="0"/>
                <a:ea typeface="Calibri" pitchFamily="34" charset="-122"/>
                <a:cs typeface="Calibri" pitchFamily="34" charset="-120"/>
              </a:rPr>
              <a:t>If partner deals replace direct selling, the channel pays from FY28. If you count only first-year gross profit on deals the direct team would never win, it never pays in year one, because no subscription business does. On three-year value the FY29 cohort alone is worth ₹34 cr.</a:t>
            </a:r>
            <a:endParaRPr lang="en-US" sz="1100" dirty="0"/>
          </a:p>
        </p:txBody>
      </p:sp>
      <p:sp>
        <p:nvSpPr>
          <p:cNvPr id="7" name="Text 4"/>
          <p:cNvSpPr txBox="1"/>
          <p:nvPr/>
        </p:nvSpPr>
        <p:spPr>
          <a:xfrm>
            <a:off x="457200" y="4617720"/>
            <a:ext cx="8229600" cy="201168"/>
          </a:xfrm>
          <a:prstGeom prst="rect">
            <a:avLst/>
          </a:prstGeom>
          <a:noFill/>
          <a:ln/>
        </p:spPr>
        <p:txBody>
          <a:bodyPr wrap="square" lIns="0" tIns="0" rIns="0" bIns="0" rtlCol="0" anchor="ctr"/>
          <a:lstStyle/>
          <a:p>
            <a:pPr indent="0" marL="0">
              <a:buNone/>
            </a:pPr>
            <a:r>
              <a:rPr lang="en-US" sz="800" i="1" dirty="0">
                <a:solidFill>
                  <a:srgbClr val="52514E"/>
                </a:solidFill>
                <a:latin typeface="Calibri" pitchFamily="34" charset="0"/>
                <a:ea typeface="Calibri" pitchFamily="34" charset="-122"/>
                <a:cs typeface="Calibri" pitchFamily="34" charset="-120"/>
              </a:rPr>
              <a:t>Source: workbook sheet Channel_PL. Direct S&amp;M per ₹1 new-logo ARR is an allocation assumption (DR3).</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28600"/>
            <a:ext cx="8229600" cy="228600"/>
          </a:xfrm>
          <a:prstGeom prst="rect">
            <a:avLst/>
          </a:prstGeom>
          <a:noFill/>
          <a:ln/>
        </p:spPr>
        <p:txBody>
          <a:bodyPr wrap="square" lIns="0" tIns="0" rIns="0" bIns="0" rtlCol="0" anchor="ctr"/>
          <a:lstStyle/>
          <a:p>
            <a:pPr indent="0" marL="0">
              <a:buNone/>
            </a:pPr>
            <a:r>
              <a:rPr lang="en-US" sz="1000" b="1" spc="200" kern="0" dirty="0">
                <a:solidFill>
                  <a:srgbClr val="EB6834"/>
                </a:solidFill>
                <a:latin typeface="Calibri" pitchFamily="34" charset="0"/>
                <a:ea typeface="Calibri" pitchFamily="34" charset="-122"/>
                <a:cs typeface="Calibri" pitchFamily="34" charset="-120"/>
              </a:rPr>
              <a:t>EFFECT ON BLENDED GROSS MARGIN</a:t>
            </a:r>
            <a:endParaRPr lang="en-US" sz="1000" dirty="0"/>
          </a:p>
        </p:txBody>
      </p:sp>
      <p:sp>
        <p:nvSpPr>
          <p:cNvPr id="3" name="Text 1"/>
          <p:cNvSpPr txBox="1"/>
          <p:nvPr/>
        </p:nvSpPr>
        <p:spPr>
          <a:xfrm>
            <a:off x="457200" y="438912"/>
            <a:ext cx="8229600" cy="685800"/>
          </a:xfrm>
          <a:prstGeom prst="rect">
            <a:avLst/>
          </a:prstGeom>
          <a:noFill/>
          <a:ln/>
        </p:spPr>
        <p:txBody>
          <a:bodyPr wrap="square" lIns="0" tIns="0" rIns="0" bIns="0" rtlCol="0" anchor="t"/>
          <a:lstStyle/>
          <a:p>
            <a:pPr indent="0" marL="0">
              <a:buNone/>
            </a:pPr>
            <a:r>
              <a:rPr lang="en-US" sz="2100" b="1" dirty="0">
                <a:solidFill>
                  <a:srgbClr val="1F3A5F"/>
                </a:solidFill>
                <a:latin typeface="Cambria" pitchFamily="34" charset="0"/>
                <a:ea typeface="Cambria" pitchFamily="34" charset="-122"/>
                <a:cs typeface="Cambria" pitchFamily="34" charset="-120"/>
              </a:rPr>
              <a:t>Partner margin costs about 0.7 points of gross margin by FY29, leaving 1.6 points above the 66% floor</a:t>
            </a:r>
            <a:endParaRPr lang="en-US" sz="2100" dirty="0"/>
          </a:p>
        </p:txBody>
      </p:sp>
      <p:sp>
        <p:nvSpPr>
          <p:cNvPr id="4" name="Text 2"/>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800" dirty="0">
                <a:solidFill>
                  <a:srgbClr val="A3A29C"/>
                </a:solidFill>
                <a:latin typeface="Calibri" pitchFamily="34" charset="0"/>
                <a:ea typeface="Calibri" pitchFamily="34" charset="-122"/>
                <a:cs typeface="Calibri" pitchFamily="34" charset="-120"/>
              </a:rPr>
              <a:t>Strata Sense (fictional) · D6</a:t>
            </a:r>
            <a:endParaRPr lang="en-US" sz="800" dirty="0"/>
          </a:p>
        </p:txBody>
      </p:sp>
      <p:graphicFrame>
        <p:nvGraphicFramePr>
          <p:cNvPr id="5" name="Chart 0" descr=""/>
          <p:cNvGraphicFramePr/>
          <p:nvPr/>
        </p:nvGraphicFramePr>
        <p:xfrm>
          <a:off x="457200" y="1234440"/>
          <a:ext cx="4572000" cy="329184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5486400" y="1280160"/>
            <a:ext cx="3200400" cy="457200"/>
          </a:xfrm>
          <a:prstGeom prst="rect">
            <a:avLst/>
          </a:prstGeom>
          <a:noFill/>
          <a:ln/>
        </p:spPr>
        <p:txBody>
          <a:bodyPr wrap="square" lIns="0" tIns="0" rIns="0" bIns="0" rtlCol="0" anchor="ctr"/>
          <a:lstStyle/>
          <a:p>
            <a:pPr indent="0" marL="0">
              <a:buNone/>
            </a:pPr>
            <a:r>
              <a:rPr lang="en-US" sz="2600" b="1" dirty="0">
                <a:solidFill>
                  <a:srgbClr val="1F3A5F"/>
                </a:solidFill>
                <a:latin typeface="Cambria" pitchFamily="34" charset="0"/>
                <a:ea typeface="Cambria" pitchFamily="34" charset="-122"/>
                <a:cs typeface="Cambria" pitchFamily="34" charset="-120"/>
              </a:rPr>
              <a:t>₹4.4 cr</a:t>
            </a:r>
            <a:endParaRPr lang="en-US" sz="2600" dirty="0"/>
          </a:p>
        </p:txBody>
      </p:sp>
      <p:sp>
        <p:nvSpPr>
          <p:cNvPr id="7" name="Text 4"/>
          <p:cNvSpPr txBox="1"/>
          <p:nvPr/>
        </p:nvSpPr>
        <p:spPr>
          <a:xfrm>
            <a:off x="5486400" y="1737360"/>
            <a:ext cx="3200400" cy="502920"/>
          </a:xfrm>
          <a:prstGeom prst="rect">
            <a:avLst/>
          </a:prstGeom>
          <a:noFill/>
          <a:ln/>
        </p:spPr>
        <p:txBody>
          <a:bodyPr wrap="square" lIns="0" tIns="0" rIns="0" bIns="0" rtlCol="0" anchor="t"/>
          <a:lstStyle/>
          <a:p>
            <a:pPr indent="0" marL="0">
              <a:buNone/>
            </a:pPr>
            <a:r>
              <a:rPr lang="en-US" sz="1050" dirty="0">
                <a:solidFill>
                  <a:srgbClr val="52514E"/>
                </a:solidFill>
                <a:latin typeface="Calibri" pitchFamily="34" charset="0"/>
                <a:ea typeface="Calibri" pitchFamily="34" charset="-122"/>
                <a:cs typeface="Calibri" pitchFamily="34" charset="-120"/>
              </a:rPr>
              <a:t>partner margin in FY29, if booked against gross margin</a:t>
            </a:r>
            <a:endParaRPr lang="en-US" sz="1050" dirty="0"/>
          </a:p>
        </p:txBody>
      </p:sp>
      <p:sp>
        <p:nvSpPr>
          <p:cNvPr id="8" name="Text 5"/>
          <p:cNvSpPr txBox="1"/>
          <p:nvPr/>
        </p:nvSpPr>
        <p:spPr>
          <a:xfrm>
            <a:off x="5486400" y="2331720"/>
            <a:ext cx="3200400" cy="457200"/>
          </a:xfrm>
          <a:prstGeom prst="rect">
            <a:avLst/>
          </a:prstGeom>
          <a:noFill/>
          <a:ln/>
        </p:spPr>
        <p:txBody>
          <a:bodyPr wrap="square" lIns="0" tIns="0" rIns="0" bIns="0" rtlCol="0" anchor="ctr"/>
          <a:lstStyle/>
          <a:p>
            <a:pPr indent="0" marL="0">
              <a:buNone/>
            </a:pPr>
            <a:r>
              <a:rPr lang="en-US" sz="2600" b="1" dirty="0">
                <a:solidFill>
                  <a:srgbClr val="1BAF7A"/>
                </a:solidFill>
                <a:latin typeface="Cambria" pitchFamily="34" charset="0"/>
                <a:ea typeface="Cambria" pitchFamily="34" charset="-122"/>
                <a:cs typeface="Cambria" pitchFamily="34" charset="-120"/>
              </a:rPr>
              <a:t>₹14.0 cr</a:t>
            </a:r>
            <a:endParaRPr lang="en-US" sz="2600" dirty="0"/>
          </a:p>
        </p:txBody>
      </p:sp>
      <p:sp>
        <p:nvSpPr>
          <p:cNvPr id="9" name="Text 6"/>
          <p:cNvSpPr txBox="1"/>
          <p:nvPr/>
        </p:nvSpPr>
        <p:spPr>
          <a:xfrm>
            <a:off x="5486400" y="2788920"/>
            <a:ext cx="3200400" cy="502920"/>
          </a:xfrm>
          <a:prstGeom prst="rect">
            <a:avLst/>
          </a:prstGeom>
          <a:noFill/>
          <a:ln/>
        </p:spPr>
        <p:txBody>
          <a:bodyPr wrap="square" lIns="0" tIns="0" rIns="0" bIns="0" rtlCol="0" anchor="t"/>
          <a:lstStyle/>
          <a:p>
            <a:pPr indent="0" marL="0">
              <a:buNone/>
            </a:pPr>
            <a:r>
              <a:rPr lang="en-US" sz="1050" dirty="0">
                <a:solidFill>
                  <a:srgbClr val="52514E"/>
                </a:solidFill>
                <a:latin typeface="Calibri" pitchFamily="34" charset="0"/>
                <a:ea typeface="Calibri" pitchFamily="34" charset="-122"/>
                <a:cs typeface="Calibri" pitchFamily="34" charset="-120"/>
              </a:rPr>
              <a:t>partner margin that would breach 66% in FY29, about 3x plan</a:t>
            </a:r>
            <a:endParaRPr lang="en-US" sz="1050" dirty="0"/>
          </a:p>
        </p:txBody>
      </p:sp>
      <p:sp>
        <p:nvSpPr>
          <p:cNvPr id="10" name="Text 7"/>
          <p:cNvSpPr txBox="1"/>
          <p:nvPr/>
        </p:nvSpPr>
        <p:spPr>
          <a:xfrm>
            <a:off x="5486400" y="3383280"/>
            <a:ext cx="3200400" cy="1097280"/>
          </a:xfrm>
          <a:prstGeom prst="rect">
            <a:avLst/>
          </a:prstGeom>
          <a:noFill/>
          <a:ln/>
        </p:spPr>
        <p:txBody>
          <a:bodyPr wrap="square" lIns="0" tIns="0" rIns="0" bIns="0" rtlCol="0" anchor="t"/>
          <a:lstStyle/>
          <a:p>
            <a:pPr indent="0" marL="0">
              <a:buNone/>
            </a:pPr>
            <a:r>
              <a:rPr lang="en-US" sz="1050" dirty="0">
                <a:solidFill>
                  <a:srgbClr val="1A1A1A"/>
                </a:solidFill>
                <a:latin typeface="Calibri" pitchFamily="34" charset="0"/>
                <a:ea typeface="Calibri" pitchFamily="34" charset="-122"/>
                <a:cs typeface="Calibri" pitchFamily="34" charset="-120"/>
              </a:rPr>
              <a:t>Today partner margin sits in S&amp;M, outside gross margin. I book it against gross margin for the floor test so the guardrail is not met by an accounting choice.</a:t>
            </a:r>
            <a:endParaRPr lang="en-US" sz="1050" dirty="0"/>
          </a:p>
        </p:txBody>
      </p:sp>
      <p:sp>
        <p:nvSpPr>
          <p:cNvPr id="11" name="Text 8"/>
          <p:cNvSpPr txBox="1"/>
          <p:nvPr/>
        </p:nvSpPr>
        <p:spPr>
          <a:xfrm>
            <a:off x="457200" y="4617720"/>
            <a:ext cx="8229600" cy="201168"/>
          </a:xfrm>
          <a:prstGeom prst="rect">
            <a:avLst/>
          </a:prstGeom>
          <a:noFill/>
          <a:ln/>
        </p:spPr>
        <p:txBody>
          <a:bodyPr wrap="square" lIns="0" tIns="0" rIns="0" bIns="0" rtlCol="0" anchor="ctr"/>
          <a:lstStyle/>
          <a:p>
            <a:pPr indent="0" marL="0">
              <a:buNone/>
            </a:pPr>
            <a:r>
              <a:rPr lang="en-US" sz="800" i="1" dirty="0">
                <a:solidFill>
                  <a:srgbClr val="52514E"/>
                </a:solidFill>
                <a:latin typeface="Calibri" pitchFamily="34" charset="0"/>
                <a:ea typeface="Calibri" pitchFamily="34" charset="-122"/>
                <a:cs typeface="Calibri" pitchFamily="34" charset="-120"/>
              </a:rPr>
              <a:t>Source: workbook sheet GM_floor. Revenue approximations replaced by D7 integrated model.</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28600"/>
            <a:ext cx="8229600" cy="228600"/>
          </a:xfrm>
          <a:prstGeom prst="rect">
            <a:avLst/>
          </a:prstGeom>
          <a:noFill/>
          <a:ln/>
        </p:spPr>
        <p:txBody>
          <a:bodyPr wrap="square" lIns="0" tIns="0" rIns="0" bIns="0" rtlCol="0" anchor="ctr"/>
          <a:lstStyle/>
          <a:p>
            <a:pPr indent="0" marL="0">
              <a:buNone/>
            </a:pPr>
            <a:r>
              <a:rPr lang="en-US" sz="1000" b="1" spc="200" kern="0" dirty="0">
                <a:solidFill>
                  <a:srgbClr val="EB6834"/>
                </a:solidFill>
                <a:latin typeface="Calibri" pitchFamily="34" charset="0"/>
                <a:ea typeface="Calibri" pitchFamily="34" charset="-122"/>
                <a:cs typeface="Calibri" pitchFamily="34" charset="-120"/>
              </a:rPr>
              <a:t>PANEL QUESTION: AT WHAT PRODUCTIVITY DOES THE CHANNEL LOSE MONEY, AND HOW LIKELY IS THAT?</a:t>
            </a:r>
            <a:endParaRPr lang="en-US" sz="1000" dirty="0"/>
          </a:p>
        </p:txBody>
      </p:sp>
      <p:sp>
        <p:nvSpPr>
          <p:cNvPr id="3" name="Text 1"/>
          <p:cNvSpPr txBox="1"/>
          <p:nvPr/>
        </p:nvSpPr>
        <p:spPr>
          <a:xfrm>
            <a:off x="457200" y="438912"/>
            <a:ext cx="8229600" cy="685800"/>
          </a:xfrm>
          <a:prstGeom prst="rect">
            <a:avLst/>
          </a:prstGeom>
          <a:noFill/>
          <a:ln/>
        </p:spPr>
        <p:txBody>
          <a:bodyPr wrap="square" lIns="0" tIns="0" rIns="0" bIns="0" rtlCol="0" anchor="t"/>
          <a:lstStyle/>
          <a:p>
            <a:pPr indent="0" marL="0">
              <a:buNone/>
            </a:pPr>
            <a:r>
              <a:rPr lang="en-US" sz="2100" b="1" dirty="0">
                <a:solidFill>
                  <a:srgbClr val="1F3A5F"/>
                </a:solidFill>
                <a:latin typeface="Cambria" pitchFamily="34" charset="0"/>
                <a:ea typeface="Cambria" pitchFamily="34" charset="-122"/>
                <a:cs typeface="Cambria" pitchFamily="34" charset="-120"/>
              </a:rPr>
              <a:t>The channel loses money if active partners average under ₹0.24 cr a year; likely in FY27, unlikely by FY29 if we select well</a:t>
            </a:r>
            <a:endParaRPr lang="en-US" sz="2100" dirty="0"/>
          </a:p>
        </p:txBody>
      </p:sp>
      <p:sp>
        <p:nvSpPr>
          <p:cNvPr id="4" name="Text 2"/>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800" dirty="0">
                <a:solidFill>
                  <a:srgbClr val="A3A29C"/>
                </a:solidFill>
                <a:latin typeface="Calibri" pitchFamily="34" charset="0"/>
                <a:ea typeface="Calibri" pitchFamily="34" charset="-122"/>
                <a:cs typeface="Calibri" pitchFamily="34" charset="-120"/>
              </a:rPr>
              <a:t>Strata Sense (fictional) · D6</a:t>
            </a:r>
            <a:endParaRPr lang="en-US" sz="8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5394960" cy="914400"/>
        </p:xfrm>
        <a:graphic>
          <a:graphicData uri="http://schemas.openxmlformats.org/drawingml/2006/table">
            <a:tbl>
              <a:tblPr/>
              <a:tblGrid>
                <a:gridCol w="3200400"/>
                <a:gridCol w="731520"/>
                <a:gridCol w="731520"/>
                <a:gridCol w="731520"/>
              </a:tblGrid>
              <a:tr h="329184">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Probability the channel loses money (substitution lens)</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A5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FY27</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A5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FY28</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A5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FY29</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A5F"/>
                    </a:solidFill>
                  </a:tcPr>
                </a:tc>
              </a:tr>
              <a:tr h="329184">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Plan case: 70% activation, median ₹1.0 cr per partner</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96%</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9%</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&lt;1%</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Downside: partners like FY26 India partners</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100%</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91%</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44%</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r>
              <a:tr h="329184">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P(25% share in FY29): plan case / downside</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46% / 0%</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6126480" y="1280160"/>
            <a:ext cx="2560320" cy="457200"/>
          </a:xfrm>
          <a:prstGeom prst="rect">
            <a:avLst/>
          </a:prstGeom>
          <a:noFill/>
          <a:ln/>
        </p:spPr>
        <p:txBody>
          <a:bodyPr wrap="square" lIns="0" tIns="0" rIns="0" bIns="0" rtlCol="0" anchor="ctr"/>
          <a:lstStyle/>
          <a:p>
            <a:pPr indent="0" marL="0">
              <a:buNone/>
            </a:pPr>
            <a:r>
              <a:rPr lang="en-US" sz="2600" b="1" dirty="0">
                <a:solidFill>
                  <a:srgbClr val="1F3A5F"/>
                </a:solidFill>
                <a:latin typeface="Cambria" pitchFamily="34" charset="0"/>
                <a:ea typeface="Cambria" pitchFamily="34" charset="-122"/>
                <a:cs typeface="Cambria" pitchFamily="34" charset="-120"/>
              </a:rPr>
              <a:t>₹0.24 cr</a:t>
            </a:r>
            <a:endParaRPr lang="en-US" sz="2600" dirty="0"/>
          </a:p>
        </p:txBody>
      </p:sp>
      <p:sp>
        <p:nvSpPr>
          <p:cNvPr id="7" name="Text 4"/>
          <p:cNvSpPr txBox="1"/>
          <p:nvPr/>
        </p:nvSpPr>
        <p:spPr>
          <a:xfrm>
            <a:off x="6126480" y="1737360"/>
            <a:ext cx="2560320" cy="502920"/>
          </a:xfrm>
          <a:prstGeom prst="rect">
            <a:avLst/>
          </a:prstGeom>
          <a:noFill/>
          <a:ln/>
        </p:spPr>
        <p:txBody>
          <a:bodyPr wrap="square" lIns="0" tIns="0" rIns="0" bIns="0" rtlCol="0" anchor="t"/>
          <a:lstStyle/>
          <a:p>
            <a:pPr indent="0" marL="0">
              <a:buNone/>
            </a:pPr>
            <a:r>
              <a:rPr lang="en-US" sz="1050" dirty="0">
                <a:solidFill>
                  <a:srgbClr val="52514E"/>
                </a:solidFill>
                <a:latin typeface="Calibri" pitchFamily="34" charset="0"/>
                <a:ea typeface="Calibri" pitchFamily="34" charset="-122"/>
                <a:cs typeface="Calibri" pitchFamily="34" charset="-120"/>
              </a:rPr>
              <a:t>break-even sourced ARR per active partner, FY29 (28 partners, ₹6.5 cr fixed cost)</a:t>
            </a:r>
            <a:endParaRPr lang="en-US" sz="1050" dirty="0"/>
          </a:p>
        </p:txBody>
      </p:sp>
      <p:sp>
        <p:nvSpPr>
          <p:cNvPr id="8" name="Text 5"/>
          <p:cNvSpPr txBox="1"/>
          <p:nvPr/>
        </p:nvSpPr>
        <p:spPr>
          <a:xfrm>
            <a:off x="6126480" y="2331720"/>
            <a:ext cx="2560320" cy="457200"/>
          </a:xfrm>
          <a:prstGeom prst="rect">
            <a:avLst/>
          </a:prstGeom>
          <a:noFill/>
          <a:ln/>
        </p:spPr>
        <p:txBody>
          <a:bodyPr wrap="square" lIns="0" tIns="0" rIns="0" bIns="0" rtlCol="0" anchor="ctr"/>
          <a:lstStyle/>
          <a:p>
            <a:pPr indent="0" marL="0">
              <a:buNone/>
            </a:pPr>
            <a:r>
              <a:rPr lang="en-US" sz="2600" b="1" dirty="0">
                <a:solidFill>
                  <a:srgbClr val="EB6834"/>
                </a:solidFill>
                <a:latin typeface="Cambria" pitchFamily="34" charset="0"/>
                <a:ea typeface="Cambria" pitchFamily="34" charset="-122"/>
                <a:cs typeface="Cambria" pitchFamily="34" charset="-120"/>
              </a:rPr>
              <a:t>₹0.19 cr</a:t>
            </a:r>
            <a:endParaRPr lang="en-US" sz="2600" dirty="0"/>
          </a:p>
        </p:txBody>
      </p:sp>
      <p:sp>
        <p:nvSpPr>
          <p:cNvPr id="9" name="Text 6"/>
          <p:cNvSpPr txBox="1"/>
          <p:nvPr/>
        </p:nvSpPr>
        <p:spPr>
          <a:xfrm>
            <a:off x="6126480" y="2788920"/>
            <a:ext cx="2560320" cy="502920"/>
          </a:xfrm>
          <a:prstGeom prst="rect">
            <a:avLst/>
          </a:prstGeom>
          <a:noFill/>
          <a:ln/>
        </p:spPr>
        <p:txBody>
          <a:bodyPr wrap="square" lIns="0" tIns="0" rIns="0" bIns="0" rtlCol="0" anchor="t"/>
          <a:lstStyle/>
          <a:p>
            <a:pPr indent="0" marL="0">
              <a:buNone/>
            </a:pPr>
            <a:r>
              <a:rPr lang="en-US" sz="1050" dirty="0">
                <a:solidFill>
                  <a:srgbClr val="52514E"/>
                </a:solidFill>
                <a:latin typeface="Calibri" pitchFamily="34" charset="0"/>
                <a:ea typeface="Calibri" pitchFamily="34" charset="-122"/>
                <a:cs typeface="Calibri" pitchFamily="34" charset="-120"/>
              </a:rPr>
              <a:t>FY26 actual per signed partner: below break-even, because 10 of 14 are dormant</a:t>
            </a:r>
            <a:endParaRPr lang="en-US" sz="1050" dirty="0"/>
          </a:p>
        </p:txBody>
      </p:sp>
      <p:sp>
        <p:nvSpPr>
          <p:cNvPr id="10" name="Text 7"/>
          <p:cNvSpPr txBox="1"/>
          <p:nvPr/>
        </p:nvSpPr>
        <p:spPr>
          <a:xfrm>
            <a:off x="457200" y="3154680"/>
            <a:ext cx="5394960" cy="914400"/>
          </a:xfrm>
          <a:prstGeom prst="rect">
            <a:avLst/>
          </a:prstGeom>
          <a:noFill/>
          <a:ln/>
        </p:spPr>
        <p:txBody>
          <a:bodyPr wrap="square" lIns="0" tIns="0" rIns="0" bIns="0" rtlCol="0" anchor="t"/>
          <a:lstStyle/>
          <a:p>
            <a:pPr indent="0" marL="0">
              <a:buNone/>
            </a:pPr>
            <a:r>
              <a:rPr lang="en-US" sz="1100" b="1" dirty="0">
                <a:solidFill>
                  <a:srgbClr val="1F3A5F"/>
                </a:solidFill>
                <a:latin typeface="Calibri" pitchFamily="34" charset="0"/>
                <a:ea typeface="Calibri" pitchFamily="34" charset="-122"/>
                <a:cs typeface="Calibri" pitchFamily="34" charset="-120"/>
              </a:rPr>
              <a:t>Kill gate at end-Q2 FY28: if fewer than 10 partners are active or trailing partner-sourced ARR is under ₹6 cr a year, stop recruiting, cut MDF, and return partner-manager budget to direct SEA hiring.</a:t>
            </a:r>
            <a:endParaRPr lang="en-US" sz="1100" dirty="0"/>
          </a:p>
        </p:txBody>
      </p:sp>
      <p:sp>
        <p:nvSpPr>
          <p:cNvPr id="11" name="Text 8"/>
          <p:cNvSpPr txBox="1"/>
          <p:nvPr/>
        </p:nvSpPr>
        <p:spPr>
          <a:xfrm>
            <a:off x="457200" y="4617720"/>
            <a:ext cx="8229600" cy="201168"/>
          </a:xfrm>
          <a:prstGeom prst="rect">
            <a:avLst/>
          </a:prstGeom>
          <a:noFill/>
          <a:ln/>
        </p:spPr>
        <p:txBody>
          <a:bodyPr wrap="square" lIns="0" tIns="0" rIns="0" bIns="0" rtlCol="0" anchor="ctr"/>
          <a:lstStyle/>
          <a:p>
            <a:pPr indent="0" marL="0">
              <a:buNone/>
            </a:pPr>
            <a:r>
              <a:rPr lang="en-US" sz="800" i="1" dirty="0">
                <a:solidFill>
                  <a:srgbClr val="52514E"/>
                </a:solidFill>
                <a:latin typeface="Calibri" pitchFamily="34" charset="0"/>
                <a:ea typeface="Calibri" pitchFamily="34" charset="-122"/>
                <a:cs typeface="Calibri" pitchFamily="34" charset="-120"/>
              </a:rPr>
              <a:t>Source: workbook sheets Breakeven and Risk_sim (Monte Carlo, 20,000 runs: activation rate, per-partner productivity, common market shock). Downside uses 45% activation and ₹0.45 cr median.</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28600"/>
            <a:ext cx="8229600" cy="228600"/>
          </a:xfrm>
          <a:prstGeom prst="rect">
            <a:avLst/>
          </a:prstGeom>
          <a:noFill/>
          <a:ln/>
        </p:spPr>
        <p:txBody>
          <a:bodyPr wrap="square" lIns="0" tIns="0" rIns="0" bIns="0" rtlCol="0" anchor="ctr"/>
          <a:lstStyle/>
          <a:p>
            <a:pPr indent="0" marL="0">
              <a:buNone/>
            </a:pPr>
            <a:r>
              <a:rPr lang="en-US" sz="1000" b="1" spc="200" kern="0" dirty="0">
                <a:solidFill>
                  <a:srgbClr val="EB6834"/>
                </a:solidFill>
                <a:latin typeface="Calibri" pitchFamily="34" charset="0"/>
                <a:ea typeface="Calibri" pitchFamily="34" charset="-122"/>
                <a:cs typeface="Calibri" pitchFamily="34" charset="-120"/>
              </a:rPr>
              <a:t>PARTNER-CONFLICT INJECT (WEEK 7)</a:t>
            </a:r>
            <a:endParaRPr lang="en-US" sz="1000" dirty="0"/>
          </a:p>
        </p:txBody>
      </p:sp>
      <p:sp>
        <p:nvSpPr>
          <p:cNvPr id="3" name="Text 1"/>
          <p:cNvSpPr txBox="1"/>
          <p:nvPr/>
        </p:nvSpPr>
        <p:spPr>
          <a:xfrm>
            <a:off x="457200" y="438912"/>
            <a:ext cx="8229600" cy="685800"/>
          </a:xfrm>
          <a:prstGeom prst="rect">
            <a:avLst/>
          </a:prstGeom>
          <a:noFill/>
          <a:ln/>
        </p:spPr>
        <p:txBody>
          <a:bodyPr wrap="square" lIns="0" tIns="0" rIns="0" bIns="0" rtlCol="0" anchor="t"/>
          <a:lstStyle/>
          <a:p>
            <a:pPr indent="0" marL="0">
              <a:buNone/>
            </a:pPr>
            <a:r>
              <a:rPr lang="en-US" sz="2100" b="1" dirty="0">
                <a:solidFill>
                  <a:srgbClr val="1F3A5F"/>
                </a:solidFill>
                <a:latin typeface="Cambria" pitchFamily="34" charset="0"/>
                <a:ea typeface="Cambria" pitchFamily="34" charset="-122"/>
                <a:cs typeface="Cambria" pitchFamily="34" charset="-120"/>
              </a:rPr>
              <a:t>Inject 3: P05 and P11 join Helix programmes; restrict them, require disclosure, and bring SEA recruits forward</a:t>
            </a:r>
            <a:endParaRPr lang="en-US" sz="2100" dirty="0"/>
          </a:p>
        </p:txBody>
      </p:sp>
      <p:sp>
        <p:nvSpPr>
          <p:cNvPr id="4" name="Text 2"/>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800" dirty="0">
                <a:solidFill>
                  <a:srgbClr val="A3A29C"/>
                </a:solidFill>
                <a:latin typeface="Calibri" pitchFamily="34" charset="0"/>
                <a:ea typeface="Calibri" pitchFamily="34" charset="-122"/>
                <a:cs typeface="Calibri" pitchFamily="34" charset="-120"/>
              </a:rPr>
              <a:t>Strata Sense (fictional) · D6</a:t>
            </a:r>
            <a:endParaRPr lang="en-US" sz="800" dirty="0"/>
          </a:p>
        </p:txBody>
      </p:sp>
      <p:sp>
        <p:nvSpPr>
          <p:cNvPr id="5" name="Text 3"/>
          <p:cNvSpPr txBox="1"/>
          <p:nvPr/>
        </p:nvSpPr>
        <p:spPr>
          <a:xfrm>
            <a:off x="457200" y="1280160"/>
            <a:ext cx="2651760" cy="457200"/>
          </a:xfrm>
          <a:prstGeom prst="rect">
            <a:avLst/>
          </a:prstGeom>
          <a:noFill/>
          <a:ln/>
        </p:spPr>
        <p:txBody>
          <a:bodyPr wrap="square" lIns="0" tIns="0" rIns="0" bIns="0" rtlCol="0" anchor="ctr"/>
          <a:lstStyle/>
          <a:p>
            <a:pPr indent="0" marL="0">
              <a:buNone/>
            </a:pPr>
            <a:r>
              <a:rPr lang="en-US" sz="2600" b="1" dirty="0">
                <a:solidFill>
                  <a:srgbClr val="EB6834"/>
                </a:solidFill>
                <a:latin typeface="Cambria" pitchFamily="34" charset="0"/>
                <a:ea typeface="Cambria" pitchFamily="34" charset="-122"/>
                <a:cs typeface="Cambria" pitchFamily="34" charset="-120"/>
              </a:rPr>
              <a:t>₹7.85 cr</a:t>
            </a:r>
            <a:endParaRPr lang="en-US" sz="2600" dirty="0"/>
          </a:p>
        </p:txBody>
      </p:sp>
      <p:sp>
        <p:nvSpPr>
          <p:cNvPr id="6" name="Text 4"/>
          <p:cNvSpPr txBox="1"/>
          <p:nvPr/>
        </p:nvSpPr>
        <p:spPr>
          <a:xfrm>
            <a:off x="457200" y="1737360"/>
            <a:ext cx="2651760" cy="502920"/>
          </a:xfrm>
          <a:prstGeom prst="rect">
            <a:avLst/>
          </a:prstGeom>
          <a:noFill/>
          <a:ln/>
        </p:spPr>
        <p:txBody>
          <a:bodyPr wrap="square" lIns="0" tIns="0" rIns="0" bIns="0" rtlCol="0" anchor="t"/>
          <a:lstStyle/>
          <a:p>
            <a:pPr indent="0" marL="0">
              <a:buNone/>
            </a:pPr>
            <a:r>
              <a:rPr lang="en-US" sz="1050" dirty="0">
                <a:solidFill>
                  <a:srgbClr val="52514E"/>
                </a:solidFill>
                <a:latin typeface="Calibri" pitchFamily="34" charset="0"/>
                <a:ea typeface="Calibri" pitchFamily="34" charset="-122"/>
                <a:cs typeface="Calibri" pitchFamily="34" charset="-120"/>
              </a:rPr>
              <a:t>of ₹14.83 cr open partner-sourced pipeline sits with P05 and P11 (53%)</a:t>
            </a:r>
            <a:endParaRPr lang="en-US" sz="1050" dirty="0"/>
          </a:p>
        </p:txBody>
      </p:sp>
      <p:sp>
        <p:nvSpPr>
          <p:cNvPr id="7" name="Text 5"/>
          <p:cNvSpPr txBox="1"/>
          <p:nvPr/>
        </p:nvSpPr>
        <p:spPr>
          <a:xfrm>
            <a:off x="457200" y="2331720"/>
            <a:ext cx="2651760" cy="457200"/>
          </a:xfrm>
          <a:prstGeom prst="rect">
            <a:avLst/>
          </a:prstGeom>
          <a:noFill/>
          <a:ln/>
        </p:spPr>
        <p:txBody>
          <a:bodyPr wrap="square" lIns="0" tIns="0" rIns="0" bIns="0" rtlCol="0" anchor="ctr"/>
          <a:lstStyle/>
          <a:p>
            <a:pPr indent="0" marL="0">
              <a:buNone/>
            </a:pPr>
            <a:r>
              <a:rPr lang="en-US" sz="2600" b="1" dirty="0">
                <a:solidFill>
                  <a:srgbClr val="1F3A5F"/>
                </a:solidFill>
                <a:latin typeface="Cambria" pitchFamily="34" charset="0"/>
                <a:ea typeface="Cambria" pitchFamily="34" charset="-122"/>
                <a:cs typeface="Cambria" pitchFamily="34" charset="-120"/>
              </a:rPr>
              <a:t>₹0.30 cr</a:t>
            </a:r>
            <a:endParaRPr lang="en-US" sz="2600" dirty="0"/>
          </a:p>
        </p:txBody>
      </p:sp>
      <p:sp>
        <p:nvSpPr>
          <p:cNvPr id="8" name="Text 6"/>
          <p:cNvSpPr txBox="1"/>
          <p:nvPr/>
        </p:nvSpPr>
        <p:spPr>
          <a:xfrm>
            <a:off x="457200" y="2788920"/>
            <a:ext cx="2651760" cy="502920"/>
          </a:xfrm>
          <a:prstGeom prst="rect">
            <a:avLst/>
          </a:prstGeom>
          <a:noFill/>
          <a:ln/>
        </p:spPr>
        <p:txBody>
          <a:bodyPr wrap="square" lIns="0" tIns="0" rIns="0" bIns="0" rtlCol="0" anchor="t"/>
          <a:lstStyle/>
          <a:p>
            <a:pPr indent="0" marL="0">
              <a:buNone/>
            </a:pPr>
            <a:r>
              <a:rPr lang="en-US" sz="1050" dirty="0">
                <a:solidFill>
                  <a:srgbClr val="52514E"/>
                </a:solidFill>
                <a:latin typeface="Calibri" pitchFamily="34" charset="0"/>
                <a:ea typeface="Calibri" pitchFamily="34" charset="-122"/>
                <a:cs typeface="Calibri" pitchFamily="34" charset="-120"/>
              </a:rPr>
              <a:t>FY27 partner ARR shortfall against D2’s ₹4.0 cr, handed to D7 (direct headroom ₹2.9 cr covers it)</a:t>
            </a:r>
            <a:endParaRPr lang="en-US" sz="1050" dirty="0"/>
          </a:p>
        </p:txBody>
      </p:sp>
      <p:sp>
        <p:nvSpPr>
          <p:cNvPr id="9" name="Text 7"/>
          <p:cNvSpPr txBox="1"/>
          <p:nvPr/>
        </p:nvSpPr>
        <p:spPr>
          <a:xfrm>
            <a:off x="457200" y="3383280"/>
            <a:ext cx="2651760" cy="457200"/>
          </a:xfrm>
          <a:prstGeom prst="rect">
            <a:avLst/>
          </a:prstGeom>
          <a:noFill/>
          <a:ln/>
        </p:spPr>
        <p:txBody>
          <a:bodyPr wrap="square" lIns="0" tIns="0" rIns="0" bIns="0" rtlCol="0" anchor="ctr"/>
          <a:lstStyle/>
          <a:p>
            <a:pPr indent="0" marL="0">
              <a:buNone/>
            </a:pPr>
            <a:r>
              <a:rPr lang="en-US" sz="2600" b="1" dirty="0">
                <a:solidFill>
                  <a:srgbClr val="1F3A5F"/>
                </a:solidFill>
                <a:latin typeface="Cambria" pitchFamily="34" charset="0"/>
                <a:ea typeface="Cambria" pitchFamily="34" charset="-122"/>
                <a:cs typeface="Cambria" pitchFamily="34" charset="-120"/>
              </a:rPr>
              <a:t>1.26 of 2.61</a:t>
            </a:r>
            <a:endParaRPr lang="en-US" sz="2600" dirty="0"/>
          </a:p>
        </p:txBody>
      </p:sp>
      <p:sp>
        <p:nvSpPr>
          <p:cNvPr id="10" name="Text 8"/>
          <p:cNvSpPr txBox="1"/>
          <p:nvPr/>
        </p:nvSpPr>
        <p:spPr>
          <a:xfrm>
            <a:off x="457200" y="3840480"/>
            <a:ext cx="2651760" cy="502920"/>
          </a:xfrm>
          <a:prstGeom prst="rect">
            <a:avLst/>
          </a:prstGeom>
          <a:noFill/>
          <a:ln/>
        </p:spPr>
        <p:txBody>
          <a:bodyPr wrap="square" lIns="0" tIns="0" rIns="0" bIns="0" rtlCol="0" anchor="t"/>
          <a:lstStyle/>
          <a:p>
            <a:pPr indent="0" marL="0">
              <a:buNone/>
            </a:pPr>
            <a:r>
              <a:rPr lang="en-US" sz="1050" dirty="0">
                <a:solidFill>
                  <a:srgbClr val="52514E"/>
                </a:solidFill>
                <a:latin typeface="Calibri" pitchFamily="34" charset="0"/>
                <a:ea typeface="Calibri" pitchFamily="34" charset="-122"/>
                <a:cs typeface="Calibri" pitchFamily="34" charset="-120"/>
              </a:rPr>
              <a:t>FY26 partner-sourced ARR (₹ cr) came from P05 and P11</a:t>
            </a:r>
            <a:endParaRPr lang="en-US" sz="1050" dirty="0"/>
          </a:p>
        </p:txBody>
      </p:sp>
      <p:sp>
        <p:nvSpPr>
          <p:cNvPr id="11" name="Shape 9"/>
          <p:cNvSpPr/>
          <p:nvPr/>
        </p:nvSpPr>
        <p:spPr>
          <a:xfrm>
            <a:off x="3383280" y="1234440"/>
            <a:ext cx="5303520" cy="3246120"/>
          </a:xfrm>
          <a:prstGeom prst="rect">
            <a:avLst/>
          </a:prstGeom>
          <a:solidFill>
            <a:srgbClr val="F7F6F2"/>
          </a:solidFill>
          <a:ln w="12700">
            <a:solidFill>
              <a:srgbClr val="D9D8D2"/>
            </a:solidFill>
            <a:prstDash val="solid"/>
          </a:ln>
        </p:spPr>
      </p:sp>
      <p:sp>
        <p:nvSpPr>
          <p:cNvPr id="12" name="Shape 10"/>
          <p:cNvSpPr/>
          <p:nvPr/>
        </p:nvSpPr>
        <p:spPr>
          <a:xfrm>
            <a:off x="3383280" y="1234440"/>
            <a:ext cx="64008" cy="3246120"/>
          </a:xfrm>
          <a:prstGeom prst="rect">
            <a:avLst/>
          </a:prstGeom>
          <a:solidFill>
            <a:srgbClr val="EB6834"/>
          </a:solidFill>
          <a:ln w="12700">
            <a:solidFill>
              <a:srgbClr val="EB6834"/>
            </a:solidFill>
            <a:prstDash val="solid"/>
          </a:ln>
        </p:spPr>
      </p:sp>
      <p:sp>
        <p:nvSpPr>
          <p:cNvPr id="13" name="Text 11"/>
          <p:cNvSpPr txBox="1"/>
          <p:nvPr/>
        </p:nvSpPr>
        <p:spPr>
          <a:xfrm>
            <a:off x="3547872" y="1307592"/>
            <a:ext cx="5047488" cy="3118104"/>
          </a:xfrm>
          <a:prstGeom prst="rect">
            <a:avLst/>
          </a:prstGeom>
          <a:noFill/>
          <a:ln/>
        </p:spPr>
        <p:txBody>
          <a:bodyPr wrap="square" lIns="0" tIns="0" rIns="0" bIns="0" rtlCol="0" anchor="t"/>
          <a:lstStyle/>
          <a:p>
            <a:pPr indent="0" marL="0">
              <a:buNone/>
            </a:pPr>
            <a:r>
              <a:rPr lang="en-US" sz="1200" b="1" dirty="0">
                <a:solidFill>
                  <a:srgbClr val="1A1A1A"/>
                </a:solidFill>
                <a:latin typeface="Calibri" pitchFamily="34" charset="0"/>
                <a:ea typeface="Calibri" pitchFamily="34" charset="-122"/>
                <a:cs typeface="Calibri" pitchFamily="34" charset="-120"/>
              </a:rPr>
              <a:t>Response</a:t>
            </a:r>
            <a:endParaRPr lang="en-US" sz="1200" dirty="0"/>
          </a:p>
          <a:p>
            <a:pPr indent="0" marL="0">
              <a:buNone/>
            </a:pPr>
            <a:r>
              <a:rPr lang="en-US" sz="1150" dirty="0">
                <a:solidFill>
                  <a:srgbClr val="52514E"/>
                </a:solidFill>
                <a:latin typeface="Calibri" pitchFamily="34" charset="0"/>
                <a:ea typeface="Calibri" pitchFamily="34" charset="-122"/>
                <a:cs typeface="Calibri" pitchFamily="34" charset="-120"/>
              </a:rPr>
              <a:t>1. Restrict, do not exit: no deal registration for P05/P11 in Helix-incumbent accounts; keep them in non-Helix accounts and for services.</a:t>
            </a:r>
            <a:endParaRPr lang="en-US" sz="1200" dirty="0"/>
          </a:p>
          <a:p>
            <a:pPr indent="0" marL="0">
              <a:buNone/>
            </a:pPr>
            <a:r>
              <a:rPr lang="en-US" sz="1150" dirty="0">
                <a:solidFill>
                  <a:srgbClr val="52514E"/>
                </a:solidFill>
                <a:latin typeface="Calibri" pitchFamily="34" charset="0"/>
                <a:ea typeface="Calibri" pitchFamily="34" charset="-122"/>
                <a:cs typeface="Calibri" pitchFamily="34" charset="-120"/>
              </a:rPr>
              <a:t>2. Disclosure: every registration lists competing lines; conflict check within 48 hours.</a:t>
            </a:r>
            <a:endParaRPr lang="en-US" sz="1200" dirty="0"/>
          </a:p>
          <a:p>
            <a:pPr indent="0" marL="0">
              <a:buNone/>
            </a:pPr>
            <a:r>
              <a:rPr lang="en-US" sz="1150" dirty="0">
                <a:solidFill>
                  <a:srgbClr val="52514E"/>
                </a:solidFill>
                <a:latin typeface="Calibri" pitchFamily="34" charset="0"/>
                <a:ea typeface="Calibri" pitchFamily="34" charset="-122"/>
                <a:cs typeface="Calibri" pitchFamily="34" charset="-120"/>
              </a:rPr>
              <a:t>3. No exclusivity demand: we cannot enforce it and it would push both to Helix. Protection is earned by clean registrations.</a:t>
            </a:r>
            <a:endParaRPr lang="en-US" sz="1200" dirty="0"/>
          </a:p>
          <a:p>
            <a:pPr indent="0" marL="0">
              <a:buNone/>
            </a:pPr>
            <a:r>
              <a:rPr lang="en-US" sz="1150" dirty="0">
                <a:solidFill>
                  <a:srgbClr val="52514E"/>
                </a:solidFill>
                <a:latin typeface="Calibri" pitchFamily="34" charset="0"/>
                <a:ea typeface="Calibri" pitchFamily="34" charset="-122"/>
                <a:cs typeface="Calibri" pitchFamily="34" charset="-120"/>
              </a:rPr>
              <a:t>4. Accelerate PR01, PR02 and PR06 to Q1 onboarding; drop Helix-affiliated PR05, PR08, PR12.</a:t>
            </a:r>
            <a:endParaRPr lang="en-US" sz="1200" dirty="0"/>
          </a:p>
          <a:p>
            <a:pPr indent="0" marL="0">
              <a:buNone/>
            </a:pPr>
            <a:r>
              <a:rPr lang="en-US" sz="1150" dirty="0">
                <a:solidFill>
                  <a:srgbClr val="52514E"/>
                </a:solidFill>
                <a:latin typeface="Calibri" pitchFamily="34" charset="0"/>
                <a:ea typeface="Calibri" pitchFamily="34" charset="-122"/>
                <a:cs typeface="Calibri" pitchFamily="34" charset="-120"/>
              </a:rPr>
              <a:t>5. Review at end-Q2 FY27: exit if registered-deal conversion is under 15% or any registered deal switches to Helix.</a:t>
            </a:r>
            <a:endParaRPr lang="en-US" sz="1200" dirty="0"/>
          </a:p>
          <a:p>
            <a:pPr indent="0" marL="0">
              <a:buNone/>
            </a:pPr>
            <a:r>
              <a:rPr lang="en-US" sz="1150" dirty="0">
                <a:solidFill>
                  <a:srgbClr val="52514E"/>
                </a:solidFill>
                <a:latin typeface="Calibri" pitchFamily="34" charset="0"/>
                <a:ea typeface="Calibri" pitchFamily="34" charset="-122"/>
                <a:cs typeface="Calibri" pitchFamily="34" charset="-120"/>
              </a:rPr>
              <a:t>6. Move the top P05/P11 deals in Helix accounts to direct AEs with the D5 Helix battlecard.</a:t>
            </a:r>
            <a:endParaRPr lang="en-US" sz="1200" dirty="0"/>
          </a:p>
        </p:txBody>
      </p:sp>
      <p:sp>
        <p:nvSpPr>
          <p:cNvPr id="14" name="Text 12"/>
          <p:cNvSpPr txBox="1"/>
          <p:nvPr/>
        </p:nvSpPr>
        <p:spPr>
          <a:xfrm>
            <a:off x="457200" y="4617720"/>
            <a:ext cx="8229600" cy="201168"/>
          </a:xfrm>
          <a:prstGeom prst="rect">
            <a:avLst/>
          </a:prstGeom>
          <a:noFill/>
          <a:ln/>
        </p:spPr>
        <p:txBody>
          <a:bodyPr wrap="square" lIns="0" tIns="0" rIns="0" bIns="0" rtlCol="0" anchor="ctr"/>
          <a:lstStyle/>
          <a:p>
            <a:pPr indent="0" marL="0">
              <a:buNone/>
            </a:pPr>
            <a:r>
              <a:rPr lang="en-US" sz="800" i="1" dirty="0">
                <a:solidFill>
                  <a:srgbClr val="52514E"/>
                </a:solidFill>
                <a:latin typeface="Calibri" pitchFamily="34" charset="0"/>
                <a:ea typeface="Calibri" pitchFamily="34" charset="-122"/>
                <a:cs typeface="Calibri" pitchFamily="34" charset="-120"/>
              </a:rPr>
              <a:t>Source: DR1 open deals (partner-sourced, re-tagged); DR6; workbook sheet Inject3 (50% haircut on P05/P11 Helix-account pipeline is an assumption).</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28600"/>
            <a:ext cx="8229600" cy="228600"/>
          </a:xfrm>
          <a:prstGeom prst="rect">
            <a:avLst/>
          </a:prstGeom>
          <a:noFill/>
          <a:ln/>
        </p:spPr>
        <p:txBody>
          <a:bodyPr wrap="square" lIns="0" tIns="0" rIns="0" bIns="0" rtlCol="0" anchor="ctr"/>
          <a:lstStyle/>
          <a:p>
            <a:pPr indent="0" marL="0">
              <a:buNone/>
            </a:pPr>
            <a:r>
              <a:rPr lang="en-US" sz="1000" b="1" spc="200" kern="0" dirty="0">
                <a:solidFill>
                  <a:srgbClr val="EB6834"/>
                </a:solidFill>
                <a:latin typeface="Calibri" pitchFamily="34" charset="0"/>
                <a:ea typeface="Calibri" pitchFamily="34" charset="-122"/>
                <a:cs typeface="Calibri" pitchFamily="34" charset="-120"/>
              </a:rPr>
              <a:t>STRUCTURE, SCORECARD AND THE ASK</a:t>
            </a:r>
            <a:endParaRPr lang="en-US" sz="1000" dirty="0"/>
          </a:p>
        </p:txBody>
      </p:sp>
      <p:sp>
        <p:nvSpPr>
          <p:cNvPr id="3" name="Text 1"/>
          <p:cNvSpPr txBox="1"/>
          <p:nvPr/>
        </p:nvSpPr>
        <p:spPr>
          <a:xfrm>
            <a:off x="457200" y="438912"/>
            <a:ext cx="8229600" cy="685800"/>
          </a:xfrm>
          <a:prstGeom prst="rect">
            <a:avLst/>
          </a:prstGeom>
          <a:noFill/>
          <a:ln/>
        </p:spPr>
        <p:txBody>
          <a:bodyPr wrap="square" lIns="0" tIns="0" rIns="0" bIns="0" rtlCol="0" anchor="t"/>
          <a:lstStyle/>
          <a:p>
            <a:pPr indent="0" marL="0">
              <a:buNone/>
            </a:pPr>
            <a:r>
              <a:rPr lang="en-US" sz="2100" b="1" dirty="0">
                <a:solidFill>
                  <a:srgbClr val="1F3A5F"/>
                </a:solidFill>
                <a:latin typeface="Cambria" pitchFamily="34" charset="0"/>
                <a:ea typeface="Cambria" pitchFamily="34" charset="-122"/>
                <a:cs typeface="Cambria" pitchFamily="34" charset="-120"/>
              </a:rPr>
              <a:t>Ask: a VP Channel and two SEA partner managers now, inside the Inject 1 envelope, with a scorecard that removes weak partners</a:t>
            </a:r>
            <a:endParaRPr lang="en-US" sz="2100" dirty="0"/>
          </a:p>
        </p:txBody>
      </p:sp>
      <p:sp>
        <p:nvSpPr>
          <p:cNvPr id="4" name="Text 2"/>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800" dirty="0">
                <a:solidFill>
                  <a:srgbClr val="A3A29C"/>
                </a:solidFill>
                <a:latin typeface="Calibri" pitchFamily="34" charset="0"/>
                <a:ea typeface="Calibri" pitchFamily="34" charset="-122"/>
                <a:cs typeface="Calibri" pitchFamily="34" charset="-120"/>
              </a:rPr>
              <a:t>Strata Sense (fictional) · D6</a:t>
            </a:r>
            <a:endParaRPr lang="en-US" sz="8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3840480" cy="914400"/>
        </p:xfrm>
        <a:graphic>
          <a:graphicData uri="http://schemas.openxmlformats.org/drawingml/2006/table">
            <a:tbl>
              <a:tblPr/>
              <a:tblGrid>
                <a:gridCol w="1920240"/>
                <a:gridCol w="640080"/>
                <a:gridCol w="640080"/>
                <a:gridCol w="640080"/>
              </a:tblGrid>
              <a:tr h="237744">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Channel team</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A5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FY27</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A5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FY28</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A5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FY29</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A5F"/>
                    </a:solidFill>
                  </a:tcPr>
                </a:tc>
              </a:tr>
              <a:tr h="237744">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VP Channel</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37744">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Partner managers</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2 (SEA)</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r>
              <a:tr h="237744">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Fixed cost excl. MDF (₹ cr)</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2.44</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3.46</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4.00</a:t>
                      </a:r>
                      <a:endParaRPr lang="en-US" sz="100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bl>
          </a:graphicData>
        </a:graphic>
      </p:graphicFrame>
      <p:graphicFrame>
        <p:nvGraphicFramePr>
          <p:cNvPr id="31" name="Table 1"/>
          <p:cNvGraphicFramePr>
            <a:graphicFrameLocks noGrp="1"/>
          </p:cNvGraphicFramePr>
          <p:nvPr>
            <p:extLst>
              <p:ext uri="{D42A27DB-BD31-4B8C-83A1-F6EECF244321}">
                <p14:modId xmlns:p14="http://schemas.microsoft.com/office/powerpoint/2010/main" val="1579011935"/>
              </p:ext>
            </p:extLst>
          </p:nvPr>
        </p:nvGraphicFramePr>
        <p:xfrm>
          <a:off x="4480560" y="1280160"/>
          <a:ext cx="4206240" cy="914400"/>
        </p:xfrm>
        <a:graphic>
          <a:graphicData uri="http://schemas.openxmlformats.org/drawingml/2006/table">
            <a:tbl>
              <a:tblPr/>
              <a:tblGrid>
                <a:gridCol w="1554480"/>
                <a:gridCol w="868680"/>
                <a:gridCol w="868680"/>
                <a:gridCol w="914400"/>
              </a:tblGrid>
              <a:tr h="256032">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Scorecard (quarterly)</a:t>
                      </a:r>
                      <a:endParaRPr lang="en-US" sz="95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A5F"/>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Promote</a:t>
                      </a:r>
                      <a:endParaRPr lang="en-US" sz="95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A5F"/>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Coach</a:t>
                      </a:r>
                      <a:endParaRPr lang="en-US" sz="95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A5F"/>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Remove</a:t>
                      </a:r>
                      <a:endParaRPr lang="en-US" sz="95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1F3A5F"/>
                    </a:solidFill>
                  </a:tcPr>
                </a:tc>
              </a:tr>
              <a:tr h="256032">
                <a:tc>
                  <a:txBody>
                    <a:bodyPr/>
                    <a:lstStyle/>
                    <a:p>
                      <a:pPr indent="0" marL="0">
                        <a:buNone/>
                      </a:pPr>
                      <a:r>
                        <a:rPr lang="en-US" sz="950" dirty="0">
                          <a:solidFill>
                            <a:srgbClr val="1A1A1A"/>
                          </a:solidFill>
                          <a:latin typeface="Calibri" pitchFamily="34" charset="0"/>
                          <a:ea typeface="Calibri" pitchFamily="34" charset="-122"/>
                          <a:cs typeface="Calibri" pitchFamily="34" charset="-120"/>
                        </a:rPr>
                        <a:t>Sourced ARR, trailing 12m</a:t>
                      </a:r>
                      <a:endParaRPr lang="en-US" sz="95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A1A1A"/>
                          </a:solidFill>
                          <a:latin typeface="Calibri" pitchFamily="34" charset="0"/>
                          <a:ea typeface="Calibri" pitchFamily="34" charset="-122"/>
                          <a:cs typeface="Calibri" pitchFamily="34" charset="-120"/>
                        </a:rPr>
                        <a:t>≥ ₹1.0 cr</a:t>
                      </a:r>
                      <a:endParaRPr lang="en-US" sz="95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A1A1A"/>
                          </a:solidFill>
                          <a:latin typeface="Calibri" pitchFamily="34" charset="0"/>
                          <a:ea typeface="Calibri" pitchFamily="34" charset="-122"/>
                          <a:cs typeface="Calibri" pitchFamily="34" charset="-120"/>
                        </a:rPr>
                        <a:t>₹0.3–1.0 cr</a:t>
                      </a:r>
                      <a:endParaRPr lang="en-US" sz="95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A1A1A"/>
                          </a:solidFill>
                          <a:latin typeface="Calibri" pitchFamily="34" charset="0"/>
                          <a:ea typeface="Calibri" pitchFamily="34" charset="-122"/>
                          <a:cs typeface="Calibri" pitchFamily="34" charset="-120"/>
                        </a:rPr>
                        <a:t>&lt; ₹0.3 cr after 4 qtrs</a:t>
                      </a:r>
                      <a:endParaRPr lang="en-US" sz="95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56032">
                <a:tc>
                  <a:txBody>
                    <a:bodyPr/>
                    <a:lstStyle/>
                    <a:p>
                      <a:pPr indent="0" marL="0">
                        <a:buNone/>
                      </a:pPr>
                      <a:r>
                        <a:rPr lang="en-US" sz="950" dirty="0">
                          <a:solidFill>
                            <a:srgbClr val="1A1A1A"/>
                          </a:solidFill>
                          <a:latin typeface="Calibri" pitchFamily="34" charset="0"/>
                          <a:ea typeface="Calibri" pitchFamily="34" charset="-122"/>
                          <a:cs typeface="Calibri" pitchFamily="34" charset="-120"/>
                        </a:rPr>
                        <a:t>Registered-deal win rate</a:t>
                      </a:r>
                      <a:endParaRPr lang="en-US" sz="95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indent="0" marL="0">
                        <a:buNone/>
                      </a:pPr>
                      <a:r>
                        <a:rPr lang="en-US" sz="950" dirty="0">
                          <a:solidFill>
                            <a:srgbClr val="1A1A1A"/>
                          </a:solidFill>
                          <a:latin typeface="Calibri" pitchFamily="34" charset="0"/>
                          <a:ea typeface="Calibri" pitchFamily="34" charset="-122"/>
                          <a:cs typeface="Calibri" pitchFamily="34" charset="-120"/>
                        </a:rPr>
                        <a:t>≥ 25%</a:t>
                      </a:r>
                      <a:endParaRPr lang="en-US" sz="95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indent="0" marL="0">
                        <a:buNone/>
                      </a:pPr>
                      <a:r>
                        <a:rPr lang="en-US" sz="950" dirty="0">
                          <a:solidFill>
                            <a:srgbClr val="1A1A1A"/>
                          </a:solidFill>
                          <a:latin typeface="Calibri" pitchFamily="34" charset="0"/>
                          <a:ea typeface="Calibri" pitchFamily="34" charset="-122"/>
                          <a:cs typeface="Calibri" pitchFamily="34" charset="-120"/>
                        </a:rPr>
                        <a:t>15–25%</a:t>
                      </a:r>
                      <a:endParaRPr lang="en-US" sz="95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indent="0" marL="0">
                        <a:buNone/>
                      </a:pPr>
                      <a:r>
                        <a:rPr lang="en-US" sz="950" dirty="0">
                          <a:solidFill>
                            <a:srgbClr val="1A1A1A"/>
                          </a:solidFill>
                          <a:latin typeface="Calibri" pitchFamily="34" charset="0"/>
                          <a:ea typeface="Calibri" pitchFamily="34" charset="-122"/>
                          <a:cs typeface="Calibri" pitchFamily="34" charset="-120"/>
                        </a:rPr>
                        <a:t>&lt; 15%</a:t>
                      </a:r>
                      <a:endParaRPr lang="en-US" sz="95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r>
              <a:tr h="256032">
                <a:tc>
                  <a:txBody>
                    <a:bodyPr/>
                    <a:lstStyle/>
                    <a:p>
                      <a:pPr indent="0" marL="0">
                        <a:buNone/>
                      </a:pPr>
                      <a:r>
                        <a:rPr lang="en-US" sz="950" dirty="0">
                          <a:solidFill>
                            <a:srgbClr val="1A1A1A"/>
                          </a:solidFill>
                          <a:latin typeface="Calibri" pitchFamily="34" charset="0"/>
                          <a:ea typeface="Calibri" pitchFamily="34" charset="-122"/>
                          <a:cs typeface="Calibri" pitchFamily="34" charset="-120"/>
                        </a:rPr>
                        <a:t>Certified engineers</a:t>
                      </a:r>
                      <a:endParaRPr lang="en-US" sz="95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A1A1A"/>
                          </a:solidFill>
                          <a:latin typeface="Calibri" pitchFamily="34" charset="0"/>
                          <a:ea typeface="Calibri" pitchFamily="34" charset="-122"/>
                          <a:cs typeface="Calibri" pitchFamily="34" charset="-120"/>
                        </a:rPr>
                        <a:t>≥ 4</a:t>
                      </a:r>
                      <a:endParaRPr lang="en-US" sz="95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A1A1A"/>
                          </a:solidFill>
                          <a:latin typeface="Calibri" pitchFamily="34" charset="0"/>
                          <a:ea typeface="Calibri" pitchFamily="34" charset="-122"/>
                          <a:cs typeface="Calibri" pitchFamily="34" charset="-120"/>
                        </a:rPr>
                        <a:t>2–3</a:t>
                      </a:r>
                      <a:endParaRPr lang="en-US" sz="95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A1A1A"/>
                          </a:solidFill>
                          <a:latin typeface="Calibri" pitchFamily="34" charset="0"/>
                          <a:ea typeface="Calibri" pitchFamily="34" charset="-122"/>
                          <a:cs typeface="Calibri" pitchFamily="34" charset="-120"/>
                        </a:rPr>
                        <a:t>&lt; 2 by month 6</a:t>
                      </a:r>
                      <a:endParaRPr lang="en-US" sz="95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r h="256032">
                <a:tc>
                  <a:txBody>
                    <a:bodyPr/>
                    <a:lstStyle/>
                    <a:p>
                      <a:pPr indent="0" marL="0">
                        <a:buNone/>
                      </a:pPr>
                      <a:r>
                        <a:rPr lang="en-US" sz="950" dirty="0">
                          <a:solidFill>
                            <a:srgbClr val="1A1A1A"/>
                          </a:solidFill>
                          <a:latin typeface="Calibri" pitchFamily="34" charset="0"/>
                          <a:ea typeface="Calibri" pitchFamily="34" charset="-122"/>
                          <a:cs typeface="Calibri" pitchFamily="34" charset="-120"/>
                        </a:rPr>
                        <a:t>Customer satisfaction (1–10)</a:t>
                      </a:r>
                      <a:endParaRPr lang="en-US" sz="95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indent="0" marL="0">
                        <a:buNone/>
                      </a:pPr>
                      <a:r>
                        <a:rPr lang="en-US" sz="950" dirty="0">
                          <a:solidFill>
                            <a:srgbClr val="1A1A1A"/>
                          </a:solidFill>
                          <a:latin typeface="Calibri" pitchFamily="34" charset="0"/>
                          <a:ea typeface="Calibri" pitchFamily="34" charset="-122"/>
                          <a:cs typeface="Calibri" pitchFamily="34" charset="-120"/>
                        </a:rPr>
                        <a:t>≥ 8</a:t>
                      </a:r>
                      <a:endParaRPr lang="en-US" sz="95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indent="0" marL="0">
                        <a:buNone/>
                      </a:pPr>
                      <a:r>
                        <a:rPr lang="en-US" sz="950" dirty="0">
                          <a:solidFill>
                            <a:srgbClr val="1A1A1A"/>
                          </a:solidFill>
                          <a:latin typeface="Calibri" pitchFamily="34" charset="0"/>
                          <a:ea typeface="Calibri" pitchFamily="34" charset="-122"/>
                          <a:cs typeface="Calibri" pitchFamily="34" charset="-120"/>
                        </a:rPr>
                        <a:t>6–8</a:t>
                      </a:r>
                      <a:endParaRPr lang="en-US" sz="95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c>
                  <a:txBody>
                    <a:bodyPr/>
                    <a:lstStyle/>
                    <a:p>
                      <a:pPr indent="0" marL="0">
                        <a:buNone/>
                      </a:pPr>
                      <a:r>
                        <a:rPr lang="en-US" sz="950" dirty="0">
                          <a:solidFill>
                            <a:srgbClr val="1A1A1A"/>
                          </a:solidFill>
                          <a:latin typeface="Calibri" pitchFamily="34" charset="0"/>
                          <a:ea typeface="Calibri" pitchFamily="34" charset="-122"/>
                          <a:cs typeface="Calibri" pitchFamily="34" charset="-120"/>
                        </a:rPr>
                        <a:t>&lt; 6</a:t>
                      </a:r>
                      <a:endParaRPr lang="en-US" sz="95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7F6F2"/>
                    </a:solidFill>
                  </a:tcPr>
                </a:tc>
              </a:tr>
              <a:tr h="256032">
                <a:tc>
                  <a:txBody>
                    <a:bodyPr/>
                    <a:lstStyle/>
                    <a:p>
                      <a:pPr indent="0" marL="0">
                        <a:buNone/>
                      </a:pPr>
                      <a:r>
                        <a:rPr lang="en-US" sz="950" dirty="0">
                          <a:solidFill>
                            <a:srgbClr val="1A1A1A"/>
                          </a:solidFill>
                          <a:latin typeface="Calibri" pitchFamily="34" charset="0"/>
                          <a:ea typeface="Calibri" pitchFamily="34" charset="-122"/>
                          <a:cs typeface="Calibri" pitchFamily="34" charset="-120"/>
                        </a:rPr>
                        <a:t>Conflict breach</a:t>
                      </a:r>
                      <a:endParaRPr lang="en-US" sz="95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A1A1A"/>
                          </a:solidFill>
                          <a:latin typeface="Calibri" pitchFamily="34" charset="0"/>
                          <a:ea typeface="Calibri" pitchFamily="34" charset="-122"/>
                          <a:cs typeface="Calibri" pitchFamily="34" charset="-120"/>
                        </a:rPr>
                        <a:t>none</a:t>
                      </a:r>
                      <a:endParaRPr lang="en-US" sz="95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A1A1A"/>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c>
                  <a:txBody>
                    <a:bodyPr/>
                    <a:lstStyle/>
                    <a:p>
                      <a:pPr indent="0" marL="0">
                        <a:buNone/>
                      </a:pPr>
                      <a:r>
                        <a:rPr lang="en-US" sz="950" dirty="0">
                          <a:solidFill>
                            <a:srgbClr val="1A1A1A"/>
                          </a:solidFill>
                          <a:latin typeface="Calibri" pitchFamily="34" charset="0"/>
                          <a:ea typeface="Calibri" pitchFamily="34" charset="-122"/>
                          <a:cs typeface="Calibri" pitchFamily="34" charset="-120"/>
                        </a:rPr>
                        <a:t>any</a:t>
                      </a:r>
                      <a:endParaRPr lang="en-US" sz="950" dirty="0">
                        <a:latin typeface="Calibri" charset="0"/>
                        <a:ea typeface="Calibri" charset="0"/>
                        <a:cs typeface="Calibri" charset="0"/>
                      </a:endParaRPr>
                    </a:p>
                  </a:txBody>
                  <a:tcPr marL="36576" marR="36576" marT="36576" marB="36576" anchor="ctr">
                    <a:lnL w="6350" cap="flat" cmpd="sng" algn="ctr">
                      <a:solidFill>
                        <a:srgbClr val="D9D8D2"/>
                      </a:solidFill>
                      <a:prstDash val="solid"/>
                      <a:round/>
                      <a:headEnd type="none" w="med" len="med"/>
                      <a:tailEnd type="none" w="med" len="med"/>
                    </a:lnL>
                    <a:lnR w="6350" cap="flat" cmpd="sng" algn="ctr">
                      <a:solidFill>
                        <a:srgbClr val="D9D8D2"/>
                      </a:solidFill>
                      <a:prstDash val="solid"/>
                      <a:round/>
                      <a:headEnd type="none" w="med" len="med"/>
                      <a:tailEnd type="none" w="med" len="med"/>
                    </a:lnR>
                    <a:lnT w="6350" cap="flat" cmpd="sng" algn="ctr">
                      <a:solidFill>
                        <a:srgbClr val="D9D8D2"/>
                      </a:solidFill>
                      <a:prstDash val="solid"/>
                      <a:round/>
                      <a:headEnd type="none" w="med" len="med"/>
                      <a:tailEnd type="none" w="med" len="med"/>
                    </a:lnT>
                    <a:lnB w="6350" cap="flat" cmpd="sng" algn="ctr">
                      <a:solidFill>
                        <a:srgbClr val="D9D8D2"/>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457200" y="3017520"/>
            <a:ext cx="3840480" cy="1463040"/>
          </a:xfrm>
          <a:prstGeom prst="rect">
            <a:avLst/>
          </a:prstGeom>
          <a:noFill/>
          <a:ln/>
        </p:spPr>
        <p:txBody>
          <a:bodyPr wrap="square" lIns="0" tIns="0" rIns="0" bIns="0" rtlCol="0" anchor="t"/>
          <a:lstStyle/>
          <a:p>
            <a:pPr indent="0" marL="0">
              <a:buNone/>
            </a:pPr>
            <a:r>
              <a:rPr lang="en-US" sz="1100" b="1" dirty="0">
                <a:solidFill>
                  <a:srgbClr val="1F3A5F"/>
                </a:solidFill>
                <a:latin typeface="Calibri" pitchFamily="34" charset="0"/>
                <a:ea typeface="Calibri" pitchFamily="34" charset="-122"/>
                <a:cs typeface="Calibri" pitchFamily="34" charset="-120"/>
              </a:rPr>
              <a:t>The ask. </a:t>
            </a:r>
            <a:pPr indent="0" marL="0">
              <a:buNone/>
            </a:pPr>
            <a:r>
              <a:rPr lang="en-US" sz="1100" dirty="0">
                <a:solidFill>
                  <a:srgbClr val="1A1A1A"/>
                </a:solidFill>
                <a:latin typeface="Calibri" pitchFamily="34" charset="0"/>
                <a:ea typeface="Calibri" pitchFamily="34" charset="-122"/>
                <a:cs typeface="Calibri" pitchFamily="34" charset="-120"/>
              </a:rPr>
              <a:t>Approve 3 channel roles in FY27 (limit 6), ₹2.44 cr fixed cost within the Inject 1 allocation of ₹2.84 cr, ₹1.5 cr MDF from the ₹24 cr programme budget, the exits and restrictions above, and the kill gate at end-Q2 FY28.</a:t>
            </a:r>
            <a:endParaRPr lang="en-US" sz="1100" dirty="0"/>
          </a:p>
        </p:txBody>
      </p:sp>
      <p:sp>
        <p:nvSpPr>
          <p:cNvPr id="8" name="Text 4"/>
          <p:cNvSpPr txBox="1"/>
          <p:nvPr/>
        </p:nvSpPr>
        <p:spPr>
          <a:xfrm>
            <a:off x="457200" y="4617720"/>
            <a:ext cx="8229600" cy="201168"/>
          </a:xfrm>
          <a:prstGeom prst="rect">
            <a:avLst/>
          </a:prstGeom>
          <a:noFill/>
          <a:ln/>
        </p:spPr>
        <p:txBody>
          <a:bodyPr wrap="square" lIns="0" tIns="0" rIns="0" bIns="0" rtlCol="0" anchor="ctr"/>
          <a:lstStyle/>
          <a:p>
            <a:pPr indent="0" marL="0">
              <a:buNone/>
            </a:pPr>
            <a:r>
              <a:rPr lang="en-US" sz="800" i="1" dirty="0">
                <a:solidFill>
                  <a:srgbClr val="52514E"/>
                </a:solidFill>
                <a:latin typeface="Calibri" pitchFamily="34" charset="0"/>
                <a:ea typeface="Calibri" pitchFamily="34" charset="-122"/>
                <a:cs typeface="Calibri" pitchFamily="34" charset="-120"/>
              </a:rPr>
              <a:t>Source: workbook Inputs (costs), Checks (roles ≤ 6, GM ≥ 66%, envelope). 90-day launch plan attached.</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Strata Sense D6: Channel Partner Expansion Strategy</dc:title>
  <dc:subject>PptxGenJS Presentation</dc:subject>
  <dc:creator>PptxGenJS</dc:creator>
  <cp:lastModifiedBy>PptxGenJS</cp:lastModifiedBy>
  <cp:revision>1</cp:revision>
  <dcterms:created xsi:type="dcterms:W3CDTF">2026-09-23T15:46:59Z</dcterms:created>
  <dcterms:modified xsi:type="dcterms:W3CDTF">2026-09-23T15:46:59Z</dcterms:modified>
</cp:coreProperties>
</file>