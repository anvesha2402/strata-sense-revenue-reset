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ask, one trade-off. We invest ₹15 crore, stay inside every guardrail but one, and reach the board’s FY29 ARR. The price is a slower FY27, which I think is cheaper than buying growth we cannot ramp in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Doing nothing is not flat: the base still grows but falls ₹133 crore short of the board path by FY29.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programme has a driver in the model and a trigger at Q2.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FY27 gap ₹5.6 cr. Closing it costs the extra ₹3 cr, which does not pay back within 15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FY28 and FY29 hiring are not approved today; they are released against the 90% capacity-use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stop list is where the real behaviour change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 rate and churn dominate; hardware mix is the margin risk nobody priced.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thresholds come from the plan path in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before the board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B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 · BOARD PRESENTATION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₹15 crore and 6 AEs to reach ₹526 crore ARR by FY29, and accept a slower FY27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₹14.95 cr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investment, inside the ₹15 cr envelope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₹526 cr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91840" y="3383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FY29 ARR vs ₹522 cr board path and ₹389 cr if we do nothing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0" y="3383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growth: ₹5.6 cr short of 15%, by choice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Strategy Lead · Board meeting, Week 9 FY27 · Strata Sense Technologies is fictional; data synthetic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HERE (D1)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is stalling because we lose on price and packaging to Helix, sell to the wrong accounts, and discount without winning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Sense (fictional) · D8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at stake / 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Fixable by sales?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Helix bundle (retention + new logo)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₹34.0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Partly: packaging decision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Expansion stall, non-Helix accounts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₹9.9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accounts, single-threaded deals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₹8.0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creep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₹3.1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94360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 → 17%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FY24 → FY26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118% → 99%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788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retention, same period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₹389 cr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FY29 ARR if nothing changes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D1 diagnostic memo; DR1 cleaned CRM; DR2/DR3.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(D2–D6)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programmes, each tied to a number in the model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Sense (fictional) · D8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201168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 ₹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 → FY29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the right 400 + 1,100 accounts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mix; pipeline supply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+2.9 pts; 392 → 470 deals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Win-rate and price discipline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rate; discount; cycle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17.1% → 22.5%; 19.3% → 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and Helix defence (incl. Vajra)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Churn; expansion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5.9% → 4.0%; 8.1% → 10.5%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 capacity: hire to pipeline, retain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Ramped AEs; attrition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→ 83; 29% → 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Selective channel: SEA, Gulf, OEM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ARR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₹2.6 → 19.7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RevOps, forecasting, sensor-agnostic readiness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Forecast; hardware mix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27% → 16%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D7 Investment and Assumptions sheets.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DELIVERS (D7)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 reaches the board’s FY29 ARR; FY27 falls short because Q1 was already locked and new AEs take a year to ramp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Sense (fictional) · D8</a:t>
            </a:r>
            <a:endParaRPr lang="en-US" sz="800" dirty="0"/>
          </a:p>
        </p:txBody>
      </p:sp>
      <p:pic>
        <p:nvPicPr>
          <p:cNvPr id="5" name="Image 0" descr="fig/arr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303520" cy="2355679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280160"/>
          <a:ext cx="2743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48640"/>
                <a:gridCol w="548640"/>
                <a:gridCol w="5486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 ₹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₹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(25.9)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943600" y="3108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pts of win rate alone lifts FY27 to 14.9%.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D7 ARR_bridge, Scenarios.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APPROVAL REQUESTED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ask: ₹14.95 crore, 6 AEs, 3 channel roles, and a gated reserve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Sense (fictional) · D8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737360"/>
                <a:gridCol w="137160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Programmes (retention, win-rate, AE retention, RevOps, readiness)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₹7.3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Q2 FY27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now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foundation + partner incentives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₹2.8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Q2 FY27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now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net new AEs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₹2.0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Q3 FY27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Offers by 31 Aug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Vajra retention plan (Inject 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₹0.9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Reserve: 2nd retention squad + SE pilots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₹1.9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FY27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Q2 triggers met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FY27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₹14.95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Envelope ₹15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FY27 CAC payback 31.0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 already locked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D7 Investment sheet.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90 days, and what we stop doing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Sense (fictional) · D8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77640" cy="3246120"/>
          </a:xfrm>
          <a:prstGeom prst="rect">
            <a:avLst/>
          </a:prstGeom>
          <a:solidFill>
            <a:srgbClr val="F7F6F2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3246120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307592"/>
            <a:ext cx="372160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60 / 90 days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30: tiers in territories; discount cap 15%; Commit = stage 5; P05/P11 restricted; Vajra CEO meeting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60: retention squad live; value-selling training; 3 partners signed; AE offers out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90: Q2 review gate: release or hold reserve; Vajra business review delivered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3977640" cy="3246120"/>
          </a:xfrm>
          <a:prstGeom prst="rect">
            <a:avLst/>
          </a:prstGeom>
          <a:solidFill>
            <a:srgbClr val="F7F6F2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234440"/>
            <a:ext cx="64008" cy="3246120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73752" y="1307592"/>
            <a:ext cx="372160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stop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AEs on 1,600 low-touch accounts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Discounts above 15% without CFO; matching “free”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Commit calls before stage 5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Planning on a 6-month ramp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Dormant partners; partner margin hidden in S&amp;M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Hiring AEs to quota rather than pipeline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largest risks, and the fallback for each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Sense (fictional) · D8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05840"/>
                <a:gridCol w="210312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Helix pressure deeper (churn +2 pts)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−₹23 cr FY29 ARR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squad; win-back Apr 2027; sensor-agnostic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Win-rate programme stalls (−3 pts)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−₹26 cr; payback breach at −0.7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reserve; CFO-capped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mix does not fall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 64.5% by FY29 (floor 66%)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price floor; software-led expansion; sensor-agnostic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fig/torn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200400"/>
            <a:ext cx="5669280" cy="18731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Measures that tell the board to continue, adjust or stop at Q2 FY27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Sense (fictional) · D8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  <a:gridCol w="2743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missed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 win rate (rolling 2 quarters)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18.0%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₹1.9 cr reserve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qualified direct deals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Q3 hires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+ contraction, H1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₹13.5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Re-deploy squads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Expansion ARR, H1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₹12.5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Re-scope top-30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CAC payback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30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CFO-capped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Recalibrate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Vajra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shortlisted on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 escalation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rule: win rate below 17% and payback above 32 months at Q2 → no Q3 hires; return to board.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OF THE EVIDENCE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am least sure of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Sense (fictional) · D8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246120"/>
          </a:xfrm>
          <a:prstGeom prst="rect">
            <a:avLst/>
          </a:prstGeom>
          <a:solidFill>
            <a:srgbClr val="F7F6F2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3246120"/>
          </a:xfrm>
          <a:prstGeom prst="rect">
            <a:avLst/>
          </a:prstGeom>
          <a:solidFill>
            <a:srgbClr val="A3A29C"/>
          </a:solidFill>
          <a:ln w="12700">
            <a:solidFill>
              <a:srgbClr val="A3A29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307592"/>
            <a:ext cx="79735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Least sure: hardware attach falling from ₹1.48 to ₹1.05 per ₹1 of ARR; it alone decides the margin floor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 sizes are judgements anchored in D1–D6, not controlled tests; the plan still pays back if a third of the improvement arrives, but payback guardrails break below 78%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Interviews and external benchmarks are still being completed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 forecast (₹8.71 cr) is locked and will be scored against actuals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data synthetic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believe the plan over doing nothing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3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Strata Sense (fictional) · D8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+₹137 cr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FY29 ARR vs do-nothing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months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of ₹62 cr three-year investment (10.5 on the strict test)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of 12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breached, disclosed, with exception requested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today: approve ₹14.95 cr, 6 AEs from Q3, 3 channel roles, the Q1 payback exception, and the Q2 gate.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Strata Sense D8: Board Presentation</dc:title>
  <dc:subject>PptxGenJS Presentation</dc:subject>
  <dc:creator>PptxGenJS</dc:creator>
  <cp:lastModifiedBy>PptxGenJS</cp:lastModifiedBy>
  <cp:revision>1</cp:revision>
  <dcterms:created xsi:type="dcterms:W3CDTF">2026-09-23T17:36:10Z</dcterms:created>
  <dcterms:modified xsi:type="dcterms:W3CDTF">2026-09-23T17:36:10Z</dcterms:modified>
</cp:coreProperties>
</file>